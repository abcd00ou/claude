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1371600" cy="635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1A1A1A"/>
                </a:solidFill>
                <a:latin typeface="Arial"/>
              </a:rPr>
              <a:t>Sales &amp; Marketing </a:t>
            </a:r>
            <a:r>
              <a:rPr sz="5200" b="1">
                <a:solidFill>
                  <a:srgbClr val="EA002C"/>
                </a:solidFill>
                <a:latin typeface="Arial"/>
              </a:rPr>
              <a:t>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6B7280"/>
                </a:solidFill>
                <a:latin typeface="Malgun Gothic"/>
              </a:rPr>
              <a:t>에이전틱 AI 기반 CEO 데일리 브리핑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7725"/>
                </a:solidFill>
                <a:latin typeface="Malgun Gothic"/>
              </a:rPr>
              <a:t>영업 · 마케팅 · 제품기획 — Human-in-the-Loop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Arial"/>
              </a:rPr>
              <a:t>SK hynix Memory  ·  2026-07-01  ·  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85416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002C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17627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5146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algun Gothic"/>
              </a:rPr>
              <a:t>목적 — 무엇을, 왜 만드는가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26664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80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00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145536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83864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algun Gothic"/>
              </a:rPr>
              <a:t>구성 — 시스템을 이루는 것들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95928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23944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002C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114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4531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algun Gothic"/>
              </a:rPr>
              <a:t>구현 — 태스크를 어떻게 수행하는가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65192"/>
            <a:ext cx="11155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93208"/>
            <a:ext cx="1280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A002C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084064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Added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422392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Malgun Gothic"/>
              </a:rPr>
              <a:t>기대 효과 — 무엇이 좋아지는가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01  · 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Malgun Gothic"/>
              </a:rPr>
              <a:t>시장·내부 신호를 </a:t>
            </a:r>
            <a:r>
              <a:rPr sz="1700" b="1">
                <a:solidFill>
                  <a:srgbClr val="EA002C"/>
                </a:solidFill>
                <a:latin typeface="Malgun Gothic"/>
              </a:rPr>
              <a:t>신뢰도가 표시된 경영진 브리핑</a:t>
            </a:r>
            <a:r>
              <a:rPr sz="1700" b="0">
                <a:solidFill>
                  <a:srgbClr val="1A1A1A"/>
                </a:solidFill>
                <a:latin typeface="Malgun Gothic"/>
              </a:rPr>
              <a:t>으로 바꿔, 리더가 검토·승인해 </a:t>
            </a:r>
            <a:r>
              <a:rPr sz="1700" b="1">
                <a:solidFill>
                  <a:srgbClr val="EA002C"/>
                </a:solidFill>
                <a:latin typeface="Malgun Gothic"/>
              </a:rPr>
              <a:t>매일 아침 CEO에게 자동 보고</a:t>
            </a:r>
            <a:r>
              <a:rPr sz="1700" b="0">
                <a:solidFill>
                  <a:srgbClr val="1A1A1A"/>
                </a:solidFill>
                <a:latin typeface="Malgun Gothic"/>
              </a:rPr>
              <a:t>하는 에이전틱 AI 계층.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73152" cy="13716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20040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워커 에이전트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도메인(시장 인텔리전스·가격·고객기술·할당…)을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크롤링·정규화해 출처·신뢰도가 표시된 </a:t>
            </a:r>
            <a:r>
              <a:rPr sz="1150" b="1">
                <a:solidFill>
                  <a:srgbClr val="EA002C"/>
                </a:solidFill>
                <a:latin typeface="Malgun Gothic"/>
              </a:rPr>
              <a:t>팩(pack)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 생성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0175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017520"/>
            <a:ext cx="73152" cy="13716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320040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리더 에이전트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팀별(영업·마케팅·제품기획) 팩을 종합해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CEO용 </a:t>
            </a:r>
            <a:r>
              <a:rPr sz="1150" b="1">
                <a:solidFill>
                  <a:srgbClr val="EA002C"/>
                </a:solidFill>
                <a:latin typeface="Malgun Gothic"/>
              </a:rPr>
              <a:t>경영진 보고서</a:t>
            </a:r>
            <a:r>
              <a:rPr sz="1150" b="0">
                <a:solidFill>
                  <a:srgbClr val="1A1A1A"/>
                </a:solidFill>
                <a:latin typeface="Malgun Gothic"/>
              </a:rPr>
              <a:t>로 합성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01752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3017520"/>
            <a:ext cx="73152" cy="1371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32004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휴먼 인 더 루프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리더가 초안을 검토·수정 후 승인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수정은 다음 사이클의 </a:t>
            </a:r>
            <a:r>
              <a:rPr sz="1150" b="1">
                <a:solidFill>
                  <a:srgbClr val="EA002C"/>
                </a:solidFill>
                <a:latin typeface="Malgun Gothic"/>
              </a:rPr>
              <a:t>기준값(ground truth)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177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설계 3원칙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010912"/>
            <a:ext cx="274320" cy="27432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Malgun Gothic"/>
              </a:rPr>
              <a:t>대체 아님, 증강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83480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사람이 최종 판단 — 에이전트는 검토 가능한 초안을 만든다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274320" cy="27432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5896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Malgun Gothic"/>
              </a:rPr>
              <a:t>사실만 (Facts-Only)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458968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팩은 출처가 말한 것만 기록 · 모델링·판단은 사람 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961888"/>
            <a:ext cx="274320" cy="27432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3445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Malgun Gothic"/>
              </a:rPr>
              <a:t>신뢰도 명시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93445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REAL(공개·출처) vs SIM(내부 추정) — 추정이 사실로 읽히지 않게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01  · 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아키텍처 — 워커 → 리더 피라미드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965960"/>
            <a:ext cx="7955279" cy="1051560"/>
          </a:xfrm>
          <a:prstGeom prst="rect">
            <a:avLst/>
          </a:prstGeom>
          <a:solidFill>
            <a:srgbClr val="FAF7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63724"/>
            <a:ext cx="1417320" cy="27432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07568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리더 에이전트 (팀별)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441448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팀 팩 집계 → 사실 선별 → 합성 → PPT/Word 생성 → 갭 리포트 → 사람 수정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9923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EA002C"/>
                </a:solidFill>
                <a:latin typeface="Arial"/>
              </a:rPr>
              <a:t>▲  신뢰도 표시 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337560"/>
            <a:ext cx="7955279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35324"/>
            <a:ext cx="1417320" cy="27432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44728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워커 에이전트 (역할별)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813048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각 역할이 태스크 수행: 크롤 → 추출 → ×2 교차검증 → 상태/신뢰도 → 분석 → 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370831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47725"/>
                </a:solidFill>
                <a:latin typeface="Arial"/>
              </a:rPr>
              <a:t>▲  고정 소스 스냅샷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709160"/>
            <a:ext cx="7955279" cy="914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5038344"/>
            <a:ext cx="1417320" cy="274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81888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소스 레이어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184648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실적·공시·애널리스트·가격지수·보도·표준 · 내부(*데이터 접근/거버넌스 결정에 따름, 조작 없음)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715000"/>
            <a:ext cx="79552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A002C"/>
                </a:solidFill>
                <a:latin typeface="Arial"/>
              </a:rPr>
              <a:t>SOURCE → CRAWL → ANALYZE → SYNTHESIZE → 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02  · 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구성 — 3개 레이어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611880" cy="56692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0848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명세 레이어  ·  Markdown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715768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CONSTRUCT.md — 전체 아키텍처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ORCHESTRATOR.md — 실행 라이프사이클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TASK_MAP — 태스크 연결·타임라인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_shared/ — 레코드 스키마 · 신뢰모델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roles/ — 역할별 태스크 명세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96596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611880" cy="566928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0848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데이터 레이어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715768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data/ — 실제 출처 기반 2026 사실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   (수요·capex, 가격, 점유, 로드맵)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sim/ — 시뮬레이션 내부 대체값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   (생산·capa·할당·고객 요청)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briefings/ — 일자별 예시 브리핑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965960"/>
            <a:ext cx="3611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3611880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08483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애플리케이션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715768"/>
            <a:ext cx="3191256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app/ — Next.js(TypeScript) 웹앱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   Vercel 배포 · 09:00 KST 크론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   3-탭 리더 검토 UI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Malgun Gothic"/>
              </a:rPr>
              <a:t>• how_it_works.html — 애니메이션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   워크플로우 설명(한국어)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Work Rule: 모든 지식은 Markdown · </a:t>
            </a:r>
            <a:r>
              <a:rPr sz="1100" b="1">
                <a:solidFill>
                  <a:srgbClr val="EA002C"/>
                </a:solidFill>
                <a:latin typeface="Malgun Gothic"/>
              </a:rPr>
              <a:t>app/ 만 TypeScript 예외 승인</a:t>
            </a:r>
            <a:r>
              <a:rPr sz="1100" b="0">
                <a:solidFill>
                  <a:srgbClr val="6B7280"/>
                </a:solidFill>
                <a:latin typeface="Malgun Gothic"/>
              </a:rPr>
              <a:t> (2026-06-27, CLAUDE.md)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03  · 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구현 ① — 공통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298448" cy="868680"/>
          </a:xfrm>
          <a:prstGeom prst="round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소스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57984" y="219456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스냅샷</a:t>
            </a:r>
          </a:p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고정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8" y="219456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19456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×2</a:t>
            </a:r>
          </a:p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교차검증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11696" y="219456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정규화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94560"/>
            <a:ext cx="12984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상태·</a:t>
            </a:r>
          </a:p>
          <a:p>
            <a:pPr algn="ctr"/>
            <a:r>
              <a:rPr sz="1200" b="1">
                <a:solidFill>
                  <a:srgbClr val="1A1A1A"/>
                </a:solidFill>
                <a:latin typeface="Malgun Gothic"/>
              </a:rPr>
              <a:t>신뢰도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450592"/>
            <a:ext cx="2194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47504" y="2194560"/>
            <a:ext cx="1298448" cy="868680"/>
          </a:xfrm>
          <a:prstGeom prst="round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팩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팩 → 사람이 검토·수정 </a:t>
            </a:r>
            <a:r>
              <a:rPr sz="1300" b="0">
                <a:solidFill>
                  <a:srgbClr val="6B7280"/>
                </a:solidFill>
                <a:latin typeface="Malgun Gothic"/>
              </a:rPr>
              <a:t>→ 수정이 다음 사이클의 기준값이 된다 (직전 사이클 대비 diff · 상태·신뢰도 태깅)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605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신뢰 모델 필드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44568"/>
            <a:ext cx="3566160" cy="640080"/>
          </a:xfrm>
          <a:prstGeom prst="rect">
            <a:avLst/>
          </a:prstGeom>
          <a:solidFill>
            <a:srgbClr val="FAF7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268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verified / reconciled / needs-human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19" y="4544568"/>
            <a:ext cx="3566160" cy="640080"/>
          </a:xfrm>
          <a:prstGeom prst="rect">
            <a:avLst/>
          </a:prstGeom>
          <a:solidFill>
            <a:srgbClr val="FAF7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1999" y="46268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892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high / medium / 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58" y="4544568"/>
            <a:ext cx="3566160" cy="640080"/>
          </a:xfrm>
          <a:prstGeom prst="rect">
            <a:avLst/>
          </a:prstGeom>
          <a:solidFill>
            <a:srgbClr val="FAF7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8" y="462686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eval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38" y="4892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Arial"/>
              </a:rPr>
              <a:t>false-verified-rate 로 품질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03  · 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구현 ② — 매일 09:00 KST 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6060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0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0370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A002C"/>
                </a:solidFill>
                <a:latin typeface="Malgun Gothic"/>
              </a:rPr>
              <a:t>09:00 KST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Vercel Cron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4414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40" y="2057400"/>
            <a:ext cx="26060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20370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/api/cron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560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3개 팀 초안 생성
(Claude + 웹검색)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414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57400"/>
            <a:ext cx="26060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77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20370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7725"/>
                </a:solidFill>
                <a:latin typeface="Malgun Gothic"/>
              </a:rPr>
              <a:t>리더 검토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3-탭 (영업·마케팅·제품기획)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4414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47725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2057400"/>
            <a:ext cx="26060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0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203704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A002C"/>
                </a:solidFill>
                <a:latin typeface="Malgun Gothic"/>
              </a:rPr>
              <a:t>승인 &amp; 전송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56032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Malgun Gothic"/>
              </a:rPr>
              <a:t>Resend → CEO 메일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Malgun Gothic"/>
              </a:rPr>
              <a:t>리더 선택지: </a:t>
            </a:r>
            <a:r>
              <a:rPr sz="1250" b="0">
                <a:solidFill>
                  <a:srgbClr val="6B7280"/>
                </a:solidFill>
                <a:latin typeface="Malgun Gothic"/>
              </a:rPr>
              <a:t>승인·전송  /  다시 생성(+코멘트)  /  데이터 업데이트 요청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기술 스택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40080" y="4361688"/>
          <a:ext cx="108813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212080"/>
                <a:gridCol w="3840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구성요소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선택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프레임워크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Next.js 16 (App Router) · TypeScript · Vercel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웹앱 · 서버리스 API · 크론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생성 AI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Anthropic claude-opus-4-8 · web_search · adaptive thinking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REAL 신호 수집 + 자연스러운 보고서 합성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이메일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Resend + SK hynix 브랜드 HTML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CEO 보고 발송 (표·CSS 차트)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저장/스케줄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Vercel KV · Cron 0 0 * * * (09:00 KST)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Malgun Gothic"/>
                        </a:rPr>
                        <a:t>초안 보존 · 매일 자동 실행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03  · 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구현 ③ — Human-in-the-Loop 검토 화면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1554480" cy="457200"/>
          </a:xfrm>
          <a:prstGeom prst="rect">
            <a:avLst/>
          </a:prstGeom>
          <a:solidFill>
            <a:srgbClr val="EA002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665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영업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9659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0665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마케팅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1965960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06654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제품기획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06040"/>
            <a:ext cx="11155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A1A"/>
                </a:solidFill>
                <a:latin typeface="Malgun Gothic"/>
              </a:rPr>
              <a:t>팀 일일 업무 업데이트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91256"/>
            <a:ext cx="548640" cy="237744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7296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NVIDIA Vera Rubin 양산 돌입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75304"/>
            <a:ext cx="548640" cy="237744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5570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젠슨 황, HBM 증산 요청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59352"/>
            <a:ext cx="548640" cy="237744"/>
          </a:xfrm>
          <a:prstGeom prst="rect">
            <a:avLst/>
          </a:prstGeom>
          <a:solidFill>
            <a:srgbClr val="C0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9410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P1 HBM3E 수요 &gt; 공급능력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548640" cy="237744"/>
          </a:xfrm>
          <a:prstGeom prst="rect">
            <a:avLst/>
          </a:prstGeom>
          <a:solidFill>
            <a:srgbClr val="C0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251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Microsoft 부분공급 에스컬레이션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937760"/>
            <a:ext cx="2286000" cy="3840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승인 후 CEO에게 전송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937760"/>
            <a:ext cx="128016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다시 생성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937760"/>
            <a:ext cx="1737360" cy="38404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1A1A1A"/>
                </a:solidFill>
                <a:latin typeface="Arial"/>
              </a:rPr>
              <a:t>데이터 업데이트 요청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788920"/>
            <a:ext cx="5074920" cy="3200400"/>
          </a:xfrm>
          <a:prstGeom prst="rect">
            <a:avLst/>
          </a:prstGeom>
          <a:solidFill>
            <a:srgbClr val="FAF7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2788920"/>
            <a:ext cx="5074920" cy="384048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862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SK hynix — CEO 데일리 브리핑 (대외비)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19272"/>
            <a:ext cx="46634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안녕하세요. 이번 분기 공급 대비 수요가 앞서 있고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NVIDIA가 직접 압박하고 있습니다.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A002C"/>
                </a:solidFill>
                <a:latin typeface="Malgun Gothic"/>
              </a:rPr>
              <a:t>· P1 신규 할당 표 (내부 추정)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algun Gothic"/>
              </a:rPr>
              <a:t>· AI 서버 캐비닛 28k → 60k (Morgan Stanley)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1A1A1A"/>
                </a:solidFill>
                <a:latin typeface="Malgun Gothic"/>
              </a:rPr>
              <a:t>의사결정 요청: Microsoft 물량 방향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47725"/>
                </a:solidFill>
                <a:latin typeface="Malgun Gothic"/>
              </a:rPr>
              <a:t>코멘트 예: “nvidia request changed 200k” → 할당 표의 NVIDIA 행이 즉시 수정됨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03  · 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신뢰 모델 — REAL vs SIM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54406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5440680" cy="64008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122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REAL — 공개·출처 기반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3464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실적·공시·애널리스트·보도·표준·가격지수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모든 값에 출처 표기 (발행처 + 월)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예: “2Q26 DRAM 계약가 +58~63% (TrendForce, Mar)”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27A3E"/>
                </a:solidFill>
                <a:latin typeface="Malgun Gothic"/>
              </a:rPr>
              <a:t>재생성 시에도 변하지 않음 — 사실 보존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65960"/>
            <a:ext cx="54406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1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5440680" cy="640080"/>
          </a:xfrm>
          <a:prstGeom prst="rect">
            <a:avLst/>
          </a:prstGeom>
          <a:solidFill>
            <a:srgbClr val="C0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122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SIM — 내부 추정 (시뮬레이션)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34640"/>
            <a:ext cx="4937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수율·할당 물량·CRM·내부 약정 등 비공개 항목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1A1A1A"/>
                </a:solidFill>
                <a:latin typeface="Malgun Gothic"/>
              </a:rPr>
              <a:t>항상 “내부 추정”으로 라벨 — 사실로 오인 불가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50" b="0">
                <a:solidFill>
                  <a:srgbClr val="6B7280"/>
                </a:solidFill>
                <a:latin typeface="Malgun Gothic"/>
              </a:rPr>
              <a:t>데모 재생성 시 새 크롤링처럼 재산출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01933"/>
                </a:solidFill>
                <a:latin typeface="Malgun Gothic"/>
              </a:rPr>
              <a:t>갭 섹션이 ‘사람 확인 필요’ 항목을 명시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Malgun Gothic"/>
              </a:rPr>
              <a:t>핵심 원칙: </a:t>
            </a:r>
            <a:r>
              <a:rPr sz="1300" b="0">
                <a:solidFill>
                  <a:srgbClr val="1A1A1A"/>
                </a:solidFill>
                <a:latin typeface="Malgun Gothic"/>
              </a:rPr>
              <a:t>시뮬레이션 수치는 절대 실제처럼 보이지 않는다. 검증된 사실과 내부 추정의 경계를 흐리지 않는다.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04  ·  ADDED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기대 효과 — Before /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965960"/>
          <a:ext cx="11155680" cy="370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02336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기존 (Before)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</a:rPr>
                        <a:t>Sales &amp; Marketing 2.0 (After)</a:t>
                      </a:r>
                    </a:p>
                  </a:txBody>
                  <a:tcPr marL="109728" marR="73152" marT="36576" marB="36576" anchor="ctr">
                    <a:solidFill>
                      <a:srgbClr val="EA00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브리핑 준비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실적·공시·애널리스트·내부시트 수작업 수 시간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밤사이 초안 생성 · 리더는 '작성'이 아닌 '검토'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신뢰성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수치와 가정이 뒤섞임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모든 값 REAL(출처)/SIM(라벨) — 숨은 추정 없음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출처 추적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주장의 근거 추적 어려움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모든 사실이 고정된 출처 스냅샷으로 연결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주기성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여유 있을 때 산발적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매일 09:00 KST 정시 자동 전달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사람의 통제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전수작업 또는 블랙박스 자동화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승인/재생성/갱신 요청 · 수정이 다음 사이클에 반영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확장성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분석가 1명이 도메인 하나씩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Malgun Gothic"/>
                        </a:rPr>
                        <a:t>워커가 도메인 병렬 처리 · 리더가 종합</a:t>
                      </a:r>
                    </a:p>
                  </a:txBody>
                  <a:tcPr marL="109728" marR="73152" marT="36576" marB="36576" anchor="ctr">
                    <a:solidFill>
                      <a:srgbClr val="FAF7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EA002C"/>
                </a:solidFill>
                <a:latin typeface="Malgun Gothic"/>
              </a:rPr>
              <a:t>핵심 가치: </a:t>
            </a:r>
            <a:r>
              <a:rPr sz="1250" b="0">
                <a:solidFill>
                  <a:srgbClr val="1A1A1A"/>
                </a:solidFill>
                <a:latin typeface="Malgun Gothic"/>
              </a:rPr>
              <a:t>‘수집→정규화→교차검증→합성’의 반복 노동을 검토 가능한 아침 초안으로 압축 · 판단은 사람이, 조립은 AI가.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A1A1A"/>
                </a:solidFill>
                <a:latin typeface="Arial"/>
              </a:rPr>
              <a:t>SK</a:t>
            </a:r>
            <a:r>
              <a:rPr b="1" sz="1700">
                <a:solidFill>
                  <a:srgbClr val="EA002C"/>
                </a:solidFill>
                <a:latin typeface="Arial"/>
              </a:rPr>
              <a:t> hynix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4175" y="2926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대외비 ·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A002C"/>
                </a:solidFill>
                <a:latin typeface="Arial"/>
              </a:rPr>
              <a:t>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A1A"/>
                </a:solidFill>
                <a:latin typeface="Malgun Gothic"/>
              </a:rPr>
              <a:t>빌드 순서 &amp; 다음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1005840" cy="38100"/>
          </a:xfrm>
          <a:prstGeom prst="rect">
            <a:avLst/>
          </a:prstGeom>
          <a:solidFill>
            <a:srgbClr val="F477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Sales &amp; Marketing 2.0  ·  에이전틱 CEO 데일리 브리핑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The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31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실제 Market Intelligence 예측 사이클 1회 섀도잉 — 입력 도달성·템플릿·공개/내부 구분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8620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Market Intelligence 에이전트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2783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검증된 wedge를 먼저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03904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5818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가격&amp;프로모션 + 고객기술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2394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공개 데이터 절반 — 공통 메서드 재사용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00016"/>
            <a:ext cx="457200" cy="45720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65429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내부 데이터 역할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020056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Malgun Gothic"/>
              </a:rPr>
              <a:t>데이터 접근/거버넌스 결정 이후 (할당·CRM·공급·PP)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41848"/>
            <a:ext cx="11155680" cy="777240"/>
          </a:xfrm>
          <a:prstGeom prst="rect">
            <a:avLst/>
          </a:prstGeom>
          <a:solidFill>
            <a:srgbClr val="EA0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증강, 대체 아님 — 리더는 판단에 집중하고, CEO는 매일 추적 가능한 시장·고객 리드를 얻는다.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