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920240"/>
            <a:ext cx="1024128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7719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BEC5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53492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Apple SD Gothic Neo"/>
              </a:rPr>
              <a:t>AI Strategy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48768" cy="2743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3657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4AE"/>
                </a:solidFill>
                <a:latin typeface="Apple SD Gothic Neo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960" y="1426464"/>
            <a:ext cx="731520" cy="5760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960" y="142646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240" y="133045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240" y="176250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960" y="2386584"/>
            <a:ext cx="731520" cy="576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238658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0240" y="229057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272262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2960" y="3346704"/>
            <a:ext cx="731520" cy="576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960" y="334670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0240" y="325069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240" y="368274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2960" y="4306824"/>
            <a:ext cx="731520" cy="5760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960" y="430682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0240" y="421081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0240" y="464286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2960" y="5266944"/>
            <a:ext cx="731520" cy="57607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5266944"/>
            <a:ext cx="731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0240" y="5170932"/>
            <a:ext cx="58521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240" y="560298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574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AI란 무엇인가? — 쉬운 비유로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413760" cy="445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413760" cy="53492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41376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pple SD Gothic Neo"/>
              </a:rPr>
              <a:t>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" y="2177415"/>
            <a:ext cx="3004108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자동차 vs 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465" y="2979801"/>
            <a:ext cx="3004108" cy="267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Apple SD Gothic Neo"/>
              </a:rPr>
              <a:t>말이 빠르지만 사람이 직접 타야 했다면,
자동차는 연료만 넣으면 훨씬 빠르게 이동.
AI도 마찬가지 — 방향은 사람이, 실행은 AI가.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1040" y="1508760"/>
            <a:ext cx="3413760" cy="445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1040" y="1508760"/>
            <a:ext cx="3413760" cy="5349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508760"/>
            <a:ext cx="341376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pple SD Gothic Neo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865" y="2177415"/>
            <a:ext cx="3004108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검색 vs 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5865" y="2979801"/>
            <a:ext cx="3004108" cy="267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Apple SD Gothic Neo"/>
              </a:rPr>
              <a:t>Google에게 '마케팅 보고서 써줘'라고 해도 아무것도 안 됨.
ChatGPT에게 같은 말을 하면 초안이 나옴.
AI는 이제 질문에 답하는 게 아니라 일을 대신 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3440" y="1508760"/>
            <a:ext cx="3413760" cy="445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73440" y="1508760"/>
            <a:ext cx="3413760" cy="53492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3440" y="1508760"/>
            <a:ext cx="341376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pple SD Gothic Neo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8265" y="2177415"/>
            <a:ext cx="3004108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pple SD Gothic Neo"/>
              </a:rPr>
              <a:t>도구 vs 동료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8265" y="2979801"/>
            <a:ext cx="3004108" cy="267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Apple SD Gothic Neo"/>
              </a:rPr>
              <a:t>엑셀은 시키는 대로만 함 — 창의성 없음.
AI 에이전트는 목표를 주면 스스로 계획하고 실행.
'이번 달 경쟁사 분석해줘' → 혼자 크롤링·분석·정리.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ChatGPT 사용자 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512064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9840" y="13716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F00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840" y="2194560"/>
            <a:ext cx="97536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63140"/>
            <a:ext cx="524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EFF1"/>
                </a:solidFill>
                <a:latin typeface="Apple SD Gothic Neo"/>
              </a:rPr>
              <a:t>ChatGPT 출시 5일 만에 100만 사용자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840" y="3154680"/>
            <a:ext cx="97536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23260"/>
            <a:ext cx="524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EFF1"/>
                </a:solidFill>
                <a:latin typeface="Apple SD Gothic Neo"/>
              </a:rPr>
              <a:t>2개월 만에 1억 명 → 역사상 최단 기록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4114800"/>
            <a:ext cx="97536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183380"/>
            <a:ext cx="524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EFF1"/>
                </a:solidFill>
                <a:latin typeface="Apple SD Gothic Neo"/>
              </a:rPr>
              <a:t>현재 전 세계 월간 사용자 2억 명 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840" y="6035040"/>
            <a:ext cx="536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46E7A"/>
                </a:solidFill>
                <a:latin typeface="Apple SD Gothic Neo"/>
              </a:rPr>
              <a:t>출처: UBS 2023 / OpenAI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AI 진화 타임라인  2022 →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3566160"/>
            <a:ext cx="11216640" cy="2743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5" y="3346705"/>
            <a:ext cx="438910" cy="43891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6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Apple SD Gothic Neo"/>
              </a:rPr>
              <a:t>2022
11월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1345" y="3346705"/>
            <a:ext cx="438910" cy="43891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832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976D2"/>
                </a:solidFill>
                <a:latin typeface="Apple SD Gothic Neo"/>
              </a:rPr>
              <a:t>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3425" y="3346705"/>
            <a:ext cx="438910" cy="43891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32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Apple SD Gothic Neo"/>
              </a:rPr>
              <a:t>2023
7월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5505" y="3346705"/>
            <a:ext cx="438910" cy="43891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248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8E3C"/>
                </a:solidFill>
                <a:latin typeface="Apple SD Gothic Neo"/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7585" y="3346705"/>
            <a:ext cx="438910" cy="43891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Apple SD Gothic Neo"/>
              </a:rPr>
              <a:t>2024
1월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456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9665" y="3346705"/>
            <a:ext cx="438910" cy="43891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56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Apple SD Gothic Neo"/>
              </a:rPr>
              <a:t>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81745" y="3346705"/>
            <a:ext cx="438910" cy="43891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0640" y="1028700"/>
            <a:ext cx="134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F360C"/>
                </a:solidFill>
                <a:latin typeface="Apple SD Gothic Neo"/>
              </a:rPr>
              <a:t>2025
2월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8720" y="185166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3825" y="3346705"/>
            <a:ext cx="438910" cy="43891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0800" y="4114800"/>
            <a:ext cx="158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EFF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5486400"/>
            <a:ext cx="134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4A19"/>
                </a:solidFill>
                <a:latin typeface="Apple SD Gothic Neo"/>
              </a:rPr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진화 Phase 1~2 — 텍스트·이미지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0876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174193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168363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💬 Phase 1 (2022~) 텍스트 Q&amp;A: ChatGPT 등장 → '검색'에서 '대화'로 패러다임 전환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4320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74320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97637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120" y="291807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🖼️ Phase 2 (2023~) 멀티모달: GPT-4 이미지 이해 → 텍스트+이미지 동시 분석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97764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97764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421081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415251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🎨 이미지 생성 (2023~): Midjourney·DALL-E 3 → 디자이너 없이 마케팅 비주얼 즉시 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21208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521208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544525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538695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📊 영향: 스톡 이미지 시장 40% 감소, 콘텐츠 제작 비용 60~80% 절감 (Shutterstock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진화 Phase 3~4 — 에이전트·CLI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0876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174193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168363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🔌 Phase 3 (2023~) 에이전트 v1: GPT Plugins → AI가 외부 도구 연결, 자율 검색·실행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4320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74320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97637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120" y="291807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🎬 영상 생성 (2024~): Sora → 텍스트로 고품질 영상. 광고·데모 영상 90% 비용 절감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97764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97764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421081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415251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🖱️ Phase 3.5 (2024~) Computer Use: Claude가 화면 보고 PC 직접 조작. RPA 패러다임 전환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212080"/>
            <a:ext cx="1097280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5212080"/>
            <a:ext cx="97536" cy="1165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5445252"/>
            <a:ext cx="48768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5386959"/>
            <a:ext cx="9753600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⚡ Phase 4 (2025~) CLI 에이전트: Claude Code → 터미널에서 자연어로 전체 업무 자동화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AI가 만들어내는 경제적 가치 — 실제 데이터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536448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80" y="528066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AI가 만들어내는 경제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6035040"/>
            <a:ext cx="536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Apple SD Gothic Neo"/>
              </a:rPr>
              <a:t>출처: McKinsey Global Institute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165860"/>
            <a:ext cx="536448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39840" y="528066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AI 보조 업무자의 절감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840" y="6035040"/>
            <a:ext cx="536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Apple SD Gothic Neo"/>
              </a:rPr>
              <a:t>출처: Microsoft Work Trend Index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ChatGPT 배치 이메일 분류기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 / 마케팅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수백 건의 고객 이메일을 한 번에 입력 → 우선순위·카테고리 자동 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ChatGPT API · Python · Gmail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카테고리별 분류된 이메일 리스트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웹 검색 뉴스 리포터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키워드 설정 시 매일 오전 관련 뉴스 자동 수집·요약 메일 발송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Perplexity · Gmail SMTP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일간 업계 뉴스 요약 이메일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데이터 파이프라인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데이터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CSV 수신 → 자동 분석 → 차트 생성 → 대시보드 업데이트까지 자율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Code · pandas · matplotlib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자동 생성 분석 리포트 + 차트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고급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영업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영업 AI 도입 효과 — 실제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34440"/>
            <a:ext cx="463296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0832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832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8388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28%↓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388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행정 업무 시간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88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72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51%↑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572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거래 성사율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72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832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832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388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3일→2시간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388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제안서 초안 제작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388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Salesforce 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572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2배 향상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72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아웃리치 응답률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72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Outreach.io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80" y="5212080"/>
            <a:ext cx="1121664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72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65C0"/>
                </a:solidFill>
                <a:latin typeface="Apple SD Gothic Neo"/>
              </a:rPr>
              <a:t>🤖 에이전트 예시: 영업 준비 자동화 에이전트 — 미팅 일정 등록 시 고객사 분석 리포트 + 반론 시나리오 자동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영업 에이전트 자동화 워크플로우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669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⏰ 트리거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69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16992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085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🔧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085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97408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01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📤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01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917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⏱️ 절약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917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Perplexity Search · Salesforce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미팅 브리핑 PDF + 반론 10개 스크립트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콜드 아웃리치 맞춤화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고객 리스트 CSV 업로드 → 각 고객별 맞춤 이메일 50개 자동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HubSpot API · LinkedIn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개인화 이메일 50개 초안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영업 성과 분석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CRM 데이터 주간 분석 → 성과 패턴 인사이트 + 액션 아이템 리포트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Salesforce API · 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주간 영업 인사이트 리포트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마케팅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마케팅 AI 도입 효과 — 실제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34440"/>
            <a:ext cx="463296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0832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832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8388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10배↑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388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콘텐츠 제작 속도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88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Jasper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72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3일→30분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572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A/B 카피 생성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72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내부 벤치마크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832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832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388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+18%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388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광고 클릭률(CTR)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388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Persado 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572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+40%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72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마케터 생산성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72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HubSpot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80" y="5212080"/>
            <a:ext cx="1121664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72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65C0"/>
                </a:solidFill>
                <a:latin typeface="Apple SD Gothic Neo"/>
              </a:rPr>
              <a:t>🤖 에이전트 예시: SNS 콘텐츠 파이프라인 에이전트 — 매주 금요일 7일치 SNS 카피 21개 + 이미지 프롬프트 자동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마케팅 에이전트 자동화 워크플로우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669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⏰ 트리거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69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16992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085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🔧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085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97408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01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📤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01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917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⏱️ 절약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917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DALL-E 3 · Buffer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주간 콘텐츠 캘린더 + 이미지 프롬프트 21개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A/B 테스트 자동화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제품 USP 입력 → 50개 광고 카피 변형 생성 → Meta API 자동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Meta Ads API · Google Ads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50개 카피 변형 + 자동 게재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트렌드 모니터링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매일 오전 SNS·커뮤니티·뉴스 스캔 → 트렌드 키워드 + 콘텐츠 기회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Perplexity · Slack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일간 트렌드 알림 + 콘텐츠 아이디어 3개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상품기획 워크플로우 혁신 —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64480" cy="5212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2828"/>
                </a:solidFill>
                <a:latin typeface="Apple SD Gothic Neo"/>
              </a:rPr>
              <a:t>😓 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205740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94894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84048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40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4732020"/>
            <a:ext cx="182880" cy="534924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1234440"/>
            <a:ext cx="536448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1234440"/>
            <a:ext cx="536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  <a:latin typeface="Apple SD Gothic Neo"/>
              </a:rPr>
              <a:t>🚀  AFTER (AI)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5740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214655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4894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03809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39" y="392963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732020"/>
            <a:ext cx="182880" cy="53492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4821174"/>
            <a:ext cx="451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5E20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360" y="30861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상품기획 AI 도입 효과 — 실제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34440"/>
            <a:ext cx="463296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0832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832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8388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1,000배↑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388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처리 가능 데이터 규모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88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McKinsey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0" y="130302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0" y="130302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724" y="153344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3~6개월↑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5724" y="226314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트렌드 조기 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724" y="283921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Gartner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832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832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388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10시간→1시간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388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경쟁사 분석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388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0" y="3566160"/>
            <a:ext cx="29260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3566160"/>
            <a:ext cx="2926080" cy="1536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5724" y="3796588"/>
            <a:ext cx="257495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Apple SD Gothic Neo"/>
              </a:rPr>
              <a:t>2주→3일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724" y="4526280"/>
            <a:ext cx="257495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기획서 작성 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724" y="5102352"/>
            <a:ext cx="257495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80" y="5212080"/>
            <a:ext cx="1121664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72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65C0"/>
                </a:solidFill>
                <a:latin typeface="Apple SD Gothic Neo"/>
              </a:rPr>
              <a:t>🤖 에이전트 예시: 경쟁사 인텔리전스 에이전트 — 매일 오전 경쟁사 가격·스펙 자동 수집 → 변동 감지 시 즉시 Slack 알림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상품기획 에이전트 자동화 워크플로우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669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⏰ 트리거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69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16992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085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🔧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085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97408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01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📤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01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143500"/>
            <a:ext cx="26822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9174" y="5280660"/>
            <a:ext cx="2360371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  <a:latin typeface="Apple SD Gothic Neo"/>
              </a:rPr>
              <a:t>⏱️ 절약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9174" y="5692140"/>
            <a:ext cx="236037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Playwright · Claude API ·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일간 경쟁사 변동 알림 + 주간 심층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리뷰 인사이트 추출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Amazon/Coupang 리뷰 1,000건 수집 → 불만 유형 분류 + 개선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Playwright · Claude API ·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리뷰 감성 분석 리포트 + TOP10 불만 항목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기획서 초안 생성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카테고리 + 타깃 고객 입력 → 시장 분석·포지셔닝·로드맵 초안 자동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Perplexity · python-pptx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기획서 초안 PPT (10~15슬라이드)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3개 직무의 공통 AI 자동화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413760" cy="8641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pple SD Gothic Neo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" y="2468880"/>
            <a:ext cx="3004108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반복 업무 자동화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53465" y="3429000"/>
            <a:ext cx="34137" cy="5760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0016" y="3284982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정기 리포트 → 자동 생성·발송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465" y="4341114"/>
            <a:ext cx="34137" cy="5760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" y="4197096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데이터 수집 → 자동 크롤링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465" y="5253228"/>
            <a:ext cx="34137" cy="5760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" y="5109210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문서 작성 → 초안 자동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1040" y="150876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1040" y="1508760"/>
            <a:ext cx="3413760" cy="8641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1040" y="15087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pple SD Gothic Neo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865" y="2468880"/>
            <a:ext cx="3004108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데이터 분석 가속화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15865" y="3429000"/>
            <a:ext cx="34137" cy="576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2416" y="3284982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대용량 리뷰·데이터 즉시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5865" y="4341114"/>
            <a:ext cx="34137" cy="576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2416" y="4197096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트렌드 조기 감지 (3~6개월 앞)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15865" y="5253228"/>
            <a:ext cx="34137" cy="576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2416" y="5109210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경쟁사 인텔리전스 자동화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3440" y="150876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3440" y="1508760"/>
            <a:ext cx="3413760" cy="8641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3440" y="15087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pple SD Gothic Neo"/>
              </a:rPr>
              <a:t>✍️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8265" y="2468880"/>
            <a:ext cx="3004108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콘텐츠 대량 생산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78265" y="3429000"/>
            <a:ext cx="34137" cy="576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6" y="3284982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제안서/기획서 초안 수 시간→수 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78265" y="4341114"/>
            <a:ext cx="34137" cy="576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14816" y="4197096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SNS 콘텐츠 7일치 30분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78265" y="5253228"/>
            <a:ext cx="34137" cy="576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5109210"/>
            <a:ext cx="2867558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A/B 변형 50개 즉시 생성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4320"/>
            <a:ext cx="1036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08760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1706270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1656892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564892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64892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762402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1120" y="2713024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621024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621024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3818534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3769156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77156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677156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" y="4874666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1120" y="4825288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733288"/>
            <a:ext cx="109728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733288"/>
            <a:ext cx="97536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" y="5930798"/>
            <a:ext cx="48768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20" y="5881420"/>
            <a:ext cx="975360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1: 제품 소개 랜딩 페이지 30초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23444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3444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7160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프롬프트 하나로 완성된 HTML 랜딩 페이지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9456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19456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33172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히어로 섹션 / 특징 / Before-After 비교 / CTA 자동 포함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15468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15468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" y="329184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'색상을 파란색으로 바꿔줘' → 즉시 수정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11480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11480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440" y="425196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결과: 기존 2~3일 → 30초 (360배 빠름)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074920"/>
            <a:ext cx="10972800" cy="1371600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5143500"/>
            <a:ext cx="2438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F00"/>
                </a:solidFill>
                <a:latin typeface="Apple SD Gothic Neo"/>
              </a:rPr>
              <a:t>📋 사용 프롬프트: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" y="5486400"/>
            <a:ext cx="1048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Apple SD Gothic Neo"/>
              </a:rPr>
              <a:t>"[제품명] 소개 랜딩 페이지를 HTML로 만들어줘. 히어로, 특징 3가지, Before/After 비교, CTA 포함. 다크 배경에 오렌지 포인트 컬러."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2: AI 이미지 생성 — 프롬프트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23444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3444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7160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❌ 나쁜 프롬프트: 'SSD 사진' → 흔한 스톡 이미지 수준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9456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19456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33172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좋은 프롬프트: 'Modern NVMe SSD floating on white, electric blue particles, 8K, studio lighting, premium tech aesthetic' → 광고 수준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15468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15468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" y="329184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도구별 특성: DALL-E 3(한국어 OK), Midjourney(최고 품질), Firefly(상업용 안전)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114800"/>
            <a:ext cx="109728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114800"/>
            <a:ext cx="97536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440" y="4251960"/>
            <a:ext cx="1048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Apple SD Gothic Neo"/>
              </a:rPr>
              <a:t>✅ 핵심: 구체적인 스타일·조명·분위기 키워드가 결과를 10배 바꾼다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랜딩 페이지 배치 생성기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제품 목록 CSV 업로드 → 각 제품별 맞춤 HTML 랜딩 페이지 일괄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Python · Jinja2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제품별 HTML 랜딩 페이지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A/B 카피 자동 테스트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광고 소재 업로드 → 50개 변형 생성 → Meta/Google Ads API 자동 제출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Meta Ads API · Google Ads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50개 광고 카피 + 자동 게재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콘텐츠 품질 검수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AI 생성 콘텐츠 → 브랜드 가이드라인 자동 체크 → 승인/거절/수정 안 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Custom Rules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품질 검수 리포트 + 수정 제안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" y="1303020"/>
            <a:ext cx="524256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1303020"/>
            <a:ext cx="5242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2828"/>
                </a:solidFill>
                <a:latin typeface="Apple SD Gothic Neo"/>
              </a:rPr>
              <a:t>💬 일반 AI (ChatGPT)
= 질문하면 답하는 기계
한 번에 하나의 답변만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303020"/>
            <a:ext cx="524256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303020"/>
            <a:ext cx="5242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5E20"/>
                </a:solidFill>
                <a:latin typeface="Apple SD Gothic Neo"/>
              </a:rPr>
              <a:t>🤖 AI 에이전트 (Claude Code 등)
= 목표를 주면 스스로 계획하고 실행
도구를 사용해 여러 단계 자율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8320" y="1440180"/>
            <a:ext cx="97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F360C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341376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" y="4231386"/>
            <a:ext cx="682752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301337"/>
            <a:ext cx="221894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F00"/>
                </a:solidFill>
                <a:latin typeface="Apple SD Gothic Neo"/>
              </a:rPr>
              <a:t>Tool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" y="5000853"/>
            <a:ext cx="3004108" cy="128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Apple SD Gothic Neo"/>
              </a:rPr>
              <a:t>인터넷 검색, 파일 읽기,
코드 실행, API 호출 등
외부 도구를 직접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1040" y="4114800"/>
            <a:ext cx="341376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231386"/>
            <a:ext cx="682752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5168" y="4301337"/>
            <a:ext cx="221894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F00"/>
                </a:solidFill>
                <a:latin typeface="Apple SD Gothic Neo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5865" y="5000853"/>
            <a:ext cx="3004108" cy="128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Apple SD Gothic Neo"/>
              </a:rPr>
              <a:t>이전 대화·작업 기억
문맥을 유지하며 일관된
다단계 작업 수행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73440" y="4114800"/>
            <a:ext cx="341376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4128" y="4231386"/>
            <a:ext cx="682752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7568" y="4301337"/>
            <a:ext cx="2218944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F00"/>
                </a:solidFill>
                <a:latin typeface="Apple SD Gothic Neo"/>
              </a:rPr>
              <a:t>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8265" y="5000853"/>
            <a:ext cx="3004108" cy="128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Apple SD Gothic Neo"/>
              </a:rPr>
              <a:t>큰 목표를 작은 단계로
자동 분해하고 순서대로
실행하는 계획 능력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실행 메커니즘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7680" y="5212080"/>
            <a:ext cx="11216640" cy="1234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72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CAF9"/>
                </a:solidFill>
                <a:latin typeface="Apple SD Gothic Neo"/>
              </a:rPr>
              <a:t>💡 실제 예: "이번 달 경쟁사 가격 분석 리포트 만들어줘"
→ 에이전트가: URL 목록 확인 → 크롤링 → 데이터 정리 → 비교 분석 → PDF 생성 → 이메일 발송까지 자동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코딩 없이 에이전트 만들기 — 노코드 도구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13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13760" cy="691286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20977"/>
            <a:ext cx="341376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⚡ Zapier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" y="2211019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이메일·Slack·CRM 등
7,000개 이상 앱 연결
드래그&amp;드롭 자동화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53465" y="3346704"/>
            <a:ext cx="3004108" cy="685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3465" y="3494836"/>
            <a:ext cx="300410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F00"/>
                </a:solidFill>
                <a:latin typeface="Apple SD Gothic Neo"/>
              </a:rPr>
              <a:t>✅ 영업·마케팅 알림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65" y="3988612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Gmail 첨부 수신 →
Claude 요약 →
Notion 자동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" y="5173675"/>
            <a:ext cx="3004108" cy="5925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" y="5223052"/>
            <a:ext cx="30041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Apple SD Gothic Neo"/>
              </a:rPr>
              <a:t>💰 무료 / 월$19.99~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1040" y="1371600"/>
            <a:ext cx="3413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1040" y="1371600"/>
            <a:ext cx="3413760" cy="691286"/>
          </a:xfrm>
          <a:prstGeom prst="rect">
            <a:avLst/>
          </a:prstGeom>
          <a:solidFill>
            <a:srgbClr val="6D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1420977"/>
            <a:ext cx="341376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🔗 Make (Integromat)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5865" y="2211019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복잡한 워크플로우
시각적 빌더로 구성
Zapier보다 저렴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5865" y="3346704"/>
            <a:ext cx="3004108" cy="685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5865" y="3494836"/>
            <a:ext cx="300410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D00CC"/>
                </a:solidFill>
                <a:latin typeface="Apple SD Gothic Neo"/>
              </a:rPr>
              <a:t>✅ 마케팅 콘텐츠 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865" y="3988612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신제품 등록 →
SNS 카피 자동 생성 →
Buffer 예약 발행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5865" y="5173675"/>
            <a:ext cx="3004108" cy="5925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5865" y="5223052"/>
            <a:ext cx="30041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Apple SD Gothic Neo"/>
              </a:rPr>
              <a:t>💰 무료 / 월$9~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73440" y="1371600"/>
            <a:ext cx="3413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73440" y="1371600"/>
            <a:ext cx="3413760" cy="69128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3440" y="1420977"/>
            <a:ext cx="3413760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🤖 Claude / 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8265" y="2211019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대화형 프롬프트만으로
복잡한 에이전트 동작
가장 쉬운 진입점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78265" y="3346704"/>
            <a:ext cx="3004108" cy="685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8265" y="3494836"/>
            <a:ext cx="300410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Apple SD Gothic Neo"/>
              </a:rPr>
              <a:t>✅ 상품기획·문서 작성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8265" y="3988612"/>
            <a:ext cx="3004108" cy="1086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경쟁사 URL 붙여넣기 →
분석 + 기획서 초안
즉시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78265" y="5173675"/>
            <a:ext cx="3004108" cy="5925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8265" y="5223052"/>
            <a:ext cx="30041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Apple SD Gothic Neo"/>
              </a:rPr>
              <a:t>💰 무료 / 월$20~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Perplexity Search · Salesforce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미팅 브리핑 PDF + 반론 10개 스크립트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마케팅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DALL-E 3 · Buffer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주간 콘텐츠 캘린더 + 이미지 프롬프트 21개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상품기획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Playwright · Claude API · 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일간 경쟁사 변동 알림 + 주간 심층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지금 당장 첫 번째 에이전트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1311249"/>
            <a:ext cx="365760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반복 업무 1개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6880" y="1762506"/>
            <a:ext cx="926592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Apple SD Gothic Neo"/>
              </a:rPr>
              <a:t>매주 하는 작업 중 '이걸 자동화하면 좋겠다' 싶은 것 1가지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63140"/>
            <a:ext cx="10728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63140"/>
            <a:ext cx="73152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31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880" y="2339949"/>
            <a:ext cx="365760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입력·출력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880" y="2791206"/>
            <a:ext cx="926592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Apple SD Gothic Neo"/>
              </a:rPr>
              <a:t>'무엇을 넣으면' → '무엇이 나와야 하는가' 명확히 정의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10728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73152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6880" y="3368649"/>
            <a:ext cx="365760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도구 목록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6880" y="3819906"/>
            <a:ext cx="926592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Apple SD Gothic Neo"/>
              </a:rPr>
              <a:t>필요한 도구: 검색? 이메일? CRM? 파일 읽기? 골라서 메모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20540"/>
            <a:ext cx="10728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20540"/>
            <a:ext cx="731520" cy="9601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205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6880" y="4397349"/>
            <a:ext cx="365760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Claude에게 설계 요청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6880" y="4848606"/>
            <a:ext cx="926592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Apple SD Gothic Neo"/>
              </a:rPr>
              <a:t>"내 업무는 ~이야. 이걸 자동화하는 에이전트 만들어줘" 그대로 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107289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349240"/>
            <a:ext cx="731520" cy="9601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731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6880" y="5426049"/>
            <a:ext cx="365760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pple SD Gothic Neo"/>
              </a:rPr>
              <a:t>테스트 → 개선 반복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6880" y="5877306"/>
            <a:ext cx="926592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Apple SD Gothic Neo"/>
              </a:rPr>
              <a:t>처음엔 70점이어도 OK. 피드백으로 점진적 개선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60" y="1714500"/>
            <a:ext cx="243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2918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663440"/>
            <a:ext cx="975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" y="3017520"/>
            <a:ext cx="731520" cy="342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직무별 AI 도구 추천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413760" cy="4800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영업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0629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190" y="18362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Claude.ai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190" y="222953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제안서 초안, 이메일 맞춤화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252717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252717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190" y="253780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73152" cy="10629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190" y="293350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190" y="332681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고객사 실시간 리서치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6896" y="362445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62445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190" y="363508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73152" cy="10629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190" y="40307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Notion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190" y="442409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미팅 노트 요약, CRM 메모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6896" y="472173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6896" y="472173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190" y="473236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월$16~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074920"/>
            <a:ext cx="73152" cy="10629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190" y="51280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Gong.io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190" y="552137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영업 콜 AI 분석 + 코칭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5819013"/>
            <a:ext cx="1228953" cy="23385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581901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190" y="582964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Enterprise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1040" y="1234440"/>
            <a:ext cx="3413760" cy="4800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1040" y="123444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1040" y="178308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11040" y="1783080"/>
            <a:ext cx="73152" cy="10629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7590" y="18362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Claude.ai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7590" y="222953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카피라이팅, A/B 테스트 문구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59296" y="252717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9296" y="252717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7590" y="253780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11040" y="288036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11040" y="2880360"/>
            <a:ext cx="73152" cy="10629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7590" y="293350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DALL-E 3 / Midjourney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7590" y="332681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마케팅 이미지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59296" y="362445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9296" y="362445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7590" y="363508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무료~월$60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1040" y="397764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1040" y="3977640"/>
            <a:ext cx="73152" cy="10629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7590" y="40307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Canva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47590" y="442409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SNS 비주얼 빠른 제작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9296" y="472173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9296" y="472173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47590" y="473236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11040" y="507492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11040" y="5074920"/>
            <a:ext cx="73152" cy="10629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7590" y="51280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Jasper 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7590" y="552137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대량 콘텐츠 자동 생성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59296" y="5819013"/>
            <a:ext cx="1228953" cy="23385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9296" y="581901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7590" y="582964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월$49~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440" y="1234440"/>
            <a:ext cx="3413760" cy="4800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73440" y="123444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73440" y="178308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73440" y="1783080"/>
            <a:ext cx="73152" cy="106299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09990" y="18362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Claude.ai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09990" y="222953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기획서 초안, 리뷰 분석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521696" y="252717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21696" y="252717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09990" y="253780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73440" y="288036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73440" y="2880360"/>
            <a:ext cx="73152" cy="106299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09990" y="293350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09990" y="332681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트렌드 리서치, 경쟁사 조사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21696" y="3624453"/>
            <a:ext cx="1228953" cy="23385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21696" y="362445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09990" y="363508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무료/월$20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73440" y="397764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473440" y="3977640"/>
            <a:ext cx="73152" cy="106299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09990" y="40307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ChatGPT + Code Interpreter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09990" y="442409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데이터 분석, 차트 생성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521696" y="4721733"/>
            <a:ext cx="1228953" cy="23385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21696" y="472173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09990" y="473236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월$20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73440" y="5074920"/>
            <a:ext cx="3413760" cy="106299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3440" y="5074920"/>
            <a:ext cx="73152" cy="106299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09990" y="51280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Apple SD Gothic Neo"/>
              </a:rPr>
              <a:t>Claude Code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09990" y="5521375"/>
            <a:ext cx="3140659" cy="31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Apple SD Gothic Neo"/>
              </a:rPr>
              <a:t>크롤링 에이전트 구축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21696" y="5819013"/>
            <a:ext cx="1228953" cy="23385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21696" y="5819013"/>
            <a:ext cx="1228953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09990" y="5829642"/>
            <a:ext cx="1877568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Apple SD Gothic Neo"/>
              </a:rPr>
              <a:t>월$20~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TRIE 프롬프트 공식 — 4요소만 기억하면 AI 마스터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500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80" y="6309360"/>
            <a:ext cx="1121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A4AE"/>
                </a:solidFill>
                <a:latin typeface="Apple SD Gothic Neo"/>
              </a:rPr>
              <a:t>💡 TRIE 공식은 ChatGPT, Claude 등 모든 AI에 동일하게 적용 가능합니다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나쁜 프롬프트 vs 좋은 프롬프트 — 실전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3048000" cy="25374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1292733"/>
            <a:ext cx="2804160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Apple SD Gothic Neo"/>
              </a:rPr>
              <a:t>❌ [영업] 나쁜 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876348"/>
            <a:ext cx="2804160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1C1C"/>
                </a:solidFill>
                <a:latin typeface="Apple SD Gothic Neo"/>
              </a:rPr>
              <a:t>"제안서 써줘"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760" y="2053971"/>
            <a:ext cx="731520" cy="76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165860"/>
            <a:ext cx="7559040" cy="25374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92733"/>
            <a:ext cx="7315200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Apple SD Gothic Neo"/>
              </a:rPr>
              <a:t>✅ [영업] TRIE 공식 적용 — 응답 품질 5배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6348"/>
            <a:ext cx="7315200" cy="164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[역할] 당신은 IT 솔루션 영업 전문가입니다.
[과제] 삼성전자 물류팀을 위한 SaaS 제안서 초안을 작성해주세요.
[입력] 예산: 연 2억, 도입 목적: 물류 효율화, 담당자: 구매팀 김과장
[기대] 5페이지 분량, 핵심 가치 3가지, ROI 수치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3048000" cy="25374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" y="3967353"/>
            <a:ext cx="2804160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Apple SD Gothic Neo"/>
              </a:rPr>
              <a:t>❌ [마케팅] 나쁜 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" y="4550968"/>
            <a:ext cx="2804160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1C1C"/>
                </a:solidFill>
                <a:latin typeface="Apple SD Gothic Neo"/>
              </a:rPr>
              <a:t>"SNS 글 써줘"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4728591"/>
            <a:ext cx="731520" cy="76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3840480"/>
            <a:ext cx="7559040" cy="25374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67353"/>
            <a:ext cx="7315200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Apple SD Gothic Neo"/>
              </a:rPr>
              <a:t>✅ [마케팅] TRIE 공식 적용 — 전환율 18% 향상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50968"/>
            <a:ext cx="7315200" cy="164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[역할] 당신은 MZ세대 디지털 마케터입니다.
[과제] 신규 무선이어폰 출시 인스타그램 피드 카피 3개 버전 작성.
[입력] 제품명: SoundX Pro, 타깃: 20~30대 직장인, 강점: 35시간 배터리
[기대] 각 150자 이내, 해시태그 5개 포함, 구매 유도 CTA 포함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30일 AI 실전 온보딩 플랜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5860"/>
            <a:ext cx="114604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80" y="6377940"/>
            <a:ext cx="112166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16161"/>
                </a:solidFill>
                <a:latin typeface="Apple SD Gothic Neo"/>
              </a:rPr>
              <a:t>✨ 처음부터 완벽하지 않아도 됩니다. 매주 1개씩 늘려가면 30일 후 완전히 다른 업무 환경이 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사용 시 꼭 알아야 할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65860"/>
            <a:ext cx="5364480" cy="296265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339" y="1190548"/>
            <a:ext cx="1072896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ple SD Gothic Neo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1215237"/>
            <a:ext cx="3755135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보안 &amp; 개인정보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339" y="1560880"/>
            <a:ext cx="4935321" cy="740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" y="1610258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Apple SD Gothic Neo"/>
              </a:rPr>
              <a:t>⚠️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339" y="1906524"/>
            <a:ext cx="4935321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고객 개인정보·내부 기밀을 공개 AI 서비스에 직접 입력 금지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339" y="2647188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Apple SD Gothic Neo"/>
              </a:rPr>
              <a:t>✅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339" y="2943453"/>
            <a:ext cx="493532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데이터 익명화 처리 후 입력 / 사내 전용 AI 환경 구축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1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1760" y="1165860"/>
            <a:ext cx="5364480" cy="296265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6339" y="1190548"/>
            <a:ext cx="1072896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ple SD Gothic Neo"/>
              </a:rPr>
              <a:t>©️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2880" y="1215237"/>
            <a:ext cx="3755135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저작권 &amp; 상업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6339" y="1560880"/>
            <a:ext cx="4935321" cy="740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339" y="1610258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Apple SD Gothic Neo"/>
              </a:rPr>
              <a:t>⚠️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6339" y="1906524"/>
            <a:ext cx="4935321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AI 생성 이미지·텍스트의 상업적 사용 시 라이선스 확인 필수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6339" y="2647188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Apple SD Gothic Neo"/>
              </a:rPr>
              <a:t>✅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6339" y="2943453"/>
            <a:ext cx="493532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Adobe Firefly(상업용 안전 설계) 우선 사용 / 출처 기록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5364480" cy="29626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339" y="4002327"/>
            <a:ext cx="1072896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6880" y="4027016"/>
            <a:ext cx="3755135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환각(Hallucination)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339" y="4372659"/>
            <a:ext cx="4935321" cy="74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339" y="4422037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Apple SD Gothic Neo"/>
              </a:rPr>
              <a:t>⚠️ 위험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339" y="4718303"/>
            <a:ext cx="4935321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AI가 사실처럼 들리는 잘못된 수치·정보를 만들어낼 수 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339" y="5458967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Apple SD Gothic Neo"/>
              </a:rPr>
              <a:t>✅ 대응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339" y="5755232"/>
            <a:ext cx="493532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수치·출처 포함 내용은 반드시 팩트체크 후 사용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1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1760" y="3977639"/>
            <a:ext cx="5364480" cy="296265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6339" y="4002327"/>
            <a:ext cx="1072896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ple SD Gothic Neo"/>
              </a:rPr>
              <a:t>⚖️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2880" y="4027016"/>
            <a:ext cx="3755135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편향성 &amp; 공정성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6339" y="4372659"/>
            <a:ext cx="4935321" cy="740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6339" y="4422037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Apple SD Gothic Neo"/>
              </a:rPr>
              <a:t>⚠️ 위험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6339" y="4718303"/>
            <a:ext cx="4935321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Apple SD Gothic Neo"/>
              </a:rPr>
              <a:t>AI 학습 데이터의 편향으로 특정 집단에 불공정 결과 가능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6339" y="5458967"/>
            <a:ext cx="2145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5E20"/>
                </a:solidFill>
                <a:latin typeface="Apple SD Gothic Neo"/>
              </a:rPr>
              <a:t>✅ 대응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6339" y="5755232"/>
            <a:ext cx="493532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  <a:latin typeface="Apple SD Gothic Neo"/>
              </a:rPr>
              <a:t>다양한 관점 검토 / 최종 판단은 반드시 사람이 내릴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AI 에이전트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59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71600"/>
            <a:ext cx="3413760" cy="56578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47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학습 진도 트래커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47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전 직무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47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매일 AI 활용 일지 작성 → Notion 자동 기록 → 주간 진도 리포트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47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Notion API · Gmail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47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주간 AI 활용 진도 리포트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703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78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5278" y="1371600"/>
            <a:ext cx="3413760" cy="56578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6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프롬프트 품질 개선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6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전 직무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6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작성한 프롬프트 → TRIE 공식 준수 체크 → 자동 개선안 3개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6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6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개선된 프롬프트 3개 버전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2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797" y="1371600"/>
            <a:ext cx="3413760" cy="3771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4797" y="1371600"/>
            <a:ext cx="3413760" cy="56578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5" y="1447038"/>
            <a:ext cx="3072384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AI 도입 ROI 측정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5" y="2125980"/>
            <a:ext cx="3072384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CAF9"/>
                </a:solidFill>
                <a:latin typeface="Apple SD Gothic Neo"/>
              </a:rPr>
              <a:t>👤 전 직무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5" y="2578608"/>
            <a:ext cx="3072384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Apple SD Gothic Neo"/>
              </a:rPr>
              <a:t>업무 시간 로그 기록 → AI 절감 시간 자동 계산 → 월간 효과 리포트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5485" y="3710178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0DEEA"/>
                </a:solidFill>
                <a:latin typeface="Apple SD Gothic Neo"/>
              </a:rPr>
              <a:t>🔧 Claude API · Google Sheets API · Gmail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5" y="4162806"/>
            <a:ext cx="3072384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D6A7"/>
                </a:solidFill>
                <a:latin typeface="Apple SD Gothic Neo"/>
              </a:rPr>
              <a:t>📤 월간 AI 도입 ROI 리포트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741" y="4653153"/>
            <a:ext cx="1024128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200" y="1371600"/>
            <a:ext cx="9753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606040"/>
            <a:ext cx="975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C5"/>
                </a:solidFill>
                <a:latin typeface="Apple SD Gothic Neo"/>
              </a:rPr>
              <a:t>더 빠르게, 더 많이, 더 창의적으로
당신의 강점을 AI로 증폭시키세요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400" y="41148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⚡  반복 업무는 AI에게 — 판단은 당신이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400" y="48006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🎯  작은 자동화부터 시작해 습관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5486400"/>
            <a:ext cx="7315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CEFF1"/>
                </a:solidFill>
                <a:latin typeface="Apple SD Gothic Neo"/>
              </a:rPr>
              <a:t>🤝  AI와 협업하는 능력이 핵심 역량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6035040"/>
            <a:ext cx="975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F00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