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371600"/>
            <a:ext cx="48768" cy="397763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60" y="1371600"/>
            <a:ext cx="48768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4ED8"/>
                </a:solidFill>
                <a:latin typeface="Apple SD Gothic Neo"/>
              </a:rPr>
              <a:t>INSIGHT REPORT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2057400"/>
            <a:ext cx="9509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ple SD Gothic Neo"/>
              </a:rPr>
              <a:t>AI가 바꾸는 우리의 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40462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94A3B8"/>
                </a:solidFill>
                <a:latin typeface="Apple SD Gothic Neo"/>
              </a:rPr>
              <a:t>B2C 실무자를 위한 AI 워크플로우 혁신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" y="4937760"/>
            <a:ext cx="73152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5143500"/>
            <a:ext cx="609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AI Strategy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2080" y="3086100"/>
            <a:ext cx="2682240" cy="1234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2080" y="3154680"/>
            <a:ext cx="268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D4ED8"/>
                </a:solidFill>
                <a:latin typeface="Apple SD Gothic Neo"/>
              </a:rPr>
              <a:t>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2080" y="3566160"/>
            <a:ext cx="268224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Apple SD Gothic Neo"/>
              </a:rPr>
              <a:t>B2C 영업
마케팅
상품기획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강의 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5166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195453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ED8"/>
                </a:solidFill>
                <a:latin typeface="Apple SD Gothic Neo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6880" y="202311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0720" y="197510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0720" y="229743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질문-답변에서 CLI 에이전트까지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462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284607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6B4F"/>
                </a:solidFill>
                <a:latin typeface="Apple SD Gothic Neo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6880" y="291465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50720" y="286664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0720" y="318897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영업·마케팅·상품기획 실무 변화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3474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440" y="373761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D28D9"/>
                </a:solidFill>
                <a:latin typeface="Apple SD Gothic Neo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6880" y="380619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0720" y="375818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720" y="408051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직접 보고, 직접 해보는 AI 활용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5770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52628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440" y="462915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Apple SD Gothic Neo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06880" y="469773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50720" y="464972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0720" y="497205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당신의 AI 팀원을 설계하는 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4924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1782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52069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7490"/>
                </a:solidFill>
                <a:latin typeface="Apple SD Gothic Neo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06880" y="558927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50720" y="554126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0720" y="586359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내일부터 써먹는 실전 로드맵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624078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CHAPTER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질문-답변에서 CLI 에이전트까지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AI란 무엇인가? — 3가지 비유로 이해하기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검색 → 대화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3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3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Google에게 '제안서 써줘'라고 해도 결과 없음.
AI는 해당 요청을 이해하고 실제로 작성해 줌.
→ 도구가 아닌 협업 파트너로의 전환.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76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10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1040" y="123444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6B4F"/>
                </a:solidFill>
                <a:latin typeface="Apple SD Gothic Neo"/>
              </a:rPr>
              <a:t>타이핑 → 말하기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스마트폰 등장 전 우리는 모두 버튼을 눌렀다.
AI는 자연어로 명령하는 시대를 열었다.
→ 누구나 전문 도구를 쓸 수 있는 시대.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00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734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3440" y="123444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41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41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ple SD Gothic Neo"/>
              </a:rPr>
              <a:t>도구 → 동료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41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41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엑셀은 시킨 것만 한다. 창의성 없음.
AI 에이전트는 목표를 주면 스스로 계획 실행.
→ '경쟁사 분석해줘' → 크롤링·분석·정리 자동.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ChatGPT 사용자 달성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560832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39" y="1371600"/>
            <a:ext cx="463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39" y="1988819"/>
            <a:ext cx="438912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39" y="219456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0" y="226314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ChatGPT 출시 5일 만에 100만 사용자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39" y="332613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0" y="339471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2개월 만에 1억 명 → 역사상 최단 기록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39" y="445770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3280" y="452628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현재 전 세계 월간 사용자 2억 명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603504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출처: UBS 2023 / OpenAI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AI 진화 타임라인 — 2022 →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질문-답변 → 이미지 생성 → 에이전트 → CLI 자율 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566160"/>
            <a:ext cx="10972800" cy="2057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0328" y="3371088"/>
            <a:ext cx="390144" cy="390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00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673" y="3456433"/>
            <a:ext cx="219455" cy="21945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ple SD Gothic Neo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ChatGPT 3.5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32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71928" y="3371088"/>
            <a:ext cx="390144" cy="390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16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7273" y="3456433"/>
            <a:ext cx="219455" cy="21945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48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64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GPT-4 + 이미지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64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ple SD Gothic Neo"/>
              </a:rPr>
              <a:t>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3528" y="3371088"/>
            <a:ext cx="390144" cy="39014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32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28873" y="3456433"/>
            <a:ext cx="219455" cy="21945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80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6B4F"/>
                </a:solidFill>
                <a:latin typeface="Apple SD Gothic Neo"/>
              </a:rP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80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Midjourney V5 / DALL-E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64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5128" y="3371088"/>
            <a:ext cx="390144" cy="39014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248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0473" y="3456433"/>
            <a:ext cx="219455" cy="21945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80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96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GPT-4 Turbo + Plugins / Assistants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96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6B4F"/>
                </a:solidFill>
                <a:latin typeface="Apple SD Gothic Neo"/>
              </a:rPr>
              <a:t>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6728" y="3371088"/>
            <a:ext cx="390144" cy="390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964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2073" y="3456433"/>
            <a:ext cx="219455" cy="21945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12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ple SD Gothic Neo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12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Sora (텍스트→영상) 공개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96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8328" y="3371088"/>
            <a:ext cx="390144" cy="390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80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3673" y="3456433"/>
            <a:ext cx="219455" cy="21945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412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828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Claude 3.5 Sonnet — Computer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28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ple SD Gothic Neo"/>
              </a:rPr>
              <a:t>2024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9928" y="3371088"/>
            <a:ext cx="390144" cy="3901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396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5273" y="3456433"/>
            <a:ext cx="219455" cy="21945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544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ple SD Gothic Neo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44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Claude Code (CLI 에이전트) 공개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128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01528" y="3371088"/>
            <a:ext cx="390144" cy="3901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112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786873" y="3456433"/>
            <a:ext cx="219455" cy="21945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844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260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Multi-Agent 협업 표준화 (MCP)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60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ple SD Gothic Neo"/>
              </a:rPr>
              <a:t>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36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D4ED8"/>
                </a:solidFill>
                <a:latin typeface="Apple SD Gothic Neo"/>
              </a:rPr>
              <a:t>Phase 1
Q&amp;A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7952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6B4F"/>
                </a:solidFill>
                <a:latin typeface="Apple SD Gothic Neo"/>
              </a:rPr>
              <a:t>Phase 2
이미지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752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D28D9"/>
                </a:solidFill>
                <a:latin typeface="Apple SD Gothic Neo"/>
              </a:rPr>
              <a:t>Phase 3
에이전트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1936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1C1C"/>
                </a:solidFill>
                <a:latin typeface="Apple SD Gothic Neo"/>
              </a:rPr>
              <a:t>Phase 4
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80" y="411480"/>
            <a:ext cx="2682240" cy="6035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411480"/>
            <a:ext cx="2682240" cy="480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85800"/>
            <a:ext cx="2682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565C0"/>
                </a:solidFill>
                <a:latin typeface="Apple SD Gothic Neo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645920"/>
            <a:ext cx="268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2263140"/>
            <a:ext cx="268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  <a:latin typeface="Apple SD Gothic Neo"/>
              </a:rPr>
              <a:t>텍스트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2948940"/>
            <a:ext cx="268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ple SD Gothic Neo"/>
              </a:rPr>
              <a:t>2022.11 ~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7580"/>
            <a:ext cx="21945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80" y="3634740"/>
            <a:ext cx="268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ple SD Gothic Neo"/>
              </a:rPr>
              <a:t>ChatGPT 3.5 · GPT-4 · Claude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760" y="411480"/>
            <a:ext cx="4145280" cy="1508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760" y="548640"/>
            <a:ext cx="4145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565C0"/>
                </a:solidFill>
                <a:latin typeface="Apple SD Gothic Neo"/>
              </a:rPr>
              <a:t>1억 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79" y="1303020"/>
            <a:ext cx="39014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ple SD Gothic Neo"/>
              </a:rPr>
              <a:t>2개월 만에 (역대 최단 기록, UBS 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760" y="2057400"/>
            <a:ext cx="414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5C0"/>
                </a:solidFill>
                <a:latin typeface="Apple SD Gothic Neo"/>
              </a:rPr>
              <a:t>업무별 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3760" y="253746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679" y="267462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이메일 초안 작성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679" y="301752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05181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30분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1040" y="301752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960" y="305181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2분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05181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3760" y="370332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5679" y="384048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회의록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5679" y="418338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21767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1시간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1040" y="418338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960" y="421767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30초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21767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3760" y="486918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5679" y="500634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번역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35679" y="534924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38353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외주 $100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1040" y="534924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2960" y="538353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$0.001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38353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24800" y="411480"/>
            <a:ext cx="3779520" cy="6035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24800" y="411480"/>
            <a:ext cx="3779520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617220"/>
            <a:ext cx="3535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B2C 실무 적용 사례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165860"/>
            <a:ext cx="3413760" cy="22631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1165860"/>
            <a:ext cx="73152" cy="22631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8640" y="1371600"/>
            <a:ext cx="316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Apple SD Gothic Neo"/>
              </a:rPr>
              <a:t>영업 사례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8640" y="1851660"/>
            <a:ext cx="316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영업: 고객사 맞춤 제안서 초안 — 10분 → 1분. 영업사원 1명이 하루 20건 발송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703320"/>
            <a:ext cx="3413760" cy="22631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3703320"/>
            <a:ext cx="73152" cy="22631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8640" y="3909060"/>
            <a:ext cx="316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Apple SD Gothic Neo"/>
              </a:rPr>
              <a:t>마케팅·기획 사례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8640" y="4389120"/>
            <a:ext cx="316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마케팅: 월간 SNS 카피 100개 → 1시간 완성. 기존 4명이 하던 일을 1명이 처리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3760" y="6035040"/>
            <a:ext cx="4145280" cy="54864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6137910"/>
            <a:ext cx="36576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  <a:latin typeface="Apple SD Gothic Neo"/>
              </a:rPr>
              <a:t>⚠️  영향받는 직무: 문서 작성·번역·요약 업무 종사자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80" y="411480"/>
            <a:ext cx="2682240" cy="6035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411480"/>
            <a:ext cx="2682240" cy="4800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85800"/>
            <a:ext cx="2682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E7D32"/>
                </a:solidFill>
                <a:latin typeface="Apple SD Gothic Neo"/>
              </a:rPr>
              <a:t>🖼️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645920"/>
            <a:ext cx="268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2263140"/>
            <a:ext cx="268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Apple SD Gothic Neo"/>
              </a:rPr>
              <a:t>멀티모달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2948940"/>
            <a:ext cx="268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ple SD Gothic Neo"/>
              </a:rPr>
              <a:t>2023.03 ~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7580"/>
            <a:ext cx="21945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80" y="3634740"/>
            <a:ext cx="268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ple SD Gothic Neo"/>
              </a:rPr>
              <a:t>GPT-4V · Midjourney · DALL-E 3 · Sora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760" y="411480"/>
            <a:ext cx="4145280" cy="1508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760" y="548640"/>
            <a:ext cx="4145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7D32"/>
                </a:solidFill>
                <a:latin typeface="Apple SD Gothic Neo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79" y="1303020"/>
            <a:ext cx="39014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ple SD Gothic Neo"/>
              </a:rPr>
              <a:t>디자인 초안 비용 절감 (Adobe 조사)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760" y="2057400"/>
            <a:ext cx="414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Apple SD Gothic Neo"/>
              </a:rPr>
              <a:t>업무별 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3760" y="253746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679" y="267462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제품 이미지 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679" y="301752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05181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스튜디오 $500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1040" y="301752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960" y="305181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AI 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05181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3760" y="370332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5679" y="384048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SNS 비주얼 제작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5679" y="418338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21767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3일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1040" y="418338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960" y="421767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30분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21767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3760" y="486918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5679" y="500634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경쟁사 분석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35679" y="534924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38353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직접 스크린샷·메모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1040" y="534924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2960" y="538353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이미지 업로드 → 자동 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38353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24800" y="411480"/>
            <a:ext cx="3779520" cy="6035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24800" y="411480"/>
            <a:ext cx="377952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617220"/>
            <a:ext cx="3535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Apple SD Gothic Neo"/>
              </a:rPr>
              <a:t>B2C 실무 적용 사례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165860"/>
            <a:ext cx="3413760" cy="22631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1165860"/>
            <a:ext cx="73152" cy="22631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8640" y="1371600"/>
            <a:ext cx="316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Apple SD Gothic Neo"/>
              </a:rPr>
              <a:t>영업 사례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8640" y="1851660"/>
            <a:ext cx="316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마케팅: 제품 카탈로그 이미지 100장 → AI로 하루 만에 생성. 포토그래퍼·외주 비용 제거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703320"/>
            <a:ext cx="3413760" cy="22631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3703320"/>
            <a:ext cx="73152" cy="22631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8640" y="3909060"/>
            <a:ext cx="316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Apple SD Gothic Neo"/>
              </a:rPr>
              <a:t>마케팅·기획 사례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8640" y="4389120"/>
            <a:ext cx="316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상품기획: 경쟁사 앱 스크린샷 업로드 → UI 비교·개선 포인트 자동 추출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3760" y="6035040"/>
            <a:ext cx="4145280" cy="54864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6137910"/>
            <a:ext cx="36576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  <a:latin typeface="Apple SD Gothic Neo"/>
              </a:rPr>
              <a:t>⚠️  영향받는 직무: 그래픽 디자이너·사진 작가·영상 편집자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80" y="411480"/>
            <a:ext cx="2682240" cy="6035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411480"/>
            <a:ext cx="2682240" cy="4800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85800"/>
            <a:ext cx="2682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7B1FA2"/>
                </a:solidFill>
                <a:latin typeface="Apple SD Gothic Neo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645920"/>
            <a:ext cx="268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2263140"/>
            <a:ext cx="268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B1FA2"/>
                </a:solidFill>
                <a:latin typeface="Apple SD Gothic Neo"/>
              </a:rPr>
              <a:t>AI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2948940"/>
            <a:ext cx="268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ple SD Gothic Neo"/>
              </a:rPr>
              <a:t>2024.03 ~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7580"/>
            <a:ext cx="21945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80" y="3634740"/>
            <a:ext cx="268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ple SD Gothic Neo"/>
              </a:rPr>
              <a:t>Claude Tools · GPT Plugins · Computer Use · Zapier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760" y="411480"/>
            <a:ext cx="4145280" cy="1508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760" y="548640"/>
            <a:ext cx="4145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7B1FA2"/>
                </a:solidFill>
                <a:latin typeface="Apple SD Gothic Neo"/>
              </a:rP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79" y="1303020"/>
            <a:ext cx="39014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ple SD Gothic Neo"/>
              </a:rPr>
              <a:t>반복 업무 자동화 가능 (McKinsey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760" y="2057400"/>
            <a:ext cx="414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1FA2"/>
                </a:solidFill>
                <a:latin typeface="Apple SD Gothic Neo"/>
              </a:rPr>
              <a:t>업무별 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3760" y="253746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679" y="267462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경쟁사 가격 모니터링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679" y="301752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05181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2주 수작업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1040" y="301752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960" y="305181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매일 자동 리포트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05181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Apple SD Gothic Neo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3760" y="370332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5679" y="384048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고객 이메일 분류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5679" y="418338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21767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하루 2시간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1040" y="418338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960" y="421767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자동 분류·응답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21767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Apple SD Gothic Neo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3760" y="486918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5679" y="500634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데이터 리포트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35679" y="534924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38353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매주 8시간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1040" y="534924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2960" y="538353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0시간 (자동)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38353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Apple SD Gothic Neo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24800" y="411480"/>
            <a:ext cx="3779520" cy="6035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24800" y="411480"/>
            <a:ext cx="3779520" cy="2743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617220"/>
            <a:ext cx="3535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Apple SD Gothic Neo"/>
              </a:rPr>
              <a:t>B2C 실무 적용 사례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165860"/>
            <a:ext cx="3413760" cy="22631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1165860"/>
            <a:ext cx="73152" cy="22631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8640" y="1371600"/>
            <a:ext cx="316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1FA2"/>
                </a:solidFill>
                <a:latin typeface="Apple SD Gothic Neo"/>
              </a:rPr>
              <a:t>영업 사례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8640" y="1851660"/>
            <a:ext cx="316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영업: CRM 자동 업데이트 에이전트 → 미팅 후 노트 입력 → 자동 기회·액션 생성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703320"/>
            <a:ext cx="3413760" cy="22631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3703320"/>
            <a:ext cx="73152" cy="22631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8640" y="3909060"/>
            <a:ext cx="316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1FA2"/>
                </a:solidFill>
                <a:latin typeface="Apple SD Gothic Neo"/>
              </a:rPr>
              <a:t>마케팅·기획 사례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8640" y="4389120"/>
            <a:ext cx="316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상품기획: 소비자 리뷰 2만 건 → 자동 수집·분류·트렌드 분석 → 주간 인사이트 리포트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3760" y="6035040"/>
            <a:ext cx="4145280" cy="54864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6137910"/>
            <a:ext cx="36576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  <a:latin typeface="Apple SD Gothic Neo"/>
              </a:rPr>
              <a:t>⚠️  영향받는 직무: 데이터 수집·입력·분류 업무 종사자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80" y="411480"/>
            <a:ext cx="2682240" cy="6035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411480"/>
            <a:ext cx="2682240" cy="4800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80" y="685800"/>
            <a:ext cx="2682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E65100"/>
                </a:solidFill>
                <a:latin typeface="Apple SD Gothic Neo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645920"/>
            <a:ext cx="268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Phase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2263140"/>
            <a:ext cx="268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5100"/>
                </a:solidFill>
                <a:latin typeface="Apple SD Gothic Neo"/>
              </a:rPr>
              <a:t>CLI·코드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2948940"/>
            <a:ext cx="268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ple SD Gothic Neo"/>
              </a:rPr>
              <a:t>2025.02 ~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97580"/>
            <a:ext cx="21945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80" y="3634740"/>
            <a:ext cx="268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ple SD Gothic Neo"/>
              </a:rPr>
              <a:t>Claude Code · Cursor · Devin · GitHub Copilot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760" y="411480"/>
            <a:ext cx="4145280" cy="1508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760" y="548640"/>
            <a:ext cx="4145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65100"/>
                </a:solidFill>
                <a:latin typeface="Apple SD Gothic Neo"/>
              </a:rPr>
              <a:t>10배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79" y="1303020"/>
            <a:ext cx="39014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ple SD Gothic Neo"/>
              </a:rPr>
              <a:t>개발 속도 향상 (GitHub Developer Report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760" y="2057400"/>
            <a:ext cx="4145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Apple SD Gothic Neo"/>
              </a:rPr>
              <a:t>업무별 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3760" y="253746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679" y="267462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랜딩 페이지 제작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679" y="301752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05181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개발자 3일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1040" y="301752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960" y="305181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프롬프트 30초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05181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  <a:latin typeface="Apple SD Gothic Neo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3760" y="370332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5679" y="384048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데이터 분석 스크립트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5679" y="418338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21767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SQL 전문가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1040" y="418338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960" y="421767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자연어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21767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  <a:latin typeface="Apple SD Gothic Neo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3760" y="4869180"/>
            <a:ext cx="4145280" cy="10287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5679" y="5006340"/>
            <a:ext cx="39014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업무 자동화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35679" y="5349240"/>
            <a:ext cx="853440" cy="41148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38353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7171"/>
                </a:solidFill>
                <a:latin typeface="Apple SD Gothic Neo"/>
              </a:rPr>
              <a:t>전: 외주 개발 비용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1040" y="5349240"/>
            <a:ext cx="853440" cy="411480"/>
          </a:xfrm>
          <a:prstGeom prst="rect">
            <a:avLst/>
          </a:prstGeom>
          <a:solidFill>
            <a:srgbClr val="102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2960" y="5383530"/>
            <a:ext cx="7315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Apple SD Gothic Neo"/>
              </a:rPr>
              <a:t>후: 직접 생성 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383530"/>
            <a:ext cx="60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  <a:latin typeface="Apple SD Gothic Neo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24800" y="411480"/>
            <a:ext cx="3779520" cy="6035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24800" y="411480"/>
            <a:ext cx="3779520" cy="274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617220"/>
            <a:ext cx="3535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  <a:latin typeface="Apple SD Gothic Neo"/>
              </a:rPr>
              <a:t>B2C 실무 적용 사례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165860"/>
            <a:ext cx="3413760" cy="22631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1165860"/>
            <a:ext cx="73152" cy="22631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8640" y="1371600"/>
            <a:ext cx="316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100"/>
                </a:solidFill>
                <a:latin typeface="Apple SD Gothic Neo"/>
              </a:rPr>
              <a:t>영업 사례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8640" y="1851660"/>
            <a:ext cx="316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마케팅: A/B 테스트 랜딩 페이지 5개 버전 → 30초 만에 생성·배포. 전환율 비교 자동화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703320"/>
            <a:ext cx="3413760" cy="22631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20" y="3703320"/>
            <a:ext cx="73152" cy="22631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8640" y="3909060"/>
            <a:ext cx="316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100"/>
                </a:solidFill>
                <a:latin typeface="Apple SD Gothic Neo"/>
              </a:rPr>
              <a:t>마케팅·기획 사례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8640" y="4389120"/>
            <a:ext cx="316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ple SD Gothic Neo"/>
              </a:rPr>
              <a:t>영업: '지난 분기 이탈 고객 패턴 분석해줘' → 자연어만으로 완전한 분석 리포트 자동 생성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3760" y="6035040"/>
            <a:ext cx="4145280" cy="54864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6137910"/>
            <a:ext cx="36576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  <a:latin typeface="Apple SD Gothic Neo"/>
              </a:rPr>
              <a:t>⚠️  영향받는 직무: 단순 개발·테스트·배포 업무, 데이터 분석가 일부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AI가 만들어내는 경제적 가치 — 글로벌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536448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49240"/>
            <a:ext cx="53644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ple SD Gothic Neo"/>
              </a:rPr>
              <a:t>출처: McKinsey Global Institute 2023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1165860"/>
            <a:ext cx="536448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1760" y="5349240"/>
            <a:ext cx="53644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ple SD Gothic Neo"/>
              </a:rPr>
              <a:t>출처: Microsoft Work Trend Index 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CH1 — AI 진화 단계별 에이전트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 / 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배치 이메일 분류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수백 건의 고객 이메일을 한 번에 입력 → 우선순위·카테고리 자동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Python  · 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분류된 이메일 리스트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웹 검색 뉴스 리포터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키워드 설정 → 매일 오전 관련 뉴스 자동 수집·요약 메일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Perplexity  ·  Gmail SMTP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업계 뉴스 요약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데이터 파이프라인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CSV 수신 → 자동 분석 → 차트 생성 → 대시보드 업데이트까지 자율 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Code  ·  pandas  ·  matplotlib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자동 분석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고급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B4F"/>
                </a:solidFill>
                <a:latin typeface="Apple SD Gothic Neo"/>
              </a:rPr>
              <a:t>CHAPTER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영업·마케팅·상품기획 실무 변화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고객사 조사: 3~4시간 웹 서핑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고객사 AI 분석 리포트: 15분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제안서 초안: 2~3일 작업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제안서 초안 AI 생성 → 검수: 2~3시간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반론 예상 답변: 경험과 기억에 의존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반론 대응 시나리오 10개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콜드메일: 1건 작성 30분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콜드메일 맞춤형 10개 버전: 5분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28%↓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행정 업무 시간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51%↑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거래 성사율 증가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3일→2시간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제안서 초안 제작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Salesforce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2배 향상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아웃리치 응답률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Outreach.io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영업 준비 자동화 에이전트 — 미팅 일정 등록 시 고객사 분석 리포트 + 반론 시나리오 자동 생성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영업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Perplexity Search  ·  Salesforce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미팅 브리핑 PDF + 반론 10개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영업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콜드 아웃리치 맞춤화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고객 리스트 CSV 업로드 → 각 고객별 맞춤 이메일 50개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HubSpot API  ·  LinkedIn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개인화 이메일 50개 초안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영업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성과 분석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CRM 데이터 주간 분석 → 성과 패턴 인사이트 + 액션 아이템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Salesforce API  · 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영업 인사이트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SNS 콘텐츠 1건: 기획~발행 1~2일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SNS 콘텐츠 7일치 일괄 생성: 30분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이미지 제작: 디자이너 의뢰 2~3일 대기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마케팅 이미지 즉시 생성·수정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카피라이팅 A/B 테스트: 수동 제작 제약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A/B 카피 50개 버전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트렌드 리포트: 주 1회 수동 정리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일간 트렌드 자동 수집·요약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10배↑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콘텐츠 제작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Jasper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3일→30분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A/B 카피 생성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벤치마크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+18%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광고 클릭률(CTR) 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Persado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+40%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마케터 생산성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SNS 콘텐츠 파이프라인 에이전트 — 매주 금요일 7일치 SNS 카피 21개 + 이미지 프롬프트 자동 생성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마케팅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DALL-E 3  ·  Buffer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콘텐츠 캘린더 + 이미지 프롬프트 21개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A/B 테스트 자동화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제품 USP 입력 → 50개 광고 카피 변형 생성 → Meta API 자동 업로드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Meta Ads API  ·  Google Ads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50개 카피 변형 + 자동 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마케팅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트렌드 모니터링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SNS·커뮤니티·뉴스 스캔 → 트렌드 키워드 + 콘텐츠 기회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Perplexity  ·  Slack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트렌드 알림 + 콘텐츠 아이디어 3개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경쟁사 분석: 주 8~10시간 리서치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경쟁사 가격·스펙 자동 크롤링 &amp; 비교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기획서 작성: 1~2주 소요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기획서 초안 AI 생성 → 3일로 단축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소비자 리뷰 분석: 수백 건 수동 읽기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리뷰 수천 건 AI 감성 분석 &amp; 인사이트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트렌드 예측: 리포트 구매 비용 발생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SNS·커뮤니티 트렌드 자동 모니터링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1,000배↑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처리 가능 데이터 규모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McKinsey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3~6개월↑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트렌드 조기 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Gartner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10시간→1시간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경쟁사 분석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2주→3일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기획서 작성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경쟁사 인텔리전스 에이전트 — 매일 오전 경쟁사 가격·스펙 자동 수집 → 변동 감지 시 즉시 Slack 알림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상품기획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상품기획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경쟁사 변동 알림 + 주간 심층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리뷰 인사이트 추출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Amazon/Coupang 리뷰 1,000건 수집 → 불만 유형 분류 + 개선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리뷰 감성 분석 리포트 + TOP10 불만 항목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상품기획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기획서 초안 생성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카테고리 + 타깃 고객 입력 → 시장 분석·포지셔닝·로드맵 초안 자동 작성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Perplexity  ·  python-pptx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기획서 초안 PPT (10~15슬라이드)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3개 직무 공통 AI 자동화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영업·마케팅·상품기획 모두 동일한 3가지 패턴으로 생산성이 향상됩니다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반복 업무 자동화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9328" y="3001060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정기 리포트 자동 생성·발송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28" y="4027016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데이터 수집 자동 크롤링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28" y="5052972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0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문서·제안서 초안 자동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76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110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1040" y="150876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6B4F"/>
                </a:solidFill>
                <a:latin typeface="Apple SD Gothic Neo"/>
              </a:rPr>
              <a:t>데이터 분석 가속화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1728" y="3001060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24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대용량 리뷰·데이터 즉시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4027016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24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트렌드 3~6개월 조기 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5052972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24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경쟁사 인텔리전스 자동화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100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734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73440" y="150876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41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ple SD Gothic Neo"/>
              </a:rPr>
              <a:t>콘텐츠 대량 생산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41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4128" y="3001060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148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기획서/제안서 초안: 수 시간→수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4128" y="4027016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SNS 7일치 콘텐츠 30분 생성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4128" y="5052972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148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A/B 변형 50개 즉시 생성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Apple SD Gothic Neo"/>
              </a:rPr>
              <a:t>CHAPTER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직접 보고, 직접 해보는 AI 활용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실전 데모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1950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82572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1: 제품 소개 HTML 랜딩 페이지 30초 만들기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04288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276856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276856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74366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24988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2: 마케팅 이미지 프롬프트 → 생성 결과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346704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319272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319272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6782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467404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3: 상품 기획서 초안 → AI 리뷰 → 완성본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389120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361688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361688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59198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09820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4: 에이전트로 경쟁사 가격 자동 수집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016" y="5431536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3440" y="5404104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3440" y="5404104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01614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552236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5: 이 강의 자료도 AI가 만들었다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1: 제품 소개 랜딩 페이지 30초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6586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6586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0302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프롬프트 하나로 완성된 HTML 랜딩 페이지 즉시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19456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히어로 · 특징 3가지 · Before-After · CTA 자동 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894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894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08610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'색상을 파란색으로 바꿔줘' → 자연어로 즉시 수정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97764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결과: 기존 2~3일 → 30초 (360배 빠름, 비용 $0)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0728960" cy="1508760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37760"/>
            <a:ext cx="60960" cy="1508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60" y="5006340"/>
            <a:ext cx="2438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사용 프롬프트: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60" y="541782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"[제품명] 소개 랜딩 페이지를 HTML로 만들어줘. 히어로 섹션, 특징 3가지, Before/After 비교, CTA 포함. 다크 배경에 오렌지 포인트 컬러, 모바일 반응형."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2: AI 이미지 생성 — 프롬프트 품질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6586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6586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0302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❌ 나쁜 프롬프트: 'SSD 사진' → 평범한 스톡 이미지 수준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19456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좋은 프롬프트: 'Modern NVMe SSD floating, electric blue particles, 8K, studio lighting, premium tech aesthetic' → 광고 수준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894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894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08610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핵심: 스타일·조명·분위기 키워드가 결과를 10배 바꾼다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97764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도구별: DALL-E 3 (한국어 OK), Midjourney (최고품질), Firefly (상업용 안전)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CH3 — 데모 자동화 에이전트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랜딩 페이지 배치 생성기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제품 목록 CSV 업로드 → 각 제품별 HTML 랜딩 페이지 일괄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Python  ·  Jinja2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제품별 HTML 랜딩 페이지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A/B 카피 자동 테스트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광고 소재 업로드 → 50개 변형 생성 → Meta/Google Ads API 자동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Meta Ads API  ·  Google Ads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50개 카피 + 자동 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마케팅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콘텐츠 품질 검수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AI 생성 콘텐츠 → 브랜드 가이드라인 체크 → 승인/거절/수정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Custom Rules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품질 검수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ple SD Gothic Neo"/>
              </a:rPr>
              <a:t>CHAPTER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당신의 AI 팀원을 설계하는 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에이전트란 무엇인가?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165860"/>
            <a:ext cx="5120640" cy="1508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16586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40" y="130302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1B1B"/>
                </a:solidFill>
                <a:latin typeface="Apple SD Gothic Neo"/>
              </a:rPr>
              <a:t>일반 AI (ChatGPT)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1783080"/>
            <a:ext cx="463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질문에 답하는 기계
한 번에 하나의 답변만 생성
외부 도구 사용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1760" y="1165860"/>
            <a:ext cx="5120640" cy="1508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1760" y="1165860"/>
            <a:ext cx="51206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130302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F46"/>
                </a:solidFill>
                <a:latin typeface="Apple SD Gothic Neo"/>
              </a:rPr>
              <a:t>AI 에이전트 (Claude Code 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1783080"/>
            <a:ext cx="463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목표를 주면 스스로 계획하고 실행
다단계 작업을 자율 처리
외부 도구·인터넷·코드 사용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240" y="15087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F360C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7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10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ple SD Gothic Neo"/>
              </a:rPr>
              <a:t>Tool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인터넷 검색, 파일 읽기, 코드 실행, API 호출 등 외부 도구를 직접 사용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76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110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11040" y="438912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41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34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B4F"/>
                </a:solidFill>
                <a:latin typeface="Apple SD Gothic Neo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58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이전 대화와 작업을 기억. 문맥을 유지하며 일관된 다단계 작업 수행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00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34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73440" y="438912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65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58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D28D9"/>
                </a:solidFill>
                <a:latin typeface="Apple SD Gothic Neo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82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큰 목표를 작은 단계로 자동 분해하고 순서대로 실행하는 계획 능력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에이전트 실행 메커니즘 — 6단계 루프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53492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3492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486400"/>
            <a:ext cx="1048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실제 사례: "경쟁사 가격 분석 리포트 만들어줘" →  에이전트가 URL 확인 → 크롤링 → 정리 → 비교 분석 → PDF 생성 → 이메일 발송까지 자동 실행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코딩 없이 에이전트 만들기 — 노코드 3대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413760" cy="41148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3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F00"/>
                </a:solidFill>
                <a:latin typeface="Apple SD Gothic Neo"/>
              </a:rPr>
              <a:t>⚡  Zapier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3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7,000개 이상 앱 연결
드래그&amp;드롭 자동화
가장 많이 쓰이는 노코드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F00"/>
                </a:solidFill>
                <a:latin typeface="Apple SD Gothic Neo"/>
              </a:rPr>
              <a:t>최적 용도: 영업 알림·CRM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Gmail 수신 → Claude 요약 → Notion 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3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월$19.99~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76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10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11040" y="1234440"/>
            <a:ext cx="3413760" cy="41148"/>
          </a:xfrm>
          <a:prstGeom prst="rect">
            <a:avLst/>
          </a:prstGeom>
          <a:solidFill>
            <a:srgbClr val="6D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00CC"/>
                </a:solidFill>
                <a:latin typeface="Apple SD Gothic Neo"/>
              </a:rPr>
              <a:t>🔗  Make (Integromat)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복잡한 워크플로우 시각화
Zapier 대비 저렴한 가격
데이터 가공 유연성 높음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00CC"/>
                </a:solidFill>
                <a:latin typeface="Apple SD Gothic Neo"/>
              </a:rPr>
              <a:t>최적 용도: 마케팅 콘텐츠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신제품 등록 → SNS 카피 생성 → Buffer 예약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월$9~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100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34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3440" y="123444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41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🤖  Claude / ChatGPT 직접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41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대화형 프롬프트만으로
별도 설정 없이 즉시 사용
가장 낮은 진입 장벽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41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41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최적 용도: 상품기획·문서 작성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41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경쟁사 URL 붙여넣기 → 분석 + 기획서 초안 즉시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41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41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월$20~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CH4 — 직무별 에이전트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Perplexity Search  ·  Salesforce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미팅 브리핑 PDF + 반론 10개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DALL-E 3  ·  Buffer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콘텐츠 캘린더 + 이미지 프롬프트 21개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상품기획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경쟁사 변동 알림 + 주간 심층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지금 당장 첫 번째 에이전트 만들기 — 5단계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9056" y="12687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480" y="12344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480" y="1234440"/>
            <a:ext cx="60960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26464"/>
            <a:ext cx="609600" cy="5760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264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304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반복 업무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17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매주 하는 작업 중 '자동화하면 좋겠다' 싶은 것 1개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56" y="22974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480" y="22631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480" y="2263140"/>
            <a:ext cx="60960" cy="96012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55164"/>
            <a:ext cx="609600" cy="57607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551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591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입력·출력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104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'무엇을 넣으면 → 무엇이 나와야 하는가' 명확히 정의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056" y="33261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480" y="32918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480" y="3291840"/>
            <a:ext cx="60960" cy="960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3483864"/>
            <a:ext cx="609600" cy="5760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4838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878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필요 도구 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8391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검색? 이메일? CRM? 파일 읽기? 필요한 도구 목록 메모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056" y="43548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2480" y="43205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2480" y="4320540"/>
            <a:ext cx="60960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512564"/>
            <a:ext cx="609600" cy="5760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125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4165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AI에게 설계 요청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8678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"내 업무는 ~이야. 이걸 자동화하는 에이전트 만들어줘" 그대로 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056" y="53835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2480" y="53492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2480" y="5349240"/>
            <a:ext cx="60960" cy="9601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5541264"/>
            <a:ext cx="609600" cy="5760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5412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4452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테스트 → 개선 반복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8965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처음엔 70점이어도 OK — 피드백으로 점진적 개선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Apple SD Gothic Neo"/>
              </a:rPr>
              <a:t>CHAPTER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내일부터 써먹는 실전 로드맵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직무별 AI 도구 추천 매트릭스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5860"/>
            <a:ext cx="3413760" cy="4800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영업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8021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제안서 초안, 이메일 맞춤화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51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51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7749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3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고객사 실시간 리서치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51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51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7477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3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Notion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미팅 노트 요약, CRM 메모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5171" y="466138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51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7205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3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Gong.io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3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영업 콜 AI 분석 + 코칭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51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651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1040" y="1165860"/>
            <a:ext cx="3413760" cy="48006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10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마케팅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10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1040" y="168021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카피라이팅, A/B 테스트 문구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75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75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10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11040" y="277749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DALL-E 3 / Midjourney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마케팅 이미지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75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75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110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11040" y="387477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17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Canva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17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SNS 비주얼 빠른 제작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7571" y="466138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75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110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11040" y="497205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817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Jasper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대량 콘텐츠 자동 생성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75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75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73440" y="1165860"/>
            <a:ext cx="3413760" cy="4800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34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34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73440" y="168021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41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41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기획서 초안, 리뷰 분석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899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899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734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73440" y="277749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41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41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트렌드 리서치, 경쟁사 조사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899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899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734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473440" y="387477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441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ChatGPT + Code Interpreter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41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데이터 분석, 차트 생성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89971" y="466138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899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734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3440" y="497205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41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 Code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441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크롤링 에이전트 구축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99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99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TRIE 프롬프트 공식 — 4요소로 AI 품질 10배 향상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5006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77940"/>
            <a:ext cx="107289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이 4가지 공식은 ChatGPT, Claude, Gemini 등 모든 AI 서비스에 동일하게 적용됩니다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나쁜 프롬프트 vs TRIE 공식 적용 — 실전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65860"/>
            <a:ext cx="3169920" cy="26060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65860"/>
            <a:ext cx="3169920" cy="411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80" y="1322222"/>
            <a:ext cx="29260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Apple SD Gothic Neo"/>
              </a:rPr>
              <a:t>❌  [영업] 잘못된 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843430"/>
            <a:ext cx="29260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Apple SD Gothic Neo"/>
              </a:rPr>
              <a:t>"제안서 써줘"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679" y="2156155"/>
            <a:ext cx="7315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65860"/>
            <a:ext cx="7437120" cy="2606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65860"/>
            <a:ext cx="743712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1322222"/>
            <a:ext cx="719328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Apple SD Gothic Neo"/>
              </a:rPr>
              <a:t>✅  TRIE 공식 적용 — 응답 품질 5배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1765249"/>
            <a:ext cx="7193280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532D"/>
                </a:solidFill>
                <a:latin typeface="Apple SD Gothic Neo"/>
              </a:rPr>
              <a:t>[역할] 당신은 IT 솔루션 영업 전문가입니다.
[과제] 삼성전자 물류팀을 위한 SaaS 솔루션 제안서 초안을 작성해주세요.
[입력] 예산: 연 2억, 도입 목적: 물류 효율화, 담당자: 구매팀 김과장
[기대] 5페이지 분량, 핵심 가치 3가지, ROI 수치 포함, 한국어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09060"/>
            <a:ext cx="3169920" cy="26060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09060"/>
            <a:ext cx="3169920" cy="411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80" y="4065422"/>
            <a:ext cx="29260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Apple SD Gothic Neo"/>
              </a:rPr>
              <a:t>❌  [마케팅] 잘못된 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" y="4586630"/>
            <a:ext cx="29260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Apple SD Gothic Neo"/>
              </a:rPr>
              <a:t>"SNS 글 써줘"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79" y="4899355"/>
            <a:ext cx="7315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909060"/>
            <a:ext cx="7437120" cy="2606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909060"/>
            <a:ext cx="743712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1040" y="4065422"/>
            <a:ext cx="719328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Apple SD Gothic Neo"/>
              </a:rPr>
              <a:t>✅  TRIE 공식 적용 — 전환율 +18% 기대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40" y="4508449"/>
            <a:ext cx="7193280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532D"/>
                </a:solidFill>
                <a:latin typeface="Apple SD Gothic Neo"/>
              </a:rPr>
              <a:t>[역할] 당신은 MZ세대 디지털 마케터입니다.
[과제] 무선이어폰 출시 인스타그램 피드 카피 3개 버전을 작성해주세요.
[입력] 제품명: SoundX Pro, 타깃: 20~30대 직장인, 강점: 35시간 배터리
[기대] 각 150자 이내, 해시태그 5개, 구매 유도 CTA 포함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30일 AI 온보딩 로드맵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4869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4078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처음부터 완벽하지 않아도 됩니다. 매주 1개씩 실행하면 30일 후 완전히 다른 업무 환경이 만들어집니다.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도입 시 반드시 알아야 할 4가지 주의사항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4256" y="1200150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1165860"/>
            <a:ext cx="5364480" cy="3429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" y="1363370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7865" y="1388059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Apple SD Gothic Neo"/>
              </a:rPr>
              <a:t>보안 &amp; 개인정보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" y="1906524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" y="1980590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" y="2227478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고객 개인정보·내부 기밀을 공개 AI 서비스에 직접 입력 금지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" y="2770632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" y="3017520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데이터 익명화 처리 후 입력 / 사내 전용 AI 환경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8336" y="1200150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176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1760" y="1165860"/>
            <a:ext cx="5364480" cy="3429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6339" y="1363370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©️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1945" y="1388059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  <a:latin typeface="Apple SD Gothic Neo"/>
              </a:rPr>
              <a:t>저작권 &amp; 상업 사용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6339" y="1906524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6339" y="1980590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6339" y="2227478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 생성 이미지·텍스트의 상업적 사용 시 라이선스 확인 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6339" y="2770632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6339" y="3017520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Adobe Firefly(상업용 안전 설계) 우선 사용 / 출처 기록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256" y="4011929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768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7680" y="3977639"/>
            <a:ext cx="5364480" cy="3429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" y="4175149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7865" y="4199838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환각(Hallucination)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" y="4718303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" y="4792369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" y="5039257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AI가 사실처럼 들리는 잘못된 수치·정보를 만들어낼 수 있음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" y="5582411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" y="5829299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수치·출처 포함 내용은 반드시 팩트체크 후 사용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8336" y="4011929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6176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61760" y="3977639"/>
            <a:ext cx="5364480" cy="3429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6339" y="4175149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⚖️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1945" y="4199838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148C"/>
                </a:solidFill>
                <a:latin typeface="Apple SD Gothic Neo"/>
              </a:rPr>
              <a:t>편향성 &amp; 공정성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6339" y="4718303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6339" y="4792369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6339" y="5039257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 학습 데이터의 편향으로 특정 집단에 불공정 결과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6339" y="5582411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6339" y="5829299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다양한 관점 검토 / 최종 판단은 반드시 사람이 내릴 것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CH5 — 로드맵 실행 지원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전 직무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학습 진도 트래커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AI 활용 일지 작성 → Notion 자동 기록 → 주간 진도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Notion API  · 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AI 활용 리포트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전 직무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프롬프트 품질 개선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작성한 프롬프트 → TRIE 공식 준수 체크 → 자동 개선안 3개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개선된 프롬프트 3개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전 직무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AI 도입 ROI 측정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업무 시간 로그 기록 → AI 절감 시간 계산 → 월간 효과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Google Sheets API  ·  Gmail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월간 ROI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234440"/>
            <a:ext cx="48768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1371600"/>
            <a:ext cx="853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1988819"/>
            <a:ext cx="9753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ple SD Gothic Neo"/>
              </a:rPr>
              <a:t>AI는 대체가 아닌 증폭입니다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34290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Apple SD Gothic Neo"/>
              </a:rPr>
              <a:t>반복 업무는 AI에게, 창의적 판단은 당신에게.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" y="4251960"/>
            <a:ext cx="609600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44577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01  반복 업무 자동화로 고부가 업무에 집중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" y="5074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02  작은 자동화부터 시작해 점진적으로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" y="56921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03  AI와 협업하는 역량이 2026년의 핵심 경쟁력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4ED8"/>
                </a:solidFill>
                <a:latin typeface="Apple SD Gothic Neo"/>
              </a:rPr>
              <a:t>Q &amp; 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40" y="2880360"/>
            <a:ext cx="731520" cy="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06880" y="2880360"/>
            <a:ext cx="487680" cy="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16480" y="2880360"/>
            <a:ext cx="243840" cy="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12344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pple SD Gothic Neo"/>
              </a:rPr>
              <a:t>APPENDIX — AI 기술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8516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pple SD Gothic Neo"/>
              </a:rPr>
              <a:t>AI는 어떻게 작동하는가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315468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0A5FA"/>
                </a:solidFill>
                <a:latin typeface="Apple SD Gothic Neo"/>
              </a:rPr>
              <a:t>GPU · Transformer · 토큰 · 메모리 · 스케일링 · 멀티모달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" y="3977639"/>
            <a:ext cx="950976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비전문가도 이해하는 AI 구동 원리 — 비용·속도·한계를 결정하는 핵심 개념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440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448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GPU·하드웨어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79904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9912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Transformer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6368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6376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학습 vs 추론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2832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2840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스케일링 법칙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9296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9304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토큰·컨텍스트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60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5768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메모리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2224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2232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멀티모달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38688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8696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2026 최전선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GPU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왜 AI는 GPU가 필요한가?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14500"/>
            <a:ext cx="7071359" cy="32232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714500"/>
            <a:ext cx="3657600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0560" y="1851660"/>
            <a:ext cx="1219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0A5FA"/>
                </a:solidFill>
                <a:latin typeface="Apple SD Gothic Neo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51660"/>
            <a:ext cx="304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Apple SD Gothic Neo"/>
              </a:rPr>
              <a:t>속도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0560" y="2331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ple SD Gothic Neo"/>
              </a:rPr>
              <a:t>GPU가 CPU 대비
100~1,000배 빠름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291840"/>
            <a:ext cx="3657600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3429000"/>
            <a:ext cx="1219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4D399"/>
                </a:solidFill>
                <a:latin typeface="Apple SD Gothic Neo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29000"/>
            <a:ext cx="304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Apple SD Gothic Neo"/>
              </a:rPr>
              <a:t>핵심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39090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ple SD Gothic Neo"/>
              </a:rPr>
              <a:t>행렬 곱셈을 수천 개 코어가
동시에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869180"/>
            <a:ext cx="3657600" cy="11658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5006340"/>
            <a:ext cx="1219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87171"/>
                </a:solidFill>
                <a:latin typeface="Apple SD Gothic Neo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006340"/>
            <a:ext cx="304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Apple SD Gothic Neo"/>
              </a:rPr>
              <a:t>비유로 이해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5417820"/>
            <a:ext cx="32918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</a:rPr>
              <a:t>ChatGPT 답변 1번
≈ A4 수만 장 행렬 곱셈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AI 하드웨어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GPU 성능: 2012~2025, 5,600배 향상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36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GTX 580 (1.6 TFLOPS) → NVIDIA B200 (9,000 TFLOPS) — 로그 스케일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057400"/>
            <a:ext cx="11216640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7680" y="6103620"/>
            <a:ext cx="1121664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06490"/>
            <a:ext cx="10728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  <a:latin typeface="Apple SD Gothic Neo"/>
              </a:rPr>
              <a:t>NVIDIA 시장 점유율 70~80%  |  H100 개당 $$~100M — CUDA 에코시스템 — 10년 이상 AI 연구자가 쌓아온 코드·라이브러리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Transformer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Transformer: 모든 현대 AI의 기반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7340"/>
            <a:ext cx="107289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60" y="1680210"/>
            <a:ext cx="102412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</a:rPr>
              <a:t>📌  2017년 Google 'Attention Is All You Need' 논문. 현재 GPT·Claude·Gemini 모두의 기반.   |   핵심: 단어(토큰) 간 '관계의 중요도'를 계산하는 Self-Attention 메커니즘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40" y="2400300"/>
            <a:ext cx="2438400" cy="2606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440" y="2400300"/>
            <a:ext cx="2438400" cy="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260604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ple SD Gothic Neo"/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8" y="3291840"/>
            <a:ext cx="24383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임베딩 (Embedding)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50" y="3840480"/>
            <a:ext cx="24383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ple SD Gothic Neo"/>
              </a:rPr>
              <a:t>'고양이'→[0.23, -0.71, ...] 3,000차원 숫자 배열로 변환. 의미가 비슷한 단어는 가까운 벡터.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758" y="3703314"/>
            <a:ext cx="12" cy="1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5680" y="2400300"/>
            <a:ext cx="2438400" cy="260604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5680" y="2400300"/>
            <a:ext cx="2438400" cy="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5680" y="260604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ple SD Gothic Neo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688" y="3291840"/>
            <a:ext cx="24383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Self-Attention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90" y="3840480"/>
            <a:ext cx="24383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ple SD Gothic Neo"/>
              </a:rPr>
              <a:t>각 토큰이 다른 모든 토큰과의 '관련도 점수' 계산. '그것'이 '고양이'를 가리키는지 파악하는 핵심.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998" y="3703314"/>
            <a:ext cx="12" cy="1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400300"/>
            <a:ext cx="2438400" cy="26060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400300"/>
            <a:ext cx="2438400" cy="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0604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ple SD Gothic Neo"/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8" y="3291840"/>
            <a:ext cx="24383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피드포워드 (FFN)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30" y="3840480"/>
            <a:ext cx="24383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ple SD Gothic Neo"/>
              </a:rPr>
              <a:t>Attention 결과를 변환·압축. 모델의 '지식'이 주로 여기 저장됨. 레이어당 두 개의 선형 변환.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38" y="3703314"/>
            <a:ext cx="12" cy="1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00160" y="2400300"/>
            <a:ext cx="2438400" cy="26060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00160" y="2400300"/>
            <a:ext cx="2438400" cy="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0160" y="260604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ple SD Gothic Neo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0168" y="3291840"/>
            <a:ext cx="24383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레이어 스택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0170" y="3840480"/>
            <a:ext cx="24383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ple SD Gothic Neo"/>
              </a:rPr>
              <a:t>Attention+FFN 과정을 32~128번 반복. 깊이가 깊을수록 추상적 개념 이해 → '의도' 파악 가능.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80660"/>
            <a:ext cx="10728960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360" y="5417820"/>
            <a:ext cx="102412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369A1"/>
                </a:solidFill>
                <a:latin typeface="Apple SD Gothic Neo"/>
              </a:rPr>
              <a:t>🔄  출력 = 한 번에 한 토큰. 이전 토큰 전체를 참고해 다음 토큰을 확률적으로 선택 (Autoregressive Decoding)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3504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규모 비교:  GPT-2 1.5B (2019)   |   GPT-3 175B (2020)   |   GPT-4 ~1.76T (MoE) (2023)   |   Claude 3 비공개 (2024)   |   Llama 3 8B/70B/405B (2024)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학습 vs 추론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AI 만들기 vs AI 쓰기 — 비용이 1,000배 다르다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714500"/>
            <a:ext cx="11216640" cy="3154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5006340"/>
            <a:ext cx="524256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5143500"/>
            <a:ext cx="487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🔍  RAG (검색 증강 생성)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5554980"/>
            <a:ext cx="47548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매번 외부 DB 검색 → 항상 최신 정보  |  적합: 자주 바뀌는 정보, 사내 문서, 제품 카탈로그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840" y="5006340"/>
            <a:ext cx="524256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5143500"/>
            <a:ext cx="487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ple SD Gothic Neo"/>
              </a:rPr>
              <a:t>🧠  파인튜닝 (Fine-tuning)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554980"/>
            <a:ext cx="47548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모델에 지식 내재화 → 빠른 응답  |  적합: 스타일 고정, 응답 형식 통일, 비공개 학습 데이터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스케일링 법칙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크면 좋은가? — 스케일링 법칙의 진실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96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97536" cy="82296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714500"/>
            <a:ext cx="10241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📏  Chinchilla 법칙 (DeepMind Chinchilla 논문 (2022))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2057400"/>
            <a:ext cx="10241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</a:rPr>
              <a:t>최적 학습을 위해 파라미터 수 × 20배의 토큰이 필요   →   예: 70B 파라미터 모델 → 1.4조 토큰으로 학습해야 최적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670560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02880" y="2606040"/>
            <a:ext cx="39014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효율 혁명 — 같은 성능, 더 작은 모델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536" y="3188970"/>
            <a:ext cx="39014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3154680"/>
            <a:ext cx="390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0" y="3257550"/>
            <a:ext cx="121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C"/>
                </a:solidFill>
                <a:latin typeface="Apple SD Gothic Neo"/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346329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GPT-3  175B — 서버 클러스터 필요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536" y="3188970"/>
            <a:ext cx="39014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3154680"/>
            <a:ext cx="390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800" y="3257550"/>
            <a:ext cx="121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C"/>
                </a:solidFill>
                <a:latin typeface="Apple SD Gothic Neo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0" y="346329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Llama 2  13B — GPT-3급 성능, M1 Mac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188970"/>
            <a:ext cx="39014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3154680"/>
            <a:ext cx="390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800" y="3257550"/>
            <a:ext cx="121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C"/>
                </a:solidFill>
                <a:latin typeface="Apple SD Gothic Neo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0" y="346329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Phi-3  3.8B — GPT-3.5급 성능, 스마트폰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7536" y="3188970"/>
            <a:ext cx="39014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3154680"/>
            <a:ext cx="390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4800" y="3257550"/>
            <a:ext cx="121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C"/>
                </a:solidFill>
                <a:latin typeface="Apple SD Gothic Neo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800" y="346329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Phi-4  14B — GPT-4급 성능, 비용 1/10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49240"/>
            <a:ext cx="10728960" cy="6172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360" y="54864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369A1"/>
                </a:solidFill>
                <a:latin typeface="Apple SD Gothic Neo"/>
              </a:rPr>
              <a:t>📈  같은 성능을 내는 데 필요한 파라미터 수가 매년 절반으로 — 효율 혁명 진행 중   |   특정 규모를 넘으면 갑자기 새 능력 등장 (Emergent Ability) — 예: GPT-3.5에서 갑작스런 코딩 능력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토큰의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ple SD Gothic Neo"/>
              </a:rPr>
              <a:t>토큰(Token)이란 무엇인가?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51660"/>
            <a:ext cx="6827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51660"/>
            <a:ext cx="60960" cy="13716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988819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2400300"/>
            <a:ext cx="609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ple SD Gothic Neo"/>
              </a:rPr>
              <a:t>AI가 텍스트를 이해하는 최소 단위 — 단어 혹은 단어 조각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682752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60960" cy="116586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360" y="3566160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단위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" y="3909059"/>
            <a:ext cx="6096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ple SD Gothic Neo"/>
              </a:rPr>
              <a:t>1,000 토큰 ≈ 750 단어 ≈ A4 용지 1.5장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6827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60960" cy="1234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360" y="4937760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" y="5280660"/>
            <a:ext cx="6096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ple SD Gothic Neo"/>
              </a:rPr>
              <a:t>컨텍스트 윈도우 크기(처리 가능 정보량)와 API 비용을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1450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실제 예시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영어: 'Hello' = 1 토큰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한국어: '안녕하세요' = 3~5 토큰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GPT-4o 기준: 이미지 1장 = 약 170~300 토큰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컨텍스트 윈도우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컨텍스트 윈도우: 2019 → 2025, 2,000배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97536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GPT-2 1,024 토큰(A4 1.5장) → Gemini 2M 토큰(소설 30권)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125980"/>
            <a:ext cx="112166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VRAM &amp; KV 캐시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GPU 메모리 — AI 성능의 병목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14500"/>
            <a:ext cx="4998720" cy="35661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60" y="1851660"/>
            <a:ext cx="46329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ple SD Gothic Neo"/>
              </a:rPr>
              <a:t>💾  VRAM이란?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" y="2331720"/>
            <a:ext cx="463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</a:rPr>
              <a:t>GPU의 고속 메모리 — AI 모델 가중치 + 계산 버퍼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288036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비유: 요리사의 작업대 — 넓을수록 더 많은 재료(토큰)를 동시에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" y="342900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ple SD Gothic Neo"/>
              </a:rPr>
              <a:t>모델별 VRAM 필요량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5360" y="3840480"/>
            <a:ext cx="4632960" cy="37719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090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</a:rPr>
              <a:t>Llama 3 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9920" y="39090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ple SD Gothic Neo"/>
              </a:rPr>
              <a:t>16GB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440" y="3909060"/>
            <a:ext cx="158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RTX 4090 1개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5360" y="3840480"/>
            <a:ext cx="4632960" cy="37719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090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</a:rPr>
              <a:t>Llama 3 70B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9920" y="39090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ple SD Gothic Neo"/>
              </a:rPr>
              <a:t>140GB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440" y="3909060"/>
            <a:ext cx="158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H100 2개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360" y="3840480"/>
            <a:ext cx="4632960" cy="37719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090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</a:rPr>
              <a:t>GPT-4 (추정)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9920" y="39090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ple SD Gothic Neo"/>
              </a:rPr>
              <a:t>~800GB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440" y="3909060"/>
            <a:ext cx="158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H100 10개+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5360" y="3840480"/>
            <a:ext cx="4632960" cy="37719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9090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</a:rPr>
              <a:t>Claude 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9920" y="39090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ple SD Gothic Neo"/>
              </a:rPr>
              <a:t>비공개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440" y="3909060"/>
            <a:ext cx="158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클라우드 전용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714500"/>
            <a:ext cx="5364480" cy="35661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1760" y="1851660"/>
            <a:ext cx="49987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ple SD Gothic Neo"/>
              </a:rPr>
              <a:t>⚡  KV 캐시 (Key-Value Cache)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1760" y="2331720"/>
            <a:ext cx="499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</a:rPr>
              <a:t>이미 계산한 Key-Value 어텐션 결과를 메모리에 저장·재사용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760" y="2880360"/>
            <a:ext cx="49987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  <a:latin typeface="Apple SD Gothic Neo"/>
              </a:rPr>
              <a:t>문제: Transformer는 매 토큰 생성 시 전체 이전 컨텍스트 재계산 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1760" y="3360420"/>
            <a:ext cx="49987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  <a:latin typeface="Apple SD Gothic Neo"/>
              </a:rPr>
              <a:t>해결: 이전 계산 결과를 VRAM에 캐시 → 새 토큰만 계산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760" y="3840480"/>
            <a:ext cx="499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Apple SD Gothic Neo"/>
              </a:rPr>
              <a:t>효과: 반복 요청 속도 5~10x 향상, API 비용 절감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760" y="4320540"/>
            <a:ext cx="499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비유: 책을 처음부터 다시 읽지 않고 북마크에서 이어 읽기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760" y="4800600"/>
            <a:ext cx="499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Apple SD Gothic Neo"/>
              </a:rPr>
              <a:t>주의: 컨텍스트가 길수록 KV 캐시 VRAM 증가 (컨텍스트 × 레이어 수 × 헤드 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486400"/>
            <a:ext cx="10728960" cy="6858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5360" y="5623560"/>
            <a:ext cx="102412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  <a:latin typeface="Apple SD Gothic Neo"/>
              </a:rPr>
              <a:t>🚀  메모리 대역폭: 3.35 TB/s (H100 SXM5)  |  병목: 추론 시 가장 큰 병목 — 계산 속도보다 메모리 전송이 느림  |  최적화: Flash Attention, Grouped Query Attention, 양자화(Quantization)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AI 메모리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AI는 어떻게 '기억'하는가 — 4가지 메모리 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851660"/>
            <a:ext cx="2438400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컨텍스트 메모리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현재 대화창에 올라와 있는 텍스트 전체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수천~수백만 토큰 (모델마다 다름)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책상 위에 펼쳐진 문서들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5200" y="1851660"/>
            <a:ext cx="2438400" cy="425196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52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52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외부 메모리 (RAG)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2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Vector DB에 저장, 필요할 때 검색·주입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2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이론상 무한 (외부 저장소 크기에 의존)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2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52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도서관 — 필요한 책을 꺼내 책상에 올려놓음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8400" y="1851660"/>
            <a:ext cx="2438400" cy="42519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84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파인튜닝 메모리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모델 가중치 자체에 학습된 지식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4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4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학습 시점 고정, 업데이트 비용 높음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4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오랜 경험으로 쌓인 전문 지식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1600" y="1851660"/>
            <a:ext cx="2438400" cy="42519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916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16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16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에이전트 메모리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16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작업 간 저장·전달되는 상태 정보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16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16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설계에 따라 다름 (파일, DB, 변수)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16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16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To-Do 리스트 + 작업 일지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토큰 비용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AI API 비용: 2년 만에 98%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363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GPT-4 출시 당시 $30/1M토큰 → 2025년 Claude 3.7 $0.6/1M토큰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2057400"/>
            <a:ext cx="10241280" cy="36347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5829300"/>
            <a:ext cx="10728960" cy="6858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58978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A5FA"/>
                </a:solidFill>
                <a:latin typeface="Apple SD Gothic Neo"/>
              </a:rPr>
              <a:t>💡  비용 장벽 소멸 → 소규모 팀도 GPT-4급 AI를 월 수천원으로 활용 가능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컨텍스트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컨텍스트 엔지니어링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7340"/>
            <a:ext cx="1036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ple SD Gothic Neo"/>
              </a:rPr>
              <a:t>컨텍스트 윈도우를 전략적으로 채워 AI 성능을 극대화하는 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63140"/>
            <a:ext cx="1072896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ple SD Gothic Neo"/>
              </a:rPr>
              <a:t>핵심: 모델 크기보다 무엇을 컨텍스트에 넣느냐가 결과 품질을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325755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2326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2326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38" y="336042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🔍  RAG (검색 증강 생성)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38" y="384048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외부 DB에서 관련 정보를 검색해 컨텍스트에 주입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6416" y="325755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9840" y="322326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9840" y="322326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9858" y="336042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📦  프롬프트 압축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858" y="384048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긴 컨텍스트를 LLMLingua 등으로 4x 압축해 비용 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476631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73202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73202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38" y="486918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📝  대화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38" y="534924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과거 대화를 요약본으로 교체해 윈도우 효율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6416" y="476631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9840" y="473202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9840" y="473202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9858" y="486918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✂️  청킹 전략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9858" y="534924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문서를 의미 단위로 분할해 검색 정확도 향상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새로운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Transformer를 넘어서 — 2024~2026 핵심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516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51660"/>
            <a:ext cx="5242560" cy="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16" y="20574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⚡  KV 캐시 (Key-Value Cache)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16" y="26060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이미 계산한 어텐션 결과를 재사용 → 반복 요청 속도 10x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16" y="32232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ple SD Gothic Neo"/>
              </a:rPr>
              <a:t>임팩트: API 응답 속도 대폭 향상, 비용 절감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840" y="18516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840" y="1851660"/>
            <a:ext cx="5242560" cy="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9856" y="20574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🌊  Mamba / SSM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856" y="26060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Transformer 대신 선형 확장 State Space Model — 긴 시퀀스를 O(n)으로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856" y="32232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B4F"/>
                </a:solidFill>
                <a:latin typeface="Apple SD Gothic Neo"/>
              </a:rPr>
              <a:t>임팩트: 100만 토큰 이상 초장문 처리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2519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251960"/>
            <a:ext cx="5242560" cy="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16" y="44577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🔥  Flash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16" y="50063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GPU 메모리 I/O 최적화 — 어텐션 계산을 타일 단위로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16" y="56235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Apple SD Gothic Neo"/>
              </a:rPr>
              <a:t>임팩트: 학습 3x 빠름, VRAM 사용량 4x 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9840" y="42519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9840" y="4251960"/>
            <a:ext cx="5242560" cy="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9856" y="44577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🎯  Sparse MoE (Mixture of Experts)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856" y="50063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입력에 따라 필요한 전문가(expert) 모듈만 활성화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9856" y="56235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Apple SD Gothic Neo"/>
              </a:rPr>
              <a:t>임팩트: 파라미터 8x 확장해도 계산량은 동일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멀티모달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AI는 이미지·음성·영상을 어떻게 이해하는가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9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60" y="1748790"/>
            <a:ext cx="102412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</a:rPr>
              <a:t>🌐  텍스트·이미지·음성을 같은 벡터 공간에 표현 → 서로 다른 모달이 '이해'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31720"/>
            <a:ext cx="10972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07492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이미지 처리 흐름:  이미지 입력  →  패치 분할 (16×16 픽셀 조각)  →  각 패치를 토큰 임베딩으로 변환  →  텍스트 토큰과 동일한 Transformer에 입력  →  이미지+텍스트 통합 이해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실무 활용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524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✅  계약서 이미지 → OCR 없이 직접 분석·요약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897880"/>
            <a:ext cx="524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✅  제품 사진 → 설명문·마케팅 카피 즉시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77940"/>
            <a:ext cx="524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✅  회의 녹음 → 실시간 요약 + 액션 아이템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6377940"/>
            <a:ext cx="524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✅  광고 영상 → 자동 자막 + 다국어 번역 + 하이라이트 편집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AI 2026 최전선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"/>
            <a:ext cx="9144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지금 가장 빠르게 바뀌고 있는 것들 — 2026 AI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65860"/>
            <a:ext cx="792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7171"/>
                </a:solidFill>
                <a:latin typeface="Apple SD Gothic Neo"/>
              </a:rPr>
              <a:t>이 6가지를 모르면 경쟁에서 뒤처진다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364480" cy="14401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364480" cy="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72" y="1783080"/>
            <a:ext cx="60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72" y="1783080"/>
            <a:ext cx="463283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추론 모델 (Reasoning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72" y="2125980"/>
            <a:ext cx="463283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o3 · Claude 3.7 Extended Thinking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0125" y="1783080"/>
            <a:ext cx="110" cy="6172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0125" y="1783080"/>
            <a:ext cx="11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IMO 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0125" y="2091690"/>
            <a:ext cx="1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ple SD Gothic Neo"/>
              </a:rPr>
              <a:t>o3 수학 올림피아드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68880"/>
            <a:ext cx="536448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72" y="2537460"/>
            <a:ext cx="53644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ple SD Gothic Neo"/>
              </a:rPr>
              <a:t>복잡한 투자 분석·전략 기획·법적 검토를 AI가 컨설턴트 수준으로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9840" y="1645920"/>
            <a:ext cx="5364480" cy="14401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9840" y="1645920"/>
            <a:ext cx="5364480" cy="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9852" y="1783080"/>
            <a:ext cx="60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52" y="1783080"/>
            <a:ext cx="463283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MCP — AI와 기업 시스템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52" y="2125980"/>
            <a:ext cx="463283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Model Context Protocol (Anthropic, 2024.11)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04205" y="1783080"/>
            <a:ext cx="110" cy="61722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205" y="1783080"/>
            <a:ext cx="11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1,000+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205" y="2091690"/>
            <a:ext cx="1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ple SD Gothic Neo"/>
              </a:rPr>
              <a:t>MCP 호환 도구 수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9840" y="2468880"/>
            <a:ext cx="536448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9852" y="2537460"/>
            <a:ext cx="53644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B4F"/>
                </a:solidFill>
                <a:latin typeface="Apple SD Gothic Neo"/>
              </a:rPr>
              <a:t>사내 ERP·CRM 데이터를 AI가 직접 읽어 분석·자동 업데이트 — RPA 없이도 시스템 연동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91840"/>
            <a:ext cx="5364480" cy="14401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5364480" cy="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72" y="3429000"/>
            <a:ext cx="60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72" y="3429000"/>
            <a:ext cx="463283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멀티에이전트 오케스트레이션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372" y="3771900"/>
            <a:ext cx="463283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자율 AI 팀 · Claude Orchestration · AutoGen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30125" y="3429000"/>
            <a:ext cx="110" cy="6172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30125" y="3429000"/>
            <a:ext cx="11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24시간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0125" y="3737610"/>
            <a:ext cx="1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ple SD Gothic Neo"/>
              </a:rPr>
              <a:t>자율 운영 가능한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14800"/>
            <a:ext cx="536448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72" y="4183380"/>
            <a:ext cx="53644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Apple SD Gothic Neo"/>
              </a:rPr>
              <a:t>담당자 1명이 AI 팀 10명을 지휘 — 보고서 기획부터 완성까지 자동화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39840" y="3291840"/>
            <a:ext cx="5364480" cy="14401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39840" y="3291840"/>
            <a:ext cx="5364480" cy="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9852" y="3429000"/>
            <a:ext cx="60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🖥️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52" y="3429000"/>
            <a:ext cx="463283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컴퓨터 사용 (Computer Use)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52" y="3771900"/>
            <a:ext cx="463283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Claude Computer Use · OpenAI Operator · browser-use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704205" y="3429000"/>
            <a:ext cx="110" cy="6172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205" y="3429000"/>
            <a:ext cx="11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90%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04205" y="3737610"/>
            <a:ext cx="1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ple SD Gothic Neo"/>
              </a:rPr>
              <a:t>반복 클릭 업무 자동화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9840" y="4114800"/>
            <a:ext cx="536448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9852" y="4183380"/>
            <a:ext cx="53644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Apple SD Gothic Neo"/>
              </a:rPr>
              <a:t>ERP 수동 입력·보고서 복붙·레거시 시스템 작업이 완전 자동화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937760"/>
            <a:ext cx="5364480" cy="14401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937760"/>
            <a:ext cx="5364480" cy="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72" y="5074920"/>
            <a:ext cx="60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372" y="5074920"/>
            <a:ext cx="463283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온디바이스 AI / 로컬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372" y="5417820"/>
            <a:ext cx="463283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Apple Intelligence · Phi-4 · Gemma 3 · Llama 3.3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30125" y="5074920"/>
            <a:ext cx="110" cy="6172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30125" y="5074920"/>
            <a:ext cx="11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30125" y="5383530"/>
            <a:ext cx="1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ple SD Gothic Neo"/>
              </a:rPr>
              <a:t>클라우드 API 비용 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760720"/>
            <a:ext cx="536448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72" y="5829300"/>
            <a:ext cx="53644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ple SD Gothic Neo"/>
              </a:rPr>
              <a:t>영업 현장에서 인터넷 없이도 AI 활용, 기밀 데이터 사외 유출 없이 분석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9840" y="4937760"/>
            <a:ext cx="5364480" cy="14401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39840" y="4937760"/>
            <a:ext cx="5364480" cy="4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39852" y="5074920"/>
            <a:ext cx="60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⚖️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52" y="5074920"/>
            <a:ext cx="463283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AI 거버넌스 &amp; 규제 대응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52" y="5417820"/>
            <a:ext cx="463283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EU AI Act (2025 시행) · 한국 AI 기본법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704205" y="5074920"/>
            <a:ext cx="110" cy="61722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704205" y="5074920"/>
            <a:ext cx="11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2025.08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04205" y="5383530"/>
            <a:ext cx="1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ple SD Gothic Neo"/>
              </a:rPr>
              <a:t>EU AI Act 시행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39840" y="5760720"/>
            <a:ext cx="536448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39852" y="5829300"/>
            <a:ext cx="5364456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  <a:latin typeface="Apple SD Gothic Neo"/>
              </a:rPr>
              <a:t>지금 도입하는 AI 솔루션이 규제 대상인지 사전 체크 필수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6446520"/>
            <a:ext cx="11460480" cy="3429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9600" y="6528816"/>
            <a:ext cx="10972800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  <a:latin typeface="Apple SD Gothic Neo"/>
              </a:rPr>
              <a:t>💡  이 중 3개 이상을 올해 안에 업무에 적용하지 못하면 경쟁력 격차가 벌어진다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실전 준비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우리가 지금 준비해야 할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960" cy="4800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97536" cy="4800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37310"/>
            <a:ext cx="10241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2400E"/>
                </a:solidFill>
                <a:latin typeface="Apple SD Gothic Neo"/>
              </a:rPr>
              <a:t>AI가 대체하는 것은 '직무'가 아니라 'AI를 모르는 사람'이다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1885950"/>
            <a:ext cx="3657600" cy="21259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51660"/>
            <a:ext cx="3657600" cy="2125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51660"/>
            <a:ext cx="3657600" cy="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51660"/>
            <a:ext cx="365760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70" y="1920240"/>
            <a:ext cx="609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ple SD Gothic Neo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30479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개인 역량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295" y="1920240"/>
            <a:ext cx="6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295" y="1920240"/>
            <a:ext cx="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즉시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8" y="2400300"/>
            <a:ext cx="4" cy="3429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78" y="2331720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TRIE 프롬프트 공식 체득 — 매일 3개 이상 업무에 AI 적용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8" y="2907792"/>
            <a:ext cx="4" cy="3429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78" y="2839212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컨텍스트 엔지니어링 학습 — 좋은 프롬프트가 결과 품질 10배 차이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8" y="3415284"/>
            <a:ext cx="4" cy="3429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78" y="3346704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AI 출력물 검증 능력 — 환각·오류 식별, 사실 확인 습관화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8" y="3600450"/>
            <a:ext cx="3657584" cy="30861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70" y="3600450"/>
            <a:ext cx="36575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📊  목표: 업무 시간 20% 단축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03776" y="1885950"/>
            <a:ext cx="3657600" cy="21259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67200" y="1851660"/>
            <a:ext cx="3657600" cy="2125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200" y="1851660"/>
            <a:ext cx="3657600" cy="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67200" y="1851660"/>
            <a:ext cx="3657600" cy="41148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7210" y="1920240"/>
            <a:ext cx="609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ple SD Gothic Neo"/>
              </a:rPr>
              <a:t>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5840" y="1920240"/>
            <a:ext cx="30479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팀·조직 체계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4735" y="1920240"/>
            <a:ext cx="6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4735" y="1920240"/>
            <a:ext cx="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1개월 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7208" y="2400300"/>
            <a:ext cx="4" cy="34290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7218" y="2331720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AI 챔피언 지정 — 팀당 1명, 사례 공유·교육 담당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208" y="2907792"/>
            <a:ext cx="4" cy="34290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7218" y="2839212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주간 AI 활용 사례 공유 세션 (15분) 운영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67208" y="3415284"/>
            <a:ext cx="4" cy="34290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7218" y="3346704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성공 사례 DB 구축 — 실패 사례도 포함, 학습 자산화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67208" y="3600450"/>
            <a:ext cx="3657584" cy="30861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7210" y="3600450"/>
            <a:ext cx="36575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B4F"/>
                </a:solidFill>
                <a:latin typeface="Apple SD Gothic Neo"/>
              </a:rPr>
              <a:t>📊  목표: 팀 AI 활용률 80% 이상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5216" y="1885950"/>
            <a:ext cx="3657600" cy="21259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68640" y="1851660"/>
            <a:ext cx="3657600" cy="2125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68640" y="1851660"/>
            <a:ext cx="3657600" cy="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68640" y="1851660"/>
            <a:ext cx="3657600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8650" y="1920240"/>
            <a:ext cx="609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ple SD Gothic Neo"/>
              </a:rPr>
              <a:t>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17280" y="1920240"/>
            <a:ext cx="30479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사내 데이터 준비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826175" y="1920240"/>
            <a:ext cx="6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26175" y="1920240"/>
            <a:ext cx="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3개월 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68648" y="2400300"/>
            <a:ext cx="4" cy="3429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8658" y="2331720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사내 문서 구조화 — RAG 시스템 구축을 위한 데이터 정리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68648" y="2907792"/>
            <a:ext cx="4" cy="3429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68658" y="2839212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고객 데이터 품질 관리 — 비정형 데이터 → 구조화 데이터로 전환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68648" y="3415284"/>
            <a:ext cx="4" cy="3429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68658" y="3346704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지식 베이스(KB) 구축 — FAQ, 제품 정보, 정책 문서 체계화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68648" y="3600450"/>
            <a:ext cx="3657584" cy="30861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8650" y="3600450"/>
            <a:ext cx="36575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ple SD Gothic Neo"/>
              </a:rPr>
              <a:t>📊  목표: 핵심 문서 100% 디지털화·구조화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" y="4149090"/>
            <a:ext cx="3657600" cy="21259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4114800"/>
            <a:ext cx="3657600" cy="2125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4114800"/>
            <a:ext cx="3657600" cy="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4114800"/>
            <a:ext cx="3657600" cy="4114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70" y="4183380"/>
            <a:ext cx="609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ple SD Gothic Neo"/>
              </a:rPr>
              <a:t>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183380"/>
            <a:ext cx="30479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도구 체계 구축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295" y="4183380"/>
            <a:ext cx="6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295" y="4183380"/>
            <a:ext cx="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1개월 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8" y="4663440"/>
            <a:ext cx="4" cy="3429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78" y="4594860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직무별 AI 도구 표준화 — 영업/마케팅/기획별 승인 도구 목록 수립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8" y="5170932"/>
            <a:ext cx="4" cy="3429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78" y="5102352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MCP 연동 우선순위 선정 — Slack, Notion, CRM 중 연결 효과 높은 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8" y="5678424"/>
            <a:ext cx="4" cy="3429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78" y="5609844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API 비용 관리 계획 — 팀별 예산 책정, 사용량 모니터링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8" y="5863590"/>
            <a:ext cx="3657584" cy="30861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70" y="5863590"/>
            <a:ext cx="36575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Apple SD Gothic Neo"/>
              </a:rPr>
              <a:t>📊  목표: 도구 표준화 완료, 월 비용 예측 가능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03776" y="4149090"/>
            <a:ext cx="3657600" cy="21259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67200" y="4114800"/>
            <a:ext cx="3657600" cy="2125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67200" y="4114800"/>
            <a:ext cx="3657600" cy="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67200" y="4114800"/>
            <a:ext cx="3657600" cy="4114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67210" y="4183380"/>
            <a:ext cx="609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ple SD Gothic Neo"/>
              </a:rPr>
              <a:t>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15840" y="4183380"/>
            <a:ext cx="30479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보안·거버넌스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24735" y="4183380"/>
            <a:ext cx="6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24735" y="4183380"/>
            <a:ext cx="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즉시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67208" y="4663440"/>
            <a:ext cx="4" cy="3429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67218" y="4594860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AI 사용 정책 수립 — 입력 금지 정보 목록(개인정보·영업비밀·금융정보)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67208" y="5170932"/>
            <a:ext cx="4" cy="3429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67218" y="5102352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EU AI Act·한국 AI 기본법 영향 체크리스트 작성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67208" y="5678424"/>
            <a:ext cx="4" cy="3429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67218" y="5609844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AI 생성물 저작권 정책 — 외부 발행물에 AI 사용 공시 기준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67208" y="5863590"/>
            <a:ext cx="3657584" cy="30861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67210" y="5863590"/>
            <a:ext cx="36575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Apple SD Gothic Neo"/>
              </a:rPr>
              <a:t>📊  목표: AI 사용 정책 문서화, 전 직원 교육 완료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05216" y="4149090"/>
            <a:ext cx="3657600" cy="21259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68640" y="4114800"/>
            <a:ext cx="3657600" cy="2125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68640" y="4114800"/>
            <a:ext cx="3657600" cy="5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68640" y="4114800"/>
            <a:ext cx="3657600" cy="4114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68650" y="4183380"/>
            <a:ext cx="609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17280" y="4183380"/>
            <a:ext cx="30479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마인드셋 전환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26175" y="4183380"/>
            <a:ext cx="6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826175" y="4183380"/>
            <a:ext cx="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지금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68648" y="4663440"/>
            <a:ext cx="4" cy="3429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68658" y="4594860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"AI가 내 일을 빼앗는다" → "AI로 10배 더 잘한다"로 관점 전환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168648" y="5170932"/>
            <a:ext cx="4" cy="3429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68658" y="5102352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업무 프로세스 재설계 — 기존 방식에 AI를 덧붙이지 말고, 처음부터 AI 포함 설계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68648" y="5678424"/>
            <a:ext cx="4" cy="3429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68658" y="5609844"/>
            <a:ext cx="365757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실패를 학습으로 — 나쁜 AI 결과도 데이터. 프롬프트 개선 사이클 운영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68648" y="5863590"/>
            <a:ext cx="3657584" cy="30861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68650" y="5863590"/>
            <a:ext cx="36575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2400E"/>
                </a:solidFill>
                <a:latin typeface="Apple SD Gothic Neo"/>
              </a:rPr>
              <a:t>📊  목표: 부서 내 'AI 퍼스트' 문화 정착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6377940"/>
            <a:ext cx="11460480" cy="44577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6" y="6405372"/>
            <a:ext cx="28651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B4C"/>
                </a:solidFill>
                <a:latin typeface="Apple SD Gothic Neo"/>
              </a:rPr>
              <a:t>즉시 (이번 주)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5766" y="6549390"/>
            <a:ext cx="286510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TRIE 공식 1개 업무 적용 · AI 사용 금지 정보 목록 작성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30886" y="6405372"/>
            <a:ext cx="28651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B4C"/>
                </a:solidFill>
                <a:latin typeface="Apple SD Gothic Neo"/>
              </a:rPr>
              <a:t>단기 (1개월)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30886" y="6549390"/>
            <a:ext cx="286510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AI 챔피언 지정 · 도구 표준화 검토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96006" y="6405372"/>
            <a:ext cx="28651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B4C"/>
                </a:solidFill>
                <a:latin typeface="Apple SD Gothic Neo"/>
              </a:rPr>
              <a:t>중기 (3개월)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096006" y="6549390"/>
            <a:ext cx="286510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사내 RAG 시스템 구축 · MCP 연동 파일럿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61126" y="6405372"/>
            <a:ext cx="28651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B4C"/>
                </a:solidFill>
                <a:latin typeface="Apple SD Gothic Neo"/>
              </a:rPr>
              <a:t>장기 (6개월+)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61126" y="6549390"/>
            <a:ext cx="286510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멀티에이전트 도입 검토 · AI CoE 공식화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실무자가 알아야 할 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209169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226314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6314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컨텍스트 = AI의 작업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컨텍스트가 클수록 더 많은 문서·대화·코드를 한 번에 처리. Gemini 1.5는 책 30권 분량을 한 번에 읽는다.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60045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5360" y="377190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7190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비용은 이미 무시할 수준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5196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2023년 대비 98% 감소. GPT-4급 AI를 하루 1,000번 사용해도 월 3천원 미만. 도구 선택이 아닌 활용 방법이 핵심.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510921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07492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360" y="528066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28066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컨텍스트 엔지니어링이 새 핵심 역량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무엇을 어떻게 AI에게 제공하느냐가 결과를 결정. RAG·청킹·요약 전략이 프롬프팅만큼 중요해졌다.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