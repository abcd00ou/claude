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48768" cy="397763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1371600"/>
            <a:ext cx="48768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4ED8"/>
                </a:solidFill>
                <a:latin typeface="Apple SD Gothic Neo"/>
              </a:rPr>
              <a:t>INSIGHT REPORT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057400"/>
            <a:ext cx="9509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ple SD Gothic Neo"/>
              </a:rPr>
              <a:t>AI가 바꾸는 우리의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40462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4A3B8"/>
                </a:solidFill>
                <a:latin typeface="Apple SD Gothic Neo"/>
              </a:rPr>
              <a:t>B2C 실무자를 위한 AI 워크플로우 혁신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" y="4937760"/>
            <a:ext cx="73152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5143500"/>
            <a:ext cx="609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AI Strategy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2080" y="3086100"/>
            <a:ext cx="268224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2080" y="315468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D4ED8"/>
                </a:solidFill>
                <a:latin typeface="Apple SD Gothic Neo"/>
              </a:rPr>
              <a:t>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2080" y="3566160"/>
            <a:ext cx="26822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ple SD Gothic Neo"/>
              </a:rPr>
              <a:t>B2C 영업
마케팅
상품기획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강의 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195453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ED8"/>
                </a:solidFill>
                <a:latin typeface="Apple SD Gothic Neo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6880" y="202311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0720" y="197510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0720" y="229743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462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284607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6B4F"/>
                </a:solidFill>
                <a:latin typeface="Apple SD Gothic Neo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880" y="291465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0720" y="286664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0720" y="318897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3474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" y="373761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D28D9"/>
                </a:solidFill>
                <a:latin typeface="Apple SD Gothic Neo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6880" y="380619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0720" y="375818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720" y="408051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5770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440" y="462915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Apple SD Gothic Neo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6880" y="469773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50720" y="464972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720" y="497205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1782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52069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7490"/>
                </a:solidFill>
                <a:latin typeface="Apple SD Gothic Neo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6880" y="558927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0720" y="554126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0720" y="586359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24078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CHAPTER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AI란 무엇인가? — 3가지 비유로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검색 → 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3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3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Google에게 '제안서 써줘'라고 해도 결과 없음.
AI는 해당 요청을 이해하고 실제로 작성해 줌.
→ 도구가 아닌 협업 파트너로의 전환.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76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10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타이핑 → 말하기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스마트폰 등장 전 우리는 모두 버튼을 눌렀다.
AI는 자연어로 명령하는 시대를 열었다.
→ 누구나 전문 도구를 쓸 수 있는 시대.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00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34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41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41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도구 → 동료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41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41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엑셀은 시킨 것만 한다. 창의성 없음.
AI 에이전트는 목표를 주면 스스로 계획 실행.
→ '경쟁사 분석해줘' → 크롤링·분석·정리 자동.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ChatGPT 사용자 달성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6083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39" y="1371600"/>
            <a:ext cx="463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39" y="1988819"/>
            <a:ext cx="438912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39" y="219456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0" y="226314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ChatGPT 출시 5일 만에 100만 사용자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39" y="332613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0" y="339471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2개월 만에 1억 명 → 역사상 최단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39" y="445770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3280" y="452628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현재 전 세계 월간 사용자 2억 명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603504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출처: UBS 2023 / OpenAI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AI 진화 타임라인 — 2022 →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질문-답변 → 이미지 생성 → 에이전트 → CLI 자율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566160"/>
            <a:ext cx="10972800" cy="2057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03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0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6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ChatGPT 3.5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32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19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1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72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48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64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+ 이미지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64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35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3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288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80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80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Midjourney V5 / DALL-E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64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51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48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04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80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96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Turbo + Plugins / Assistants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96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67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64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20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12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12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Sora (텍스트→영상) 공개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96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83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36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412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28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3.5 Sonnet — Computer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28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99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39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52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544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44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Code (CLI 에이전트) 공개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28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015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11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7868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844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260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Multi-Agent 협업 표준화 (MCP)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60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D4ED8"/>
                </a:solidFill>
                <a:latin typeface="Apple SD Gothic Neo"/>
              </a:rPr>
              <a:t>Phase 1
Q&amp;A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9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6B4F"/>
                </a:solidFill>
                <a:latin typeface="Apple SD Gothic Neo"/>
              </a:rPr>
              <a:t>Phase 2
이미지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7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D28D9"/>
                </a:solidFill>
                <a:latin typeface="Apple SD Gothic Neo"/>
              </a:rPr>
              <a:t>Phase 3
에이전트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19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1C1C"/>
                </a:solidFill>
                <a:latin typeface="Apple SD Gothic Neo"/>
              </a:rPr>
              <a:t>Phase 4
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진화 Phase 1~2 — 텍스트·이미지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978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9594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💬 Phase 1 (2022~) 텍스트 Q&amp;A: ChatGPT 등장 → '검색'에서 '대화'로 패러다임 전환. 2개월 만에 1억 명 달성.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9344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36601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36601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135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751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🖼️ Phase 2 (2023~) 멀티모달: GPT-4 이미지 이해 → 텍스트와 이미지를 동시에 분석·생성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52501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49758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49758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92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908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🎨 이미지 생성 (2023~): Midjourney·DALL-E 3 → 프롬프트 하나로 전문 수준 비주얼 즉시 제작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65658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62915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62915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449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065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📊 임팩트: 스톡 이미지 시장 40% 감소, 콘텐츠 제작 비용 60~80% 절감 (Shutterstock 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진화 Phase 3~4 — 에이전트·CLI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978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9594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🔌 Phase 3 (2023~) 에이전트 v1: GPT Plugins → AI가 외부 도구에 연결해 자율 검색·실행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9344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36601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36601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135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751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🎬 영상 생성 (2024~): Sora → 텍스트로 고품질 영상 생성. 광고·데모 영상 90% 비용 절감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52501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49758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49758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92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908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🖱️ Phase 3.5 (2024~) Computer Use: Claude가 화면을 보고 PC를 직접 조작. RPA 시장 패러다임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65658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62915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62915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449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065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⚡ Phase 4 (2025~) CLI 에이전트: Claude Code → 터미널에서 자연어로 전체 파이프라인 자동화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AI가 만들어내는 경제적 가치 — 글로벌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36448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McKinsey Global Institute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1165860"/>
            <a:ext cx="536448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176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Microsoft Work Trend Index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CH1 — AI 진화 단계별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 / 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배치 이메일 분류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수백 건의 고객 이메일을 한 번에 입력 → 우선순위·카테고리 자동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분류된 이메일 리스트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웹 검색 뉴스 리포터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키워드 설정 → 매일 오전 관련 뉴스 자동 수집·요약 메일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Perplexity  ·  Gmail SMTP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업계 뉴스 요약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데이터 파이프라인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CSV 수신 → 자동 분석 → 차트 생성 → 대시보드 업데이트까지 자율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Code  ·  pandas  ·  matplotlib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자동 분석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고급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B4F"/>
                </a:solidFill>
                <a:latin typeface="Apple SD Gothic Neo"/>
              </a:rPr>
              <a:t>CHAPTER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고객사 조사: 3~4시간 웹 서핑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고객사 AI 분석 리포트: 15분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제안서 초안: 2~3일 작업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제안서 초안 AI 생성 → 검수: 2~3시간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반론 예상 답변: 경험과 기억에 의존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반론 대응 시나리오 10개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콜드메일: 1건 작성 30분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콜드메일 맞춤형 10개 버전: 5분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28%↓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행정 업무 시간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51%↑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거래 성사율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제안서 초안 제작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Salesforce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2배 향상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아웃리치 응답률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Outreach.io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영업 준비 자동화 에이전트 — 미팅 일정 등록 시 고객사 분석 리포트 + 반론 시나리오 자동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영업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영업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콜드 아웃리치 맞춤화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고객 리스트 CSV 업로드 → 각 고객별 맞춤 이메일 50개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HubSpot API  ·  LinkedIn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개인화 이메일 50개 초안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영업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성과 분석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CRM 데이터 주간 분석 → 성과 패턴 인사이트 + 액션 아이템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Salesforce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영업 인사이트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SNS 콘텐츠 1건: 기획~발행 1~2일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 콘텐츠 7일치 일괄 생성: 30분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이미지 제작: 디자이너 의뢰 2~3일 대기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마케팅 이미지 즉시 생성·수정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카피라이팅 A/B 테스트: 수동 제작 제약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A/B 카피 50개 버전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리포트: 주 1회 수동 정리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일간 트렌드 자동 수집·요약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콘텐츠 제작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Jasper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A/B 카피 생성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벤치마크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광고 클릭률(CTR)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Persado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마케터 생산성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SNS 콘텐츠 파이프라인 에이전트 — 매주 금요일 7일치 SNS 카피 21개 + 이미지 프롬프트 자동 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마케팅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테스트 자동화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USP 입력 → 50개 광고 카피 변형 생성 → Meta API 자동 업로드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변형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트렌드 모니터링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SNS·커뮤니티·뉴스 스캔 → 트렌드 키워드 + 콘텐츠 기회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Slack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트렌드 알림 + 콘텐츠 아이디어 3개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경쟁사 분석: 주 8~10시간 리서치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경쟁사 가격·스펙 자동 크롤링 &amp; 비교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기획서 작성: 1~2주 소요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기획서 초안 AI 생성 → 3일로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소비자 리뷰 분석: 수백 건 수동 읽기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리뷰 수천 건 AI 감성 분석 &amp;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예측: 리포트 구매 비용 발생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SNS·커뮤니티 트렌드 자동 모니터링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1,000배↑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처리 가능 데이터 규모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McKinsey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3~6개월↑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트렌드 조기 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Gartner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10시간→1시간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경쟁사 분석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2주→3일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기획서 작성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경쟁사 인텔리전스 에이전트 — 매일 오전 경쟁사 가격·스펙 자동 수집 → 변동 감지 시 즉시 Slack 알림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상품기획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상품기획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리뷰 인사이트 추출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Amazon/Coupang 리뷰 1,000건 수집 → 불만 유형 분류 + 개선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리뷰 감성 분석 리포트 + TOP10 불만 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기획서 초안 생성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카테고리 + 타깃 고객 입력 → 시장 분석·포지셔닝·로드맵 초안 자동 작성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python-pptx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기획서 초안 PPT (10~15슬라이드)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3개 직무 공통 AI 자동화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영업·마케팅·상품기획 모두 동일한 3가지 패턴으로 생산성이 향상됩니다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반복 업무 자동화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9328" y="3001060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정기 리포트 자동 생성·발송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4027016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데이터 수집 자동 크롤링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28" y="5052972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0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문서·제안서 초안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76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110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1040" y="150876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데이터 분석 가속화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3001060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24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대용량 리뷰·데이터 즉시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027016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24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트렌드 3~6개월 조기 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5052972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24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경쟁사 인텔리전스 자동화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100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34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73440" y="150876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콘텐츠 대량 생산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41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4128" y="3001060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48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기획서/제안서 초안: 수 시간→수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4128" y="4027016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SNS 7일치 콘텐츠 30분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4128" y="5052972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148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A/B 변형 50개 즉시 생성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pple SD Gothic Neo"/>
              </a:rPr>
              <a:t>CHAPTER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실전 데모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1950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82572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1: 제품 소개 HTML 랜딩 페이지 30초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04288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276856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276856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74366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24988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2: 마케팅 이미지 프롬프트 → 생성 결과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346704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319272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319272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6782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67404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3: 상품 기획서 초안 → AI 리뷰 → 완성본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389120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361688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361688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59198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09820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4: 에이전트로 경쟁사 가격 자동 수집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016" y="5431536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3440" y="5404104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3440" y="5404104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01614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552236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5: 이 강의 자료도 AI가 만들었다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1: 제품 소개 랜딩 페이지 30초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프롬프트 하나로 완성된 HTML 랜딩 페이지 즉시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히어로 · 특징 3가지 · Before-After · CTA 자동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'색상을 파란색으로 바꿔줘' → 자연어로 즉시 수정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결과: 기존 2~3일 → 30초 (360배 빠름, 비용 $0)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0728960" cy="150876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60960" cy="1508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60" y="5006340"/>
            <a:ext cx="2438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사용 프롬프트: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60" y="541782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"[제품명] 소개 랜딩 페이지를 HTML로 만들어줘. 히어로 섹션, 특징 3가지, Before/After 비교, CTA 포함. 다크 배경에 오렌지 포인트 컬러, 모바일 반응형."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2: AI 이미지 생성 — 프롬프트 품질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❌ 나쁜 프롬프트: 'SSD 사진' → 평범한 스톡 이미지 수준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좋은 프롬프트: 'Modern NVMe SSD floating, electric blue particles, 8K, studio lighting, premium tech aesthetic' → 광고 수준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핵심: 스타일·조명·분위기 키워드가 결과를 10배 바꾼다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도구별: DALL-E 3 (한국어 OK), Midjourney (최고품질), Firefly (상업용 안전)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CH3 — 데모 자동화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랜딩 페이지 배치 생성기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목록 CSV 업로드 → 각 제품별 HTML 랜딩 페이지 일괄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Jinja2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제품별 HTML 랜딩 페이지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카피 자동 테스트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광고 소재 업로드 → 50개 변형 생성 → Meta/Google Ads API 자동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콘텐츠 품질 검수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AI 생성 콘텐츠 → 브랜드 가이드라인 체크 → 승인/거절/수정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Custom Rules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품질 검수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ple SD Gothic Neo"/>
              </a:rPr>
              <a:t>CHAPTER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에이전트란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165860"/>
            <a:ext cx="5120640" cy="1508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16586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1B1B"/>
                </a:solidFill>
                <a:latin typeface="Apple SD Gothic Neo"/>
              </a:rPr>
              <a:t>일반 AI (ChatGPT)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질문에 답하는 기계
한 번에 하나의 답변만 생성
외부 도구 사용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1760" y="1165860"/>
            <a:ext cx="5120640" cy="1508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1760" y="1165860"/>
            <a:ext cx="51206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F46"/>
                </a:solidFill>
                <a:latin typeface="Apple SD Gothic Neo"/>
              </a:rPr>
              <a:t>AI 에이전트 (Claude Code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목표를 주면 스스로 계획하고 실행
다단계 작업을 자율 처리
외부 도구·인터넷·코드 사용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15087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F360C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10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ple SD Gothic Neo"/>
              </a:rPr>
              <a:t>Tool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인터넷 검색, 파일 읽기, 코드 실행, API 호출 등 외부 도구를 직접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76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10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1040" y="438912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41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34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B4F"/>
                </a:solidFill>
                <a:latin typeface="Apple SD Gothic Neo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8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이전 대화와 작업을 기억. 문맥을 유지하며 일관된 다단계 작업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00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3440" y="438912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65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58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Apple SD Gothic Neo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82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큰 목표를 작은 단계로 자동 분해하고 순서대로 실행하는 계획 능력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에이전트 실행 메커니즘 — 6단계 루프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53492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492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486400"/>
            <a:ext cx="1048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실제 사례: "경쟁사 가격 분석 리포트 만들어줘" →  에이전트가 URL 확인 → 크롤링 → 정리 → 비교 분석 → PDF 생성 → 이메일 발송까지 자동 실행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코딩 없이 에이전트 만들기 — 노코드 3대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3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F00"/>
                </a:solidFill>
                <a:latin typeface="Apple SD Gothic Neo"/>
              </a:rPr>
              <a:t>⚡  Zapier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3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7,000개 이상 앱 연결
드래그&amp;드롭 자동화
가장 많이 쓰이는 노코드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F00"/>
                </a:solidFill>
                <a:latin typeface="Apple SD Gothic Neo"/>
              </a:rPr>
              <a:t>최적 용도: 영업 알림·CRM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Gmail 수신 → Claude 요약 → Notion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월$19.99~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76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10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6D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00CC"/>
                </a:solidFill>
                <a:latin typeface="Apple SD Gothic Neo"/>
              </a:rPr>
              <a:t>🔗  Make (Integromat)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복잡한 워크플로우 시각화
Zapier 대비 저렴한 가격
데이터 가공 유연성 높음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00CC"/>
                </a:solidFill>
                <a:latin typeface="Apple SD Gothic Neo"/>
              </a:rPr>
              <a:t>최적 용도: 마케팅 콘텐츠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신제품 등록 → SNS 카피 생성 → Buffer 예약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월$9~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00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34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41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🤖  Claude / ChatGPT 직접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41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대화형 프롬프트만으로
별도 설정 없이 즉시 사용
가장 낮은 진입 장벽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41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최적 용도: 상품기획·문서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41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경쟁사 URL 붙여넣기 → 분석 + 기획서 초안 즉시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41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41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월$20~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CH4 — 직무별 에이전트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지금 당장 첫 번째 에이전트 만들기 — 5단계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9056" y="12687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480" y="12344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480" y="1234440"/>
            <a:ext cx="60960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304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반복 업무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17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매주 하는 작업 중 '자동화하면 좋겠다' 싶은 것 1개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56" y="22974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480" y="22631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480" y="2263140"/>
            <a:ext cx="60960" cy="96012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591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입력·출력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104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'무엇을 넣으면 → 무엇이 나와야 하는가' 명확히 정의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056" y="33261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" y="32918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480" y="3291840"/>
            <a:ext cx="60960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78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필요 도구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8391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검색? 이메일? CRM? 파일 읽기? 필요한 도구 목록 메모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056" y="43548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2480" y="43205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2480" y="4320540"/>
            <a:ext cx="60960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165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AI에게 설계 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8678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"내 업무는 ~이야. 이걸 자동화하는 에이전트 만들어줘" 그대로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056" y="53835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2480" y="53492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2480" y="5349240"/>
            <a:ext cx="60960" cy="960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52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테스트 → 개선 반복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965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처음엔 70점이어도 OK — 피드백으로 점진적 개선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Apple SD Gothic Neo"/>
              </a:rPr>
              <a:t>CHAPTER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직무별 AI 도구 추천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영업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8021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제안서 초안, 이메일 맞춤화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7749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3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고객사 실시간 리서치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7477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3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Notion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미팅 노트 요약, CRM 메모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7205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Gong.io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3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영업 콜 AI 분석 + 코칭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10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1040" y="168021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카피라이팅, A/B 테스트 문구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10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11040" y="277749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DALL-E 3 / Midjourney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마케팅 이미지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10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1040" y="387477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17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Canva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SNS 비주얼 빠른 제작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10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1040" y="497205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Jasper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대량 콘텐츠 자동 생성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34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73440" y="168021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41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41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기획서 초안, 리뷰 분석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34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73440" y="277749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41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41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트렌드 리서치, 경쟁사 조사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734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73440" y="387477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41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ChatGPT + Code Interpreter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41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데이터 분석, 차트 생성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734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3440" y="497205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41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 Code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41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크롤링 에이전트 구축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TRIE 프롬프트 공식 — 4요소로 AI 품질 10배 향상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5006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77940"/>
            <a:ext cx="107289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이 4가지 공식은 ChatGPT, Claude, Gemini 등 모든 AI 서비스에 동일하게 적용됩니다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나쁜 프롬프트 vs TRIE 공식 적용 — 실전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658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658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80" y="13222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[영업] 잘못된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8434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"제안서 써줘"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79" y="21561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658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658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13222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응답 품질 5배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17652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IT 솔루션 영업 전문가입니다.
[과제] 삼성전자 물류팀을 위한 SaaS 솔루션 제안서 초안을 작성해주세요.
[입력] 예산: 연 2억, 도입 목적: 물류 효율화, 담당자: 구매팀 김과장
[기대] 5페이지 분량, 핵심 가치 3가지, ROI 수치 포함, 한국어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090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090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80" y="40654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[마케팅] 잘못된 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" y="45866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"SNS 글 써줘"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79" y="48993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9090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9090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1040" y="40654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전환율 +18% 기대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40" y="45084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MZ세대 디지털 마케터입니다.
[과제] 무선이어폰 출시 인스타그램 피드 카피 3개 버전을 작성해주세요.
[입력] 제품명: SoundX Pro, 타깃: 20~30대 직장인, 강점: 35시간 배터리
[기대] 각 150자 이내, 해시태그 5개, 구매 유도 CTA 포함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30일 AI 온보딩 로드맵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4869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4078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처음부터 완벽하지 않아도 됩니다. 매주 1개씩 실행하면 30일 후 완전히 다른 업무 환경이 만들어집니다.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도입 시 반드시 알아야 할 4가지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425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1165860"/>
            <a:ext cx="5364480" cy="3429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786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Apple SD Gothic Neo"/>
              </a:rPr>
              <a:t>보안 &amp; 개인정보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고객 개인정보·내부 기밀을 공개 AI 서비스에 직접 입력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데이터 익명화 처리 후 입력 / 사내 전용 AI 환경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833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176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760" y="1165860"/>
            <a:ext cx="5364480" cy="3429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633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©️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194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저작권 &amp; 상업 사용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633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633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633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생성 이미지·텍스트의 상업적 사용 시 라이선스 확인 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633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633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Adobe Firefly(상업용 안전 설계) 우선 사용 / 출처 기록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25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768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" y="3977639"/>
            <a:ext cx="5364480" cy="342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786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환각(Hallucination)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AI가 사실처럼 들리는 잘못된 수치·정보를 만들어낼 수 있음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수치·출처 포함 내용은 반드시 팩트체크 후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833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6176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760" y="3977639"/>
            <a:ext cx="5364480" cy="3429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633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⚖️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194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148C"/>
                </a:solidFill>
                <a:latin typeface="Apple SD Gothic Neo"/>
              </a:rPr>
              <a:t>편향성 &amp; 공정성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33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633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633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학습 데이터의 편향으로 특정 집단에 불공정 결과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633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633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다양한 관점 검토 / 최종 판단은 반드시 사람이 내릴 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CH5 — 로드맵 실행 지원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전 직무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학습 진도 트래커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AI 활용 일지 작성 → Notion 자동 기록 → 주간 진도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Notion API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AI 활용 리포트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전 직무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프롬프트 품질 개선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작성한 프롬프트 → TRIE 공식 준수 체크 → 자동 개선안 3개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개선된 프롬프트 3개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전 직무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AI 도입 ROI 측정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업무 시간 로그 기록 → AI 절감 시간 계산 → 월간 효과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Google Sheets API  ·  Gmail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월간 ROI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34440"/>
            <a:ext cx="48768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1371600"/>
            <a:ext cx="853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1988819"/>
            <a:ext cx="975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ple SD Gothic Neo"/>
              </a:rPr>
              <a:t>AI는 대체가 아닌 증폭입니다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34290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Apple SD Gothic Neo"/>
              </a:rPr>
              <a:t>반복 업무는 AI에게, 창의적 판단은 당신에게.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" y="4251960"/>
            <a:ext cx="609600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44577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01  반복 업무 자동화로 고부가 업무에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5074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02  작은 자동화부터 시작해 점진적으로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56921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03  AI와 협업하는 역량이 2026년의 핵심 경쟁력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4ED8"/>
                </a:solidFill>
                <a:latin typeface="Apple SD Gothic Neo"/>
              </a:rPr>
              <a:t>Q &amp; A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3440" y="2606040"/>
            <a:ext cx="426720" cy="6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440" y="1508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Apple SD Gothic Neo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2057400"/>
            <a:ext cx="8534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ple SD Gothic Neo"/>
              </a:rPr>
              <a:t>AI의 두뇌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291840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60A5FA"/>
                </a:solidFill>
                <a:latin typeface="Apple SD Gothic Neo"/>
              </a:rPr>
              <a:t>토큰·컨텍스트·메모리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4320540"/>
            <a:ext cx="853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ple SD Gothic Neo"/>
              </a:rPr>
              <a:t>AI가 구동되는 원리 — 비용·속도·한계를 결정하는 핵심 개념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토큰의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ple SD Gothic Neo"/>
              </a:rPr>
              <a:t>토큰(Token)이란 무엇인가?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51660"/>
            <a:ext cx="6827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60960" cy="13716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988819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2400300"/>
            <a:ext cx="609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ple SD Gothic Neo"/>
              </a:rPr>
              <a:t>AI가 텍스트를 이해하는 최소 단위 — 단어 혹은 단어 조각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6827520" cy="1165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60960" cy="116586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360" y="3566160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단위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360" y="3909059"/>
            <a:ext cx="6096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pple SD Gothic Neo"/>
              </a:rPr>
              <a:t>1,000 토큰 ≈ 750 단어 ≈ A4 용지 1.5장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00600"/>
            <a:ext cx="6827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6096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360" y="4937760"/>
            <a:ext cx="243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60" y="5280660"/>
            <a:ext cx="60960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pple SD Gothic Neo"/>
              </a:rPr>
              <a:t>컨텍스트 윈도우 크기(처리 가능 정보량)와 API 비용을 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1450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B4C"/>
                </a:solidFill>
                <a:latin typeface="Apple SD Gothic Neo"/>
              </a:rPr>
              <a:t>실제 예시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영어: 'Hello' = 1 토큰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한국어: '안녕하세요' = 3~5 토큰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4800" y="2263140"/>
            <a:ext cx="3535679" cy="102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4800" y="2263140"/>
            <a:ext cx="60960" cy="10287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2468880"/>
            <a:ext cx="3169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GPT-4o 기준: 이미지 1장 = 약 170~300 토큰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컨텍스트 윈도우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컨텍스트 윈도우: 2019 → 2025, 2,000배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97536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GPT-2 1,024 토큰(A4 1.5장) → Gemini 2M 토큰(소설 30권)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2125980"/>
            <a:ext cx="112166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AI 메모리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ple SD Gothic Neo"/>
              </a:rPr>
              <a:t>AI는 어떻게 '기억'하는가 — 4가지 메모리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851660"/>
            <a:ext cx="2438400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컨텍스트 메모리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현재 대화창에 올라와 있는 텍스트 전체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수천~수백만 토큰 (모델마다 다름)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책상 위에 펼쳐진 문서들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200" y="1851660"/>
            <a:ext cx="2438400" cy="42519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52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52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2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외부 메모리 (RAG)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2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Vector DB에 저장, 필요할 때 검색·주입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2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2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이론상 무한 (외부 저장소 크기에 의존)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2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도서관 — 필요한 책을 꺼내 책상에 올려놓음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8400" y="1851660"/>
            <a:ext cx="2438400" cy="42519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84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84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파인튜닝 메모리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모델 가중치 자체에 학습된 지식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4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4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학습 시점 고정, 업데이트 비용 높음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4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오랜 경험으로 쌓인 전문 지식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1600" y="1851660"/>
            <a:ext cx="2438400" cy="42519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1600" y="1851660"/>
            <a:ext cx="2438400" cy="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91600" y="2057400"/>
            <a:ext cx="243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Apple SD Gothic Neo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1600" y="2743200"/>
            <a:ext cx="243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ple SD Gothic Neo"/>
              </a:rPr>
              <a:t>에이전트 메모리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1612" y="3360420"/>
            <a:ext cx="24383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Apple SD Gothic Neo"/>
              </a:rPr>
              <a:t>작업 간 저장·전달되는 상태 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612" y="432054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한계: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1612" y="4663440"/>
            <a:ext cx="24383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설계에 따라 다름 (파일, DB, 변수)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1612" y="5417820"/>
            <a:ext cx="243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비유: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1612" y="5760719"/>
            <a:ext cx="2438376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To-Do 리스트 + 작업 일지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토큰 비용 트렌드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ple SD Gothic Neo"/>
              </a:rPr>
              <a:t>AI API 비용: 2년 만에 98%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363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ple SD Gothic Neo"/>
              </a:rPr>
              <a:t>GPT-4 출시 당시 $30/1M토큰 → 2025년 Claude 3.7 $0.6/1M토큰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2057400"/>
            <a:ext cx="10241280" cy="36347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829300"/>
            <a:ext cx="10728960" cy="68580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5897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A5FA"/>
                </a:solidFill>
                <a:latin typeface="Apple SD Gothic Neo"/>
              </a:rPr>
              <a:t>💡  비용 장벽 소멸 → 소규모 팀도 GPT-4급 AI를 월 수천원으로 활용 가능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컨텍스트 엔지니어링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컨텍스트 엔지니어링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7340"/>
            <a:ext cx="1036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Apple SD Gothic Neo"/>
              </a:rPr>
              <a:t>컨텍스트 윈도우를 전략적으로 채워 AI 성능을 극대화하는 기술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63140"/>
            <a:ext cx="1072896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Apple SD Gothic Neo"/>
              </a:rPr>
              <a:t>핵심: 모델 크기보다 무엇을 컨텍스트에 넣느냐가 결과 품질을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325755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2326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2326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38" y="336042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🔍  RAG (검색 증강 생성)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38" y="384048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외부 DB에서 관련 정보를 검색해 컨텍스트에 주입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6416" y="325755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39840" y="322326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9840" y="322326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9858" y="336042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📦  프롬프트 압축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9858" y="384048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긴 컨텍스트를 LLMLingua 등으로 4x 압축해 비용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476631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73202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73202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38" y="486918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📝  대화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38" y="534924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과거 대화를 요약본으로 교체해 윈도우 효율 유지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6416" y="4766310"/>
            <a:ext cx="512064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9840" y="4732020"/>
            <a:ext cx="512064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9840" y="4732020"/>
            <a:ext cx="5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9858" y="4869180"/>
            <a:ext cx="512061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ple SD Gothic Neo"/>
              </a:rPr>
              <a:t>✂️  청킹 전략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9858" y="5349240"/>
            <a:ext cx="512061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문서를 의미 단위로 분할해 검색 정확도 향상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ple SD Gothic Neo"/>
              </a:rPr>
              <a:t>APPENDIX — 새로운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1036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Transformer를 넘어서 — 2024~2026 핵심 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516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51660"/>
            <a:ext cx="5242560" cy="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16" y="20574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⚡  KV 캐시 (Key-Value Cache)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16" y="26060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이미 계산한 어텐션 결과를 재사용 → 반복 요청 속도 10x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16" y="32232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ple SD Gothic Neo"/>
              </a:rPr>
              <a:t>임팩트: API 응답 속도 대폭 향상, 비용 절감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39840" y="18516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1851660"/>
            <a:ext cx="5242560" cy="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9856" y="20574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🌊  Mamba / SSM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856" y="26060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Transformer 대신 선형 확장 State Space Model — 긴 시퀀스를 O(n)으로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856" y="32232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6B4F"/>
                </a:solidFill>
                <a:latin typeface="Apple SD Gothic Neo"/>
              </a:rPr>
              <a:t>임팩트: 100만 토큰 이상 초장문 처리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2519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251960"/>
            <a:ext cx="5242560" cy="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16" y="44577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🔥  Flash 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16" y="50063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GPU 메모리 I/O 최적화 — 어텐션 계산을 타일 단위로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16" y="56235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Apple SD Gothic Neo"/>
              </a:rPr>
              <a:t>임팩트: 학습 3x 빠름, VRAM 사용량 4x 절감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9840" y="4251960"/>
            <a:ext cx="5242560" cy="2057400"/>
          </a:xfrm>
          <a:prstGeom prst="rect">
            <a:avLst/>
          </a:prstGeom>
          <a:solidFill>
            <a:srgbClr val="15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39840" y="4251960"/>
            <a:ext cx="5242560" cy="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9856" y="4457700"/>
            <a:ext cx="52425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</a:rPr>
              <a:t>🎯  Sparse MoE (Mixture of Experts)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856" y="5006340"/>
            <a:ext cx="52425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ple SD Gothic Neo"/>
              </a:rPr>
              <a:t>입력에 따라 필요한 전문가(expert) 모듈만 활성화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9856" y="5623560"/>
            <a:ext cx="5242536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pple SD Gothic Neo"/>
              </a:rPr>
              <a:t>임팩트: 파라미터 8x 확장해도 계산량은 동일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80060"/>
            <a:ext cx="73152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B4C"/>
                </a:solidFill>
                <a:latin typeface="Apple SD Gothic Neo"/>
              </a:rPr>
              <a:t>APPENDIX — 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실무자가 알아야 할 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209169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226314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6314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컨텍스트 = AI의 작업 공간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컨텍스트가 클수록 더 많은 문서·대화·코드를 한 번에 처리. Gemini 1.5는 책 30권 분량을 한 번에 읽는다.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" y="360045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6616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360" y="377190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7190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비용은 이미 무시할 수준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5196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2023년 대비 98% 감소. GPT-4급 AI를 하루 1,000번 사용해도 월 3천원 미만. 도구 선택이 아닌 활용 방법이 핵심.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" y="5109210"/>
            <a:ext cx="10728960" cy="13030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074920"/>
            <a:ext cx="10728960" cy="1303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97536" cy="130302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360" y="5280660"/>
            <a:ext cx="7315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2B4C"/>
                </a:solidFill>
                <a:latin typeface="Apple SD Gothic Neo"/>
              </a:rPr>
              <a:t>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280660"/>
            <a:ext cx="8534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ple SD Gothic Neo"/>
              </a:rPr>
              <a:t>컨텍스트 엔지니어링이 새 핵심 역량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92659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무엇을 어떻게 AI에게 제공하느냐가 결과를 결정. RAG·청킹·요약 전략이 프롬프팅만큼 중요해졌다.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