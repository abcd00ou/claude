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5360" y="1920240"/>
            <a:ext cx="10241280" cy="17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pple SD Gothic Neo"/>
              </a:rPr>
              <a:t>AI가 바꾸는 우리의 일하는 방식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5360" y="377190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B0BEC5"/>
                </a:solidFill>
                <a:latin typeface="Apple SD Gothic Neo"/>
              </a:rPr>
              <a:t>B2C 실무자를 위한 AI 워크플로우 혁신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5360" y="53492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8909C"/>
                </a:solidFill>
                <a:latin typeface="Apple SD Gothic Neo"/>
              </a:rPr>
              <a:t>AI Strategy Team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57400"/>
            <a:ext cx="48768" cy="27432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672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36576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ple SD Gothic Neo"/>
              </a:rPr>
              <a:t>목  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9202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A4AE"/>
                </a:solidFill>
                <a:latin typeface="Apple SD Gothic Neo"/>
              </a:rPr>
              <a:t>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960" y="1426464"/>
            <a:ext cx="731520" cy="5760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32960" y="1426464"/>
            <a:ext cx="7315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ple SD Gothic Ne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30240" y="1330452"/>
            <a:ext cx="585216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12121"/>
                </a:solidFill>
                <a:latin typeface="Apple SD Gothic Neo"/>
              </a:rPr>
              <a:t>AI의 진화: 어떻게 여기까지 왔나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30240" y="1762506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57575"/>
                </a:solidFill>
                <a:latin typeface="Apple SD Gothic Neo"/>
              </a:rPr>
              <a:t>질문-답변에서 CLI 에이전트까지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32960" y="2386584"/>
            <a:ext cx="731520" cy="5760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2960" y="2386584"/>
            <a:ext cx="7315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ple SD Gothic Ne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30240" y="2290572"/>
            <a:ext cx="585216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12121"/>
                </a:solidFill>
                <a:latin typeface="Apple SD Gothic Neo"/>
              </a:rPr>
              <a:t>우리 업무는 어떻게 달라졌나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30240" y="2722626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57575"/>
                </a:solidFill>
                <a:latin typeface="Apple SD Gothic Neo"/>
              </a:rPr>
              <a:t>영업·마케팅·상품기획 실무 변화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32960" y="3346704"/>
            <a:ext cx="731520" cy="57607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2960" y="3346704"/>
            <a:ext cx="7315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ple SD Gothic Ne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30240" y="3250692"/>
            <a:ext cx="585216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12121"/>
                </a:solidFill>
                <a:latin typeface="Apple SD Gothic Neo"/>
              </a:rPr>
              <a:t>실전 데모: AI로 만드는 콘텐츠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30240" y="3682746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57575"/>
                </a:solidFill>
                <a:latin typeface="Apple SD Gothic Neo"/>
              </a:rPr>
              <a:t>직접 보고, 직접 해보는 AI 활용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32960" y="4306824"/>
            <a:ext cx="731520" cy="576072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32960" y="4306824"/>
            <a:ext cx="7315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ple SD Gothic Neo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30240" y="4210812"/>
            <a:ext cx="585216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12121"/>
                </a:solidFill>
                <a:latin typeface="Apple SD Gothic Neo"/>
              </a:rPr>
              <a:t>AI 에이전트: 자동화의 미래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30240" y="4642866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57575"/>
                </a:solidFill>
                <a:latin typeface="Apple SD Gothic Neo"/>
              </a:rPr>
              <a:t>당신의 AI 팀원을 설계하는 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32960" y="5266944"/>
            <a:ext cx="731520" cy="576072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32960" y="5266944"/>
            <a:ext cx="7315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ple SD Gothic Neo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30240" y="5170932"/>
            <a:ext cx="585216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12121"/>
                </a:solidFill>
                <a:latin typeface="Apple SD Gothic Neo"/>
              </a:rPr>
              <a:t>지금 당장 시작하는 AI 워크플로우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30240" y="5602986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57575"/>
                </a:solidFill>
                <a:latin typeface="Apple SD Gothic Neo"/>
              </a:rPr>
              <a:t>내일부터 써먹는 실전 로드맵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5360" y="1714500"/>
            <a:ext cx="243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Apple SD Gothic Ne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60" y="3291840"/>
            <a:ext cx="975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ple SD Gothic Neo"/>
              </a:rPr>
              <a:t>AI의 진화: 어떻게 여기까지 왔나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0" y="4663440"/>
            <a:ext cx="975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0BEC5"/>
                </a:solidFill>
                <a:latin typeface="Apple SD Gothic Neo"/>
              </a:rPr>
              <a:t>질문-답변에서 CLI 에이전트까지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" y="3017520"/>
            <a:ext cx="731520" cy="342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057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ple SD Gothic Neo"/>
              </a:rPr>
              <a:t>AI 진화 타임라인  2022 →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80" y="3566160"/>
            <a:ext cx="11216640" cy="27432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9265" y="3346705"/>
            <a:ext cx="438910" cy="43891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8160" y="1028700"/>
            <a:ext cx="134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  <a:latin typeface="Apple SD Gothic Neo"/>
              </a:rPr>
              <a:t>2022
11월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6240" y="1851660"/>
            <a:ext cx="1584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CEFF1"/>
                </a:solidFill>
                <a:latin typeface="Apple SD Gothic Neo"/>
              </a:rPr>
              <a:t>ChatGPT 3.5 공개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1345" y="3346705"/>
            <a:ext cx="438910" cy="43891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98320" y="4114800"/>
            <a:ext cx="1584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CEFF1"/>
                </a:solidFill>
                <a:latin typeface="Apple SD Gothic Neo"/>
              </a:rPr>
              <a:t>GPT-4 + 이미지 입력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5486400"/>
            <a:ext cx="134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976D2"/>
                </a:solidFill>
                <a:latin typeface="Apple SD Gothic Neo"/>
              </a:rPr>
              <a:t>2023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73425" y="3346705"/>
            <a:ext cx="438910" cy="43891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22320" y="1028700"/>
            <a:ext cx="134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E7D32"/>
                </a:solidFill>
                <a:latin typeface="Apple SD Gothic Neo"/>
              </a:rPr>
              <a:t>2023
7월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851660"/>
            <a:ext cx="1584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CEFF1"/>
                </a:solidFill>
                <a:latin typeface="Apple SD Gothic Neo"/>
              </a:rPr>
              <a:t>Midjourney V5 / DALL-E 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75505" y="3346705"/>
            <a:ext cx="438910" cy="438910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2480" y="4114800"/>
            <a:ext cx="1584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CEFF1"/>
                </a:solidFill>
                <a:latin typeface="Apple SD Gothic Neo"/>
              </a:rPr>
              <a:t>GPT-4 Turbo + Plugins / Assistants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4400" y="5486400"/>
            <a:ext cx="134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388E3C"/>
                </a:solidFill>
                <a:latin typeface="Apple SD Gothic Neo"/>
              </a:rPr>
              <a:t>2023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77585" y="3346705"/>
            <a:ext cx="438910" cy="43891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028700"/>
            <a:ext cx="134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6A1B9A"/>
                </a:solidFill>
                <a:latin typeface="Apple SD Gothic Neo"/>
              </a:rPr>
              <a:t>2024
1월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04560" y="1851660"/>
            <a:ext cx="1584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CEFF1"/>
                </a:solidFill>
                <a:latin typeface="Apple SD Gothic Neo"/>
              </a:rPr>
              <a:t>Sora (텍스트→영상) 공개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79665" y="3346705"/>
            <a:ext cx="438910" cy="43891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0" y="4114800"/>
            <a:ext cx="1584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CEFF1"/>
                </a:solidFill>
                <a:latin typeface="Apple SD Gothic Neo"/>
              </a:rPr>
              <a:t>Claude 3.5 Sonnet — Computer 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28560" y="5486400"/>
            <a:ext cx="134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7B1FA2"/>
                </a:solidFill>
                <a:latin typeface="Apple SD Gothic Neo"/>
              </a:rPr>
              <a:t>2024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81745" y="3346705"/>
            <a:ext cx="438910" cy="43891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30640" y="1028700"/>
            <a:ext cx="134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BF360C"/>
                </a:solidFill>
                <a:latin typeface="Apple SD Gothic Neo"/>
              </a:rPr>
              <a:t>2025
2월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08720" y="1851660"/>
            <a:ext cx="1584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CEFF1"/>
                </a:solidFill>
                <a:latin typeface="Apple SD Gothic Neo"/>
              </a:rPr>
              <a:t>Claude Code (CLI 에이전트) 공개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783825" y="3346705"/>
            <a:ext cx="438910" cy="43891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10800" y="4114800"/>
            <a:ext cx="1584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CEFF1"/>
                </a:solidFill>
                <a:latin typeface="Apple SD Gothic Neo"/>
              </a:rPr>
              <a:t>Multi-Agent 협업 표준화 (MCP)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20" y="5486400"/>
            <a:ext cx="134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E64A19"/>
                </a:solidFill>
                <a:latin typeface="Apple SD Gothic Neo"/>
              </a:rPr>
              <a:t>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274320"/>
            <a:ext cx="10363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1단계: 텍스트 Q&amp;A (ChatGPT 3.5, 2022)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274320"/>
            <a:ext cx="10363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2단계: 이미지·영상 생성 (DALL-E, Midjourney, Sora, 2023)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274320"/>
            <a:ext cx="10363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3단계: 에이전트·스킬 (GPT Plugins, Claude Tools, 2024)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274320"/>
            <a:ext cx="10363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4단계: CLI·코드 에이전트 (Claude Code, Cursor, 2025~)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274320"/>
            <a:ext cx="10363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진화 요약: 사용성 &amp; 자율성 확장 곡선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5360" y="1714500"/>
            <a:ext cx="243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Apple SD Gothic Ne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60" y="3291840"/>
            <a:ext cx="975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ple SD Gothic Neo"/>
              </a:rPr>
              <a:t>우리 업무는 어떻게 달라졌나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0" y="4663440"/>
            <a:ext cx="975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0BEC5"/>
                </a:solidFill>
                <a:latin typeface="Apple SD Gothic Neo"/>
              </a:rPr>
              <a:t>영업·마케팅·상품기획 실무 변화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" y="3017520"/>
            <a:ext cx="731520" cy="342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ple SD Gothic Neo"/>
              </a:rPr>
              <a:t>영업 워크플로우 혁신 — Before / After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364480" cy="521208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536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62828"/>
                </a:solidFill>
                <a:latin typeface="Apple SD Gothic Neo"/>
              </a:rPr>
              <a:t>😓  BEFORE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80" y="2057400"/>
            <a:ext cx="182880" cy="534924"/>
          </a:xfrm>
          <a:prstGeom prst="rect">
            <a:avLst/>
          </a:prstGeom>
          <a:solidFill>
            <a:srgbClr val="EF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40" y="2146554"/>
            <a:ext cx="451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71C1C"/>
                </a:solidFill>
                <a:latin typeface="Apple SD Gothic Neo"/>
              </a:rPr>
              <a:t>고객사 조사: 3~4시간 웹 서핑</a:t>
            </a:r>
          </a:p>
        </p:txBody>
      </p:sp>
      <p:sp>
        <p:nvSpPr>
          <p:cNvPr id="9" name="Rectangle 8"/>
          <p:cNvSpPr/>
          <p:nvPr/>
        </p:nvSpPr>
        <p:spPr>
          <a:xfrm>
            <a:off x="487680" y="2948940"/>
            <a:ext cx="182880" cy="534924"/>
          </a:xfrm>
          <a:prstGeom prst="rect">
            <a:avLst/>
          </a:prstGeom>
          <a:solidFill>
            <a:srgbClr val="EF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3440" y="3038094"/>
            <a:ext cx="451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71C1C"/>
                </a:solidFill>
                <a:latin typeface="Apple SD Gothic Neo"/>
              </a:rPr>
              <a:t>제안서 초안: 2~3일 작업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7680" y="3840480"/>
            <a:ext cx="182880" cy="534924"/>
          </a:xfrm>
          <a:prstGeom prst="rect">
            <a:avLst/>
          </a:prstGeom>
          <a:solidFill>
            <a:srgbClr val="EF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3440" y="3929634"/>
            <a:ext cx="451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71C1C"/>
                </a:solidFill>
                <a:latin typeface="Apple SD Gothic Neo"/>
              </a:rPr>
              <a:t>반론 예상 답변: 경험과 기억에 의존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680" y="4732020"/>
            <a:ext cx="182880" cy="534924"/>
          </a:xfrm>
          <a:prstGeom prst="rect">
            <a:avLst/>
          </a:prstGeom>
          <a:solidFill>
            <a:srgbClr val="EF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3440" y="4821174"/>
            <a:ext cx="451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71C1C"/>
                </a:solidFill>
                <a:latin typeface="Apple SD Gothic Neo"/>
              </a:rPr>
              <a:t>콜드메일: 1건 작성 30분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61760" y="1234440"/>
            <a:ext cx="5364480" cy="52120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1760" y="1234440"/>
            <a:ext cx="536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B5E20"/>
                </a:solidFill>
                <a:latin typeface="Apple SD Gothic Neo"/>
              </a:rPr>
              <a:t>🚀  AFTER (AI)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2057400"/>
            <a:ext cx="182880" cy="534924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39" y="2146554"/>
            <a:ext cx="451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5E20"/>
                </a:solidFill>
                <a:latin typeface="Apple SD Gothic Neo"/>
              </a:rPr>
              <a:t>고객사 AI 분석 리포트: 15분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2948940"/>
            <a:ext cx="182880" cy="534924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39" y="3038094"/>
            <a:ext cx="451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5E20"/>
                </a:solidFill>
                <a:latin typeface="Apple SD Gothic Neo"/>
              </a:rPr>
              <a:t>제안서 초안 AI 생성 → 검수: 2~3시간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3840480"/>
            <a:ext cx="182880" cy="534924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39" y="3929634"/>
            <a:ext cx="451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5E20"/>
                </a:solidFill>
                <a:latin typeface="Apple SD Gothic Neo"/>
              </a:rPr>
              <a:t>반론 대응 시나리오 10개 자동 생성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4732020"/>
            <a:ext cx="182880" cy="534924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39" y="4821174"/>
            <a:ext cx="451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5E20"/>
                </a:solidFill>
                <a:latin typeface="Apple SD Gothic Neo"/>
              </a:rPr>
              <a:t>콜드메일 맞춤형 10개 버전: 5분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47360" y="308610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E7D32"/>
                </a:solidFill>
                <a:latin typeface="Apple SD Gothic Neo"/>
              </a:rPr>
              <a:t>→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ple SD Gothic Neo"/>
              </a:rPr>
              <a:t>마케팅 워크플로우 혁신 — Before / After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364480" cy="521208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536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62828"/>
                </a:solidFill>
                <a:latin typeface="Apple SD Gothic Neo"/>
              </a:rPr>
              <a:t>😓  BEFORE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80" y="2057400"/>
            <a:ext cx="182880" cy="534924"/>
          </a:xfrm>
          <a:prstGeom prst="rect">
            <a:avLst/>
          </a:prstGeom>
          <a:solidFill>
            <a:srgbClr val="EF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40" y="2146554"/>
            <a:ext cx="451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71C1C"/>
                </a:solidFill>
                <a:latin typeface="Apple SD Gothic Neo"/>
              </a:rPr>
              <a:t>SNS 콘텐츠 1건: 기획~발행 1~2일</a:t>
            </a:r>
          </a:p>
        </p:txBody>
      </p:sp>
      <p:sp>
        <p:nvSpPr>
          <p:cNvPr id="9" name="Rectangle 8"/>
          <p:cNvSpPr/>
          <p:nvPr/>
        </p:nvSpPr>
        <p:spPr>
          <a:xfrm>
            <a:off x="487680" y="2948940"/>
            <a:ext cx="182880" cy="534924"/>
          </a:xfrm>
          <a:prstGeom prst="rect">
            <a:avLst/>
          </a:prstGeom>
          <a:solidFill>
            <a:srgbClr val="EF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3440" y="3038094"/>
            <a:ext cx="451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71C1C"/>
                </a:solidFill>
                <a:latin typeface="Apple SD Gothic Neo"/>
              </a:rPr>
              <a:t>이미지 제작: 디자이너 의뢰 2~3일 대기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7680" y="3840480"/>
            <a:ext cx="182880" cy="534924"/>
          </a:xfrm>
          <a:prstGeom prst="rect">
            <a:avLst/>
          </a:prstGeom>
          <a:solidFill>
            <a:srgbClr val="EF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3440" y="3929634"/>
            <a:ext cx="451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71C1C"/>
                </a:solidFill>
                <a:latin typeface="Apple SD Gothic Neo"/>
              </a:rPr>
              <a:t>카피라이팅 A/B 테스트: 수동 제작 제약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680" y="4732020"/>
            <a:ext cx="182880" cy="534924"/>
          </a:xfrm>
          <a:prstGeom prst="rect">
            <a:avLst/>
          </a:prstGeom>
          <a:solidFill>
            <a:srgbClr val="EF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3440" y="4821174"/>
            <a:ext cx="451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71C1C"/>
                </a:solidFill>
                <a:latin typeface="Apple SD Gothic Neo"/>
              </a:rPr>
              <a:t>트렌드 리포트: 주 1회 수동 정리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61760" y="1234440"/>
            <a:ext cx="5364480" cy="52120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1760" y="1234440"/>
            <a:ext cx="536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B5E20"/>
                </a:solidFill>
                <a:latin typeface="Apple SD Gothic Neo"/>
              </a:rPr>
              <a:t>🚀  AFTER (AI)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2057400"/>
            <a:ext cx="182880" cy="534924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39" y="2146554"/>
            <a:ext cx="451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5E20"/>
                </a:solidFill>
                <a:latin typeface="Apple SD Gothic Neo"/>
              </a:rPr>
              <a:t>SNS 콘텐츠 7일치 일괄 생성: 30분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2948940"/>
            <a:ext cx="182880" cy="534924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39" y="3038094"/>
            <a:ext cx="451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5E20"/>
                </a:solidFill>
                <a:latin typeface="Apple SD Gothic Neo"/>
              </a:rPr>
              <a:t>마케팅 이미지 즉시 생성·수정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3840480"/>
            <a:ext cx="182880" cy="534924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39" y="3929634"/>
            <a:ext cx="451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5E20"/>
                </a:solidFill>
                <a:latin typeface="Apple SD Gothic Neo"/>
              </a:rPr>
              <a:t>A/B 카피 50개 버전 자동 생성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4732020"/>
            <a:ext cx="182880" cy="534924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39" y="4821174"/>
            <a:ext cx="451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5E20"/>
                </a:solidFill>
                <a:latin typeface="Apple SD Gothic Neo"/>
              </a:rPr>
              <a:t>일간 트렌드 자동 수집·요약 에이전트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47360" y="308610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E7D32"/>
                </a:solidFill>
                <a:latin typeface="Apple SD Gothic Neo"/>
              </a:rPr>
              <a:t>→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ple SD Gothic Neo"/>
              </a:rPr>
              <a:t>상품기획 워크플로우 혁신 — Before / After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364480" cy="521208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536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62828"/>
                </a:solidFill>
                <a:latin typeface="Apple SD Gothic Neo"/>
              </a:rPr>
              <a:t>😓  BEFORE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80" y="2057400"/>
            <a:ext cx="182880" cy="534924"/>
          </a:xfrm>
          <a:prstGeom prst="rect">
            <a:avLst/>
          </a:prstGeom>
          <a:solidFill>
            <a:srgbClr val="EF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40" y="2146554"/>
            <a:ext cx="451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71C1C"/>
                </a:solidFill>
                <a:latin typeface="Apple SD Gothic Neo"/>
              </a:rPr>
              <a:t>경쟁사 분석: 주 8~10시간 리서치</a:t>
            </a:r>
          </a:p>
        </p:txBody>
      </p:sp>
      <p:sp>
        <p:nvSpPr>
          <p:cNvPr id="9" name="Rectangle 8"/>
          <p:cNvSpPr/>
          <p:nvPr/>
        </p:nvSpPr>
        <p:spPr>
          <a:xfrm>
            <a:off x="487680" y="2948940"/>
            <a:ext cx="182880" cy="534924"/>
          </a:xfrm>
          <a:prstGeom prst="rect">
            <a:avLst/>
          </a:prstGeom>
          <a:solidFill>
            <a:srgbClr val="EF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3440" y="3038094"/>
            <a:ext cx="451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71C1C"/>
                </a:solidFill>
                <a:latin typeface="Apple SD Gothic Neo"/>
              </a:rPr>
              <a:t>기획서 작성: 1~2주 소요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7680" y="3840480"/>
            <a:ext cx="182880" cy="534924"/>
          </a:xfrm>
          <a:prstGeom prst="rect">
            <a:avLst/>
          </a:prstGeom>
          <a:solidFill>
            <a:srgbClr val="EF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3440" y="3929634"/>
            <a:ext cx="451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71C1C"/>
                </a:solidFill>
                <a:latin typeface="Apple SD Gothic Neo"/>
              </a:rPr>
              <a:t>소비자 리뷰 분석: 수백 건 수동 읽기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680" y="4732020"/>
            <a:ext cx="182880" cy="534924"/>
          </a:xfrm>
          <a:prstGeom prst="rect">
            <a:avLst/>
          </a:prstGeom>
          <a:solidFill>
            <a:srgbClr val="EF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3440" y="4821174"/>
            <a:ext cx="451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71C1C"/>
                </a:solidFill>
                <a:latin typeface="Apple SD Gothic Neo"/>
              </a:rPr>
              <a:t>트렌드 예측: 리포트 구매 비용 발생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61760" y="1234440"/>
            <a:ext cx="5364480" cy="52120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1760" y="1234440"/>
            <a:ext cx="536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B5E20"/>
                </a:solidFill>
                <a:latin typeface="Apple SD Gothic Neo"/>
              </a:rPr>
              <a:t>🚀  AFTER (AI)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2057400"/>
            <a:ext cx="182880" cy="534924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39" y="2146554"/>
            <a:ext cx="451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5E20"/>
                </a:solidFill>
                <a:latin typeface="Apple SD Gothic Neo"/>
              </a:rPr>
              <a:t>경쟁사 가격·스펙 자동 크롤링 &amp; 비교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2948940"/>
            <a:ext cx="182880" cy="534924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39" y="3038094"/>
            <a:ext cx="451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5E20"/>
                </a:solidFill>
                <a:latin typeface="Apple SD Gothic Neo"/>
              </a:rPr>
              <a:t>기획서 초안 AI 생성 → 3일로 단축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3840480"/>
            <a:ext cx="182880" cy="534924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39" y="3929634"/>
            <a:ext cx="451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5E20"/>
                </a:solidFill>
                <a:latin typeface="Apple SD Gothic Neo"/>
              </a:rPr>
              <a:t>리뷰 수천 건 AI 감성 분석 &amp; 인사이트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4732020"/>
            <a:ext cx="182880" cy="534924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39" y="4821174"/>
            <a:ext cx="451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5E20"/>
                </a:solidFill>
                <a:latin typeface="Apple SD Gothic Neo"/>
              </a:rPr>
              <a:t>SNS·커뮤니티 트렌드 자동 모니터링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47360" y="308610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E7D32"/>
                </a:solidFill>
                <a:latin typeface="Apple SD Gothic Neo"/>
              </a:rPr>
              <a:t>→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5360" y="1714500"/>
            <a:ext cx="243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Apple SD Gothic Ne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60" y="3291840"/>
            <a:ext cx="975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ple SD Gothic Neo"/>
              </a:rPr>
              <a:t>실전 데모: AI로 만드는 콘텐츠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0" y="4663440"/>
            <a:ext cx="975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0BEC5"/>
                </a:solidFill>
                <a:latin typeface="Apple SD Gothic Neo"/>
              </a:rPr>
              <a:t>직접 보고, 직접 해보는 AI 활용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" y="3017520"/>
            <a:ext cx="731520" cy="342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274320"/>
            <a:ext cx="10363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실전 데모 목록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508760"/>
            <a:ext cx="1097280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1508760"/>
            <a:ext cx="97536" cy="98755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480" y="1706270"/>
            <a:ext cx="487680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A1B9A"/>
                </a:solidFill>
                <a:latin typeface="Apple SD Gothic Ne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1120" y="1656892"/>
            <a:ext cx="9753600" cy="691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Apple SD Gothic Neo"/>
              </a:rPr>
              <a:t>데모 1: 제품 소개 HTML 랜딩 페이지 30초 만들기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2564892"/>
            <a:ext cx="1097280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2564892"/>
            <a:ext cx="97536" cy="98755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480" y="2762402"/>
            <a:ext cx="487680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A1B9A"/>
                </a:solidFill>
                <a:latin typeface="Apple SD Gothic Neo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1120" y="2713024"/>
            <a:ext cx="9753600" cy="691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Apple SD Gothic Neo"/>
              </a:rPr>
              <a:t>데모 2: 마케팅 이미지 프롬프트 → 생성 결과 비교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3621024"/>
            <a:ext cx="1097280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" y="3621024"/>
            <a:ext cx="97536" cy="98755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480" y="3818534"/>
            <a:ext cx="487680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A1B9A"/>
                </a:solidFill>
                <a:latin typeface="Apple SD Gothic Neo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1120" y="3769156"/>
            <a:ext cx="9753600" cy="691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Apple SD Gothic Neo"/>
              </a:rPr>
              <a:t>데모 3: 상품 기획서 초안 → AI 리뷰 → 완성본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" y="4677156"/>
            <a:ext cx="1097280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600" y="4677156"/>
            <a:ext cx="97536" cy="98755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480" y="4874666"/>
            <a:ext cx="487680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A1B9A"/>
                </a:solidFill>
                <a:latin typeface="Apple SD Gothic Ne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1120" y="4825288"/>
            <a:ext cx="9753600" cy="691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Apple SD Gothic Neo"/>
              </a:rPr>
              <a:t>데모 4: 에이전트로 경쟁사 가격 자동 수집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600" y="5733288"/>
            <a:ext cx="1097280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600" y="5733288"/>
            <a:ext cx="97536" cy="98755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2480" y="5930798"/>
            <a:ext cx="487680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A1B9A"/>
                </a:solidFill>
                <a:latin typeface="Apple SD Gothic Neo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1120" y="5881420"/>
            <a:ext cx="9753600" cy="691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Apple SD Gothic Neo"/>
              </a:rPr>
              <a:t>데모 5: 이 강의 자료도 AI가 만들었다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5360" y="1714500"/>
            <a:ext cx="243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Apple SD Gothic Neo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60" y="3291840"/>
            <a:ext cx="975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ple SD Gothic Neo"/>
              </a:rPr>
              <a:t>AI 에이전트: 자동화의 미래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0" y="4663440"/>
            <a:ext cx="975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0BEC5"/>
                </a:solidFill>
                <a:latin typeface="Apple SD Gothic Neo"/>
              </a:rPr>
              <a:t>당신의 AI 팀원을 설계하는 법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" y="3017520"/>
            <a:ext cx="731520" cy="342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실무 AI 에이전트 예시</a:t>
            </a:r>
          </a:p>
        </p:txBody>
      </p:sp>
      <p:sp>
        <p:nvSpPr>
          <p:cNvPr id="5" name="Rectangle 4"/>
          <p:cNvSpPr/>
          <p:nvPr/>
        </p:nvSpPr>
        <p:spPr>
          <a:xfrm>
            <a:off x="487680" y="1371600"/>
            <a:ext cx="3413760" cy="37719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7680" y="1371600"/>
            <a:ext cx="3413760" cy="565785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447038"/>
            <a:ext cx="3072384" cy="5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ple SD Gothic Neo"/>
              </a:rPr>
              <a:t>주간 경쟁사 리포트 에이전트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25980"/>
            <a:ext cx="3072384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CAF9"/>
                </a:solidFill>
                <a:latin typeface="Apple SD Gothic Neo"/>
              </a:rPr>
              <a:t>👤 상품기획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578608"/>
            <a:ext cx="3072384" cy="942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  <a:latin typeface="Apple SD Gothic Neo"/>
              </a:rPr>
              <a:t>매주 월요일 주요 경쟁사 가격·리뷰 자동 수집 및 요약 메일 발송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634740"/>
            <a:ext cx="3072384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0DEEA"/>
                </a:solidFill>
                <a:latin typeface="Apple SD Gothic Neo"/>
              </a:rPr>
              <a:t>🔧 Playwright · Claude API · Gmail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162806"/>
            <a:ext cx="3072384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5D6A7"/>
                </a:solidFill>
                <a:latin typeface="Apple SD Gothic Neo"/>
              </a:rPr>
              <a:t>📤 경쟁사 주간 변동 리포트 PDF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06624" y="4653153"/>
            <a:ext cx="1024128" cy="37719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06624" y="4653153"/>
            <a:ext cx="1024128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중급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371600"/>
            <a:ext cx="3413760" cy="37719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371600"/>
            <a:ext cx="3413760" cy="565785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9808" y="1447038"/>
            <a:ext cx="3072384" cy="5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ple SD Gothic Neo"/>
              </a:rPr>
              <a:t>SNS 콘텐츠 파이프라인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9808" y="2125980"/>
            <a:ext cx="3072384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CAF9"/>
                </a:solidFill>
                <a:latin typeface="Apple SD Gothic Neo"/>
              </a:rPr>
              <a:t>👤 마케팅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9808" y="2578608"/>
            <a:ext cx="3072384" cy="942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  <a:latin typeface="Apple SD Gothic Neo"/>
              </a:rPr>
              <a:t>제품 특성 입력 → 7일치 SNS 카피·이미지 프롬프트 일괄 생성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9808" y="3634740"/>
            <a:ext cx="3072384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0DEEA"/>
                </a:solidFill>
                <a:latin typeface="Apple SD Gothic Neo"/>
              </a:rPr>
              <a:t>🔧 Claude API · DALL-E 3 · Buffer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9808" y="4162806"/>
            <a:ext cx="3072384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5D6A7"/>
                </a:solidFill>
                <a:latin typeface="Apple SD Gothic Neo"/>
              </a:rPr>
              <a:t>📤 주간 SNS 콘텐츠 캘린더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8064" y="4653153"/>
            <a:ext cx="1024128" cy="37719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8064" y="4653153"/>
            <a:ext cx="1024128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초급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90560" y="1371600"/>
            <a:ext cx="3413760" cy="37719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90560" y="1371600"/>
            <a:ext cx="3413760" cy="565785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61248" y="1447038"/>
            <a:ext cx="3072384" cy="5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ple SD Gothic Neo"/>
              </a:rPr>
              <a:t>고객 제안서 자동 생성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61248" y="2125980"/>
            <a:ext cx="3072384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CAF9"/>
                </a:solidFill>
                <a:latin typeface="Apple SD Gothic Neo"/>
              </a:rPr>
              <a:t>👤 영업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61248" y="2578608"/>
            <a:ext cx="3072384" cy="942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  <a:latin typeface="Apple SD Gothic Neo"/>
              </a:rPr>
              <a:t>고객사명 입력 → 맞춤형 제안서 초안 + 반론 대응 시나리오 자동 생성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61248" y="3634740"/>
            <a:ext cx="3072384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0DEEA"/>
                </a:solidFill>
                <a:latin typeface="Apple SD Gothic Neo"/>
              </a:rPr>
              <a:t>🔧 Claude API · python-pptx · CRM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61248" y="4162806"/>
            <a:ext cx="3072384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5D6A7"/>
                </a:solidFill>
                <a:latin typeface="Apple SD Gothic Neo"/>
              </a:rPr>
              <a:t>📤 고객 맞춤 제안서 PPTX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09504" y="4653153"/>
            <a:ext cx="1024128" cy="37719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09504" y="4653153"/>
            <a:ext cx="1024128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초급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5360" y="1714500"/>
            <a:ext cx="243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Apple SD Gothic Neo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60" y="3291840"/>
            <a:ext cx="975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ple SD Gothic Neo"/>
              </a:rPr>
              <a:t>지금 당장 시작하는 AI 워크플로우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0" y="4663440"/>
            <a:ext cx="975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0BEC5"/>
                </a:solidFill>
                <a:latin typeface="Apple SD Gothic Neo"/>
              </a:rPr>
              <a:t>내일부터 써먹는 실전 로드맵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" y="3017520"/>
            <a:ext cx="731520" cy="342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274320"/>
            <a:ext cx="10363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지금 당장 시작하는 AI 워크플로우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508760"/>
            <a:ext cx="1097280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1508760"/>
            <a:ext cx="97536" cy="987552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480" y="1706270"/>
            <a:ext cx="487680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D40"/>
                </a:solidFill>
                <a:latin typeface="Apple SD Gothic Ne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1120" y="1656892"/>
            <a:ext cx="9753600" cy="691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Apple SD Gothic Neo"/>
              </a:rPr>
              <a:t>AI 도구 선택 기준: 역할별 추천 도구 매트릭스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2564892"/>
            <a:ext cx="1097280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2564892"/>
            <a:ext cx="97536" cy="987552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480" y="2762402"/>
            <a:ext cx="487680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D40"/>
                </a:solidFill>
                <a:latin typeface="Apple SD Gothic Neo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1120" y="2713024"/>
            <a:ext cx="9753600" cy="691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Apple SD Gothic Neo"/>
              </a:rPr>
              <a:t>30일 실전 플랜: 영업 / 마케팅 / 상품기획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3621024"/>
            <a:ext cx="1097280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" y="3621024"/>
            <a:ext cx="97536" cy="987552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480" y="3818534"/>
            <a:ext cx="487680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D40"/>
                </a:solidFill>
                <a:latin typeface="Apple SD Gothic Neo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1120" y="3769156"/>
            <a:ext cx="9753600" cy="691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Apple SD Gothic Neo"/>
              </a:rPr>
              <a:t>프롬프트 잘 쓰는 법: TRIE 공식 (Task-Role-Input-Expectation)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" y="4677156"/>
            <a:ext cx="1097280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600" y="4677156"/>
            <a:ext cx="97536" cy="987552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480" y="4874666"/>
            <a:ext cx="487680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D40"/>
                </a:solidFill>
                <a:latin typeface="Apple SD Gothic Ne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1120" y="4825288"/>
            <a:ext cx="9753600" cy="691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Apple SD Gothic Neo"/>
              </a:rPr>
              <a:t>조직 도입 시 주의사항: 보안·저작권·환각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600" y="5733288"/>
            <a:ext cx="1097280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600" y="5733288"/>
            <a:ext cx="97536" cy="987552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2480" y="5930798"/>
            <a:ext cx="487680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D40"/>
                </a:solidFill>
                <a:latin typeface="Apple SD Gothic Neo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1120" y="5881420"/>
            <a:ext cx="9753600" cy="691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Apple SD Gothic Neo"/>
              </a:rPr>
              <a:t>마무리: AI는 대체가 아닌 증폭 — Q&amp;A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19200" y="1371600"/>
            <a:ext cx="97536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pple SD Gothic Neo"/>
              </a:rPr>
              <a:t>AI는 대체가 아닌 증폭입니다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2606040"/>
            <a:ext cx="975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B0BEC5"/>
                </a:solidFill>
                <a:latin typeface="Apple SD Gothic Neo"/>
              </a:rPr>
              <a:t>더 빠르게, 더 많이, 더 창의적으로
당신의 강점을 AI로 증폭시키세요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38400" y="4114800"/>
            <a:ext cx="7315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ECEFF1"/>
                </a:solidFill>
                <a:latin typeface="Apple SD Gothic Neo"/>
              </a:rPr>
              <a:t>⚡  반복 업무는 AI에게 — 판단은 당신이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38400" y="4800600"/>
            <a:ext cx="7315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ECEFF1"/>
                </a:solidFill>
                <a:latin typeface="Apple SD Gothic Neo"/>
              </a:rPr>
              <a:t>🎯  작은 자동화부터 시작해 습관 만들기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8400" y="5486400"/>
            <a:ext cx="7315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ECEFF1"/>
                </a:solidFill>
                <a:latin typeface="Apple SD Gothic Neo"/>
              </a:rPr>
              <a:t>🤝  AI와 협업하는 능력이 핵심 역량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6035040"/>
            <a:ext cx="975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6F00"/>
                </a:solidFill>
                <a:latin typeface="Apple SD Gothic Neo"/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