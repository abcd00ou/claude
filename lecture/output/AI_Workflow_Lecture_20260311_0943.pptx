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48768" cy="397763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371600"/>
            <a:ext cx="48768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4ED8"/>
                </a:solidFill>
                <a:latin typeface="Apple SD Gothic Neo"/>
              </a:rPr>
              <a:t>INSIGHT REPORT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05740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0462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" y="4937760"/>
            <a:ext cx="73152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609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AI Strategy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2080" y="3086100"/>
            <a:ext cx="268224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2080" y="315468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D4ED8"/>
                </a:solidFill>
                <a:latin typeface="Apple SD Gothic Neo"/>
              </a:rPr>
              <a:t>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2080" y="3566160"/>
            <a:ext cx="26822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ple SD Gothic Neo"/>
              </a:rPr>
              <a:t>B2C 영업
마케팅
상품기획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강의 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195453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ED8"/>
                </a:solidFill>
                <a:latin typeface="Apple SD Gothic Neo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880" y="202311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0720" y="197510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0720" y="229743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462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84607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6B4F"/>
                </a:solidFill>
                <a:latin typeface="Apple SD Gothic Neo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880" y="291465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0720" y="286664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0720" y="318897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3474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" y="373761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D28D9"/>
                </a:solidFill>
                <a:latin typeface="Apple SD Gothic Neo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6880" y="380619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0720" y="375818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720" y="408051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5770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440" y="462915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Apple SD Gothic Neo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6880" y="469773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0720" y="464972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720" y="497205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1782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52069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7490"/>
                </a:solidFill>
                <a:latin typeface="Apple SD Gothic Neo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880" y="558927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0720" y="554126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0720" y="586359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24078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CHAPTER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AI란 무엇인가? — 3가지 비유로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검색 → 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3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3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Google에게 '제안서 써줘'라고 해도 결과 없음.
AI는 해당 요청을 이해하고 실제로 작성해 줌.
→ 도구가 아닌 협업 파트너로의 전환.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76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10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타이핑 → 말하기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스마트폰 등장 전 우리는 모두 버튼을 눌렀다.
AI는 자연어로 명령하는 시대를 열었다.
→ 누구나 전문 도구를 쓸 수 있는 시대.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00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34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41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41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도구 → 동료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41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41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엑셀은 시킨 것만 한다. 창의성 없음.
AI 에이전트는 목표를 주면 스스로 계획 실행.
→ '경쟁사 분석해줘' → 크롤링·분석·정리 자동.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ChatGPT 사용자 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6083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39" y="1371600"/>
            <a:ext cx="463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39" y="1988819"/>
            <a:ext cx="438912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39" y="219456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0" y="226314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ChatGPT 출시 5일 만에 100만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39" y="332613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0" y="339471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2개월 만에 1억 명 → 역사상 최단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39" y="445770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3280" y="452628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현재 전 세계 월간 사용자 2억 명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603504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출처: UBS 2023 / OpenAI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AI 진화 타임라인 — 2022 →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질문-답변 → 이미지 생성 → 에이전트 → CLI 자율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566160"/>
            <a:ext cx="10972800" cy="2057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03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0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6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32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19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1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72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48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64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64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35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3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288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80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80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64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51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48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04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80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96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96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67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64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20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12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12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96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83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36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12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28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28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99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39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52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44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44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28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015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11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868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844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260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60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D4ED8"/>
                </a:solidFill>
                <a:latin typeface="Apple SD Gothic Neo"/>
              </a:rPr>
              <a:t>Phase 1
Q&amp;A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9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6B4F"/>
                </a:solidFill>
                <a:latin typeface="Apple SD Gothic Neo"/>
              </a:rPr>
              <a:t>Phase 2
이미지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7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D28D9"/>
                </a:solidFill>
                <a:latin typeface="Apple SD Gothic Neo"/>
              </a:rPr>
              <a:t>Phase 3
에이전트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19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1C1C"/>
                </a:solidFill>
                <a:latin typeface="Apple SD Gothic Neo"/>
              </a:rPr>
              <a:t>Phase 4
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1~2 — 텍스트·이미지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💬 Phase 1 (2022~) 텍스트 Q&amp;A: ChatGPT 등장 → '검색'에서 '대화'로 패러다임 전환. 2개월 만에 1억 명 달성.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🖼️ Phase 2 (2023~) 멀티모달: GPT-4 이미지 이해 → 텍스트와 이미지를 동시에 분석·생성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🎨 이미지 생성 (2023~): Midjourney·DALL-E 3 → 프롬프트 하나로 전문 수준 비주얼 즉시 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📊 임팩트: 스톡 이미지 시장 40% 감소, 콘텐츠 제작 비용 60~80% 절감 (Shutterstock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3~4 — 에이전트·CLI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🔌 Phase 3 (2023~) 에이전트 v1: GPT Plugins → AI가 외부 도구에 연결해 자율 검색·실행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🎬 영상 생성 (2024~): Sora → 텍스트로 고품질 영상 생성. 광고·데모 영상 90% 비용 절감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🖱️ Phase 3.5 (2024~) Computer Use: Claude가 화면을 보고 PC를 직접 조작. RPA 시장 패러다임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⚡ Phase 4 (2025~) CLI 에이전트: Claude Code → 터미널에서 자연어로 전체 파이프라인 자동화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AI가 만들어내는 경제적 가치 — 글로벌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36448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McKinsey Global Institute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165860"/>
            <a:ext cx="536448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176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Microsoft Work Trend Index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CH1 — AI 진화 단계별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 / 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배치 이메일 분류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수백 건의 고객 이메일을 한 번에 입력 → 우선순위·카테고리 자동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분류된 이메일 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웹 검색 뉴스 리포터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키워드 설정 → 매일 오전 관련 뉴스 자동 수집·요약 메일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Perplexity  ·  Gmail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업계 뉴스 요약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데이터 파이프라인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CSV 수신 → 자동 분석 → 차트 생성 → 대시보드 업데이트까지 자율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Code  ·  pandas  ·  matplotlib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자동 분석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고급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B4F"/>
                </a:solidFill>
                <a:latin typeface="Apple SD Gothic Neo"/>
              </a:rPr>
              <a:t>CHAPTER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28%↓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행정 업무 시간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51%↑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거래 성사율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제안서 초안 제작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Salesforce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2배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아웃리치 응답률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Outreach.io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영업 준비 자동화 에이전트 — 미팅 일정 등록 시 고객사 분석 리포트 + 반론 시나리오 자동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영업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영업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콜드 아웃리치 맞춤화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고객 리스트 CSV 업로드 → 각 고객별 맞춤 이메일 50개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HubSpot API  ·  LinkedIn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개인화 이메일 50개 초안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영업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성과 분석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CRM 데이터 주간 분석 → 성과 패턴 인사이트 + 액션 아이템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Salesforce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영업 인사이트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콘텐츠 제작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Jasper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A/B 카피 생성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벤치마크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광고 클릭률(CTR)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Persado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마케터 생산성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SNS 콘텐츠 파이프라인 에이전트 — 매주 금요일 7일치 SNS 카피 21개 + 이미지 프롬프트 자동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마케팅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테스트 자동화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USP 입력 → 50개 광고 카피 변형 생성 → Meta API 자동 업로드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변형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트렌드 모니터링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SNS·커뮤니티·뉴스 스캔 → 트렌드 키워드 + 콘텐츠 기회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Slack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트렌드 알림 + 콘텐츠 아이디어 3개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1,000배↑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처리 가능 데이터 규모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McKinsey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3~6개월↑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트렌드 조기 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Gartner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10시간→1시간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경쟁사 분석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2주→3일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기획서 작성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경쟁사 인텔리전스 에이전트 — 매일 오전 경쟁사 가격·스펙 자동 수집 → 변동 감지 시 즉시 Slack 알림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상품기획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상품기획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리뷰 인사이트 추출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Amazon/Coupang 리뷰 1,000건 수집 → 불만 유형 분류 + 개선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리뷰 감성 분석 리포트 + TOP10 불만 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기획서 초안 생성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카테고리 + 타깃 고객 입력 → 시장 분석·포지셔닝·로드맵 초안 자동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python-pptx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기획서 초안 PPT (10~15슬라이드)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3개 직무 공통 AI 자동화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영업·마케팅·상품기획 모두 동일한 3가지 패턴으로 생산성이 향상됩니다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반복 업무 자동화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9328" y="3001060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정기 리포트 자동 생성·발송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4027016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데이터 수집 자동 크롤링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28" y="5052972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0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문서·제안서 초안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76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10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1040" y="150876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데이터 분석 가속화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3001060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24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대용량 리뷰·데이터 즉시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027016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24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트렌드 3~6개월 조기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5052972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24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경쟁사 인텔리전스 자동화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100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34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3440" y="150876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콘텐츠 대량 생산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41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4128" y="3001060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기획서/제안서 초안: 수 시간→수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4128" y="4027016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SNS 7일치 콘텐츠 30분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4128" y="5052972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148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A/B 변형 50개 즉시 생성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pple SD Gothic Neo"/>
              </a:rPr>
              <a:t>CHAPTER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1950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2572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04288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276856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276856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74366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24988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346704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319272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319272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6782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67404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389120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361688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361688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59198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09820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016" y="5431536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" y="5404104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3440" y="5404104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01614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52236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1: 제품 소개 랜딩 페이지 30초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프롬프트 하나로 완성된 HTML 랜딩 페이지 즉시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히어로 · 특징 3가지 · Before-After · CTA 자동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'색상을 파란색으로 바꿔줘' → 자연어로 즉시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결과: 기존 2~3일 → 30초 (360배 빠름, 비용 $0)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728960" cy="150876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60960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60" y="5006340"/>
            <a:ext cx="2438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사용 프롬프트: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" y="54178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"[제품명] 소개 랜딩 페이지를 HTML로 만들어줘. 히어로 섹션, 특징 3가지, Before/After 비교, CTA 포함. 다크 배경에 오렌지 포인트 컬러, 모바일 반응형."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2: AI 이미지 생성 — 프롬프트 품질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❌ 나쁜 프롬프트: 'SSD 사진' → 평범한 스톡 이미지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좋은 프롬프트: 'Modern NVMe SSD floating, electric blue particles, 8K, studio lighting, premium tech aesthetic' → 광고 수준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핵심: 스타일·조명·분위기 키워드가 결과를 10배 바꾼다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도구별: DALL-E 3 (한국어 OK), Midjourney (최고품질), Firefly (상업용 안전)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CH3 — 데모 자동화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랜딩 페이지 배치 생성기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목록 CSV 업로드 → 각 제품별 HTML 랜딩 페이지 일괄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Jinja2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제품별 HTML 랜딩 페이지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카피 자동 테스트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광고 소재 업로드 → 50개 변형 생성 → Meta/Google Ads API 자동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콘텐츠 품질 검수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AI 생성 콘텐츠 → 브랜드 가이드라인 체크 → 승인/거절/수정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Custom Rules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품질 검수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ple SD Gothic Neo"/>
              </a:rPr>
              <a:t>CHAPTER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에이전트란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165860"/>
            <a:ext cx="5120640" cy="1508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16586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1B1B"/>
                </a:solidFill>
                <a:latin typeface="Apple SD Gothic Neo"/>
              </a:rPr>
              <a:t>일반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질문에 답하는 기계
한 번에 하나의 답변만 생성
외부 도구 사용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760" y="1165860"/>
            <a:ext cx="5120640" cy="1508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1760" y="116586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F46"/>
                </a:solidFill>
                <a:latin typeface="Apple SD Gothic Neo"/>
              </a:rPr>
              <a:t>AI 에이전트 (Claude Code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목표를 주면 스스로 계획하고 실행
다단계 작업을 자율 처리
외부 도구·인터넷·코드 사용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15087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F360C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10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ple SD Gothic Neo"/>
              </a:rPr>
              <a:t>Tool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인터넷 검색, 파일 읽기, 코드 실행, API 호출 등 외부 도구를 직접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76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10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1040" y="438912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41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34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B4F"/>
                </a:solidFill>
                <a:latin typeface="Apple SD Gothic Neo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8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이전 대화와 작업을 기억. 문맥을 유지하며 일관된 다단계 작업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00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3440" y="438912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65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58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ple SD Gothic Neo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82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큰 목표를 작은 단계로 자동 분해하고 순서대로 실행하는 계획 능력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에이전트 실행 메커니즘 — 6단계 루프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53492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492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486400"/>
            <a:ext cx="1048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실제 사례: "경쟁사 가격 분석 리포트 만들어줘" →  에이전트가 URL 확인 → 크롤링 → 정리 → 비교 분석 → PDF 생성 → 이메일 발송까지 자동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코딩 없이 에이전트 만들기 — 노코드 3대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F00"/>
                </a:solidFill>
                <a:latin typeface="Apple SD Gothic Neo"/>
              </a:rPr>
              <a:t>⚡  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3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7,000개 이상 앱 연결
드래그&amp;드롭 자동화
가장 많이 쓰이는 노코드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00"/>
                </a:solidFill>
                <a:latin typeface="Apple SD Gothic Neo"/>
              </a:rPr>
              <a:t>최적 용도: 영업 알림·CRM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Gmail 수신 → Claude 요약 → Notion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월$19.99~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76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10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6D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00CC"/>
                </a:solidFill>
                <a:latin typeface="Apple SD Gothic Neo"/>
              </a:rPr>
              <a:t>🔗  Make (Integromat)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복잡한 워크플로우 시각화
Zapier 대비 저렴한 가격
데이터 가공 유연성 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00CC"/>
                </a:solidFill>
                <a:latin typeface="Apple SD Gothic Neo"/>
              </a:rPr>
              <a:t>최적 용도: 마케팅 콘텐츠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신제품 등록 → SNS 카피 생성 → Buffer 예약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월$9~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00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34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41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🤖  Claude / ChatGPT 직접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1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대화형 프롬프트만으로
별도 설정 없이 즉시 사용
가장 낮은 진입 장벽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41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최적 용도: 상품기획·문서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41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경쟁사 URL 붙여넣기 → 분석 + 기획서 초안 즉시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41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41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월$20~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CH4 — 직무별 에이전트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지금 당장 첫 번째 에이전트 만들기 — 5단계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9056" y="12687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480" y="12344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480" y="1234440"/>
            <a:ext cx="6096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304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반복 업무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17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매주 하는 작업 중 '자동화하면 좋겠다' 싶은 것 1개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" y="22974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80" y="22631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80" y="2263140"/>
            <a:ext cx="60960" cy="96012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591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입력·출력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104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'무엇을 넣으면 → 무엇이 나와야 하는가' 명확히 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056" y="33261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" y="32918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480" y="3291840"/>
            <a:ext cx="60960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78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필요 도구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391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검색? 이메일? CRM? 파일 읽기? 필요한 도구 목록 메모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056" y="43548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2480" y="43205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480" y="4320540"/>
            <a:ext cx="60960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165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AI에게 설계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678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"내 업무는 ~이야. 이걸 자동화하는 에이전트 만들어줘" 그대로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056" y="53835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2480" y="53492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2480" y="5349240"/>
            <a:ext cx="60960" cy="960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52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테스트 → 개선 반복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965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처음엔 70점이어도 OK — 피드백으로 점진적 개선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Apple SD Gothic Neo"/>
              </a:rPr>
              <a:t>CHAPTER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직무별 AI 도구 추천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영업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8021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제안서 초안, 이메일 맞춤화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7749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3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고객사 실시간 리서치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7477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3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Notion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미팅 노트 요약, CRM 메모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7205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Gong.io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영업 콜 AI 분석 + 코칭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10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1040" y="168021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카피라이팅, A/B 테스트 문구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10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11040" y="277749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DALL-E 3 / Midjourney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마케팅 이미지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10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1040" y="387477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Canva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SNS 비주얼 빠른 제작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10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1040" y="497205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Jasper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대량 콘텐츠 자동 생성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34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73440" y="168021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41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41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기획서 초안, 리뷰 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4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73440" y="277749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41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41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트렌드 리서치, 경쟁사 조사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734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73440" y="387477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41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ChatGPT + Code Interpreter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41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데이터 분석, 차트 생성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734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3440" y="497205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41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41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크롤링 에이전트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TRIE 프롬프트 공식 — 4요소로 AI 품질 10배 향상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500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77940"/>
            <a:ext cx="10728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이 4가지 공식은 ChatGPT, Claude, Gemini 등 모든 AI 서비스에 동일하게 적용됩니다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나쁜 프롬프트 vs TRIE 공식 적용 — 실전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658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80" y="13222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[영업] 잘못된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8434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"제안서 써줘"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79" y="21561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658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658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3222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응답 품질 5배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17652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IT 솔루션 영업 전문가입니다.
[과제] 삼성전자 물류팀을 위한 SaaS 솔루션 제안서 초안을 작성해주세요.
[입력] 예산: 연 2억, 도입 목적: 물류 효율화, 담당자: 구매팀 김과장
[기대] 5페이지 분량, 핵심 가치 3가지, ROI 수치 포함, 한국어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090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090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" y="40654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[마케팅] 잘못된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" y="45866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"SNS 글 써줘"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79" y="48993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9090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9090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1040" y="40654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전환율 +18% 기대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40" y="45084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MZ세대 디지털 마케터입니다.
[과제] 무선이어폰 출시 인스타그램 피드 카피 3개 버전을 작성해주세요.
[입력] 제품명: SoundX Pro, 타깃: 20~30대 직장인, 강점: 35시간 배터리
[기대] 각 150자 이내, 해시태그 5개, 구매 유도 CTA 포함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30일 AI 온보딩 로드맵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486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4078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처음부터 완벽하지 않아도 됩니다. 매주 1개씩 실행하면 30일 후 완전히 다른 업무 환경이 만들어집니다.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도입 시 반드시 알아야 할 4가지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425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1165860"/>
            <a:ext cx="5364480" cy="3429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786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Apple SD Gothic Neo"/>
              </a:rPr>
              <a:t>보안 &amp; 개인정보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고객 개인정보·내부 기밀을 공개 AI 서비스에 직접 입력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데이터 익명화 처리 후 입력 / 사내 전용 AI 환경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833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1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760" y="1165860"/>
            <a:ext cx="5364480" cy="3429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33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©️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194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저작권 &amp; 상업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633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633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633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생성 이미지·텍스트의 상업적 사용 시 라이선스 확인 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633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633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Adobe Firefly(상업용 안전 설계) 우선 사용 / 출처 기록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25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768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" y="3977639"/>
            <a:ext cx="5364480" cy="342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786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환각(Hallucination)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AI가 사실처럼 들리는 잘못된 수치·정보를 만들어낼 수 있음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수치·출처 포함 내용은 반드시 팩트체크 후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833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61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760" y="3977639"/>
            <a:ext cx="5364480" cy="3429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633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194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Apple SD Gothic Neo"/>
              </a:rPr>
              <a:t>편향성 &amp; 공정성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33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633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633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학습 데이터의 편향으로 특정 집단에 불공정 결과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633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633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다양한 관점 검토 / 최종 판단은 반드시 사람이 내릴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CH5 — 로드맵 실행 지원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전 직무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학습 진도 트래커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AI 활용 일지 작성 → Notion 자동 기록 → 주간 진도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Notion API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AI 활용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전 직무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프롬프트 품질 개선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작성한 프롬프트 → TRIE 공식 준수 체크 → 자동 개선안 3개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개선된 프롬프트 3개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전 직무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AI 도입 ROI 측정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업무 시간 로그 기록 → AI 절감 시간 계산 → 월간 효과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Google Sheets API  ·  Gmail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월간 ROI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34440"/>
            <a:ext cx="4876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371600"/>
            <a:ext cx="853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1988819"/>
            <a:ext cx="975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34290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Apple SD Gothic Neo"/>
              </a:rPr>
              <a:t>반복 업무는 AI에게, 창의적 판단은 당신에게.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" y="4251960"/>
            <a:ext cx="609600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44577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01  반복 업무 자동화로 고부가 업무에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5074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02  작은 자동화부터 시작해 점진적으로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56921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03  AI와 협업하는 역량이 2026년의 핵심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4ED8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40" y="2880360"/>
            <a:ext cx="731520" cy="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880" y="2880360"/>
            <a:ext cx="487680" cy="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16480" y="2880360"/>
            <a:ext cx="243840" cy="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12344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ple SD Gothic Neo"/>
              </a:rPr>
              <a:t>APPENDIX — AI 기술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8516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ple SD Gothic Neo"/>
              </a:rPr>
              <a:t>AI는 어떻게 작동하는가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315468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0A5FA"/>
                </a:solidFill>
                <a:latin typeface="Apple SD Gothic Neo"/>
              </a:rPr>
              <a:t>GPU · Transformer · 토큰 · 메모리 · 스케일링 · 멀티모달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3977639"/>
            <a:ext cx="95097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비전문가도 이해하는 AI 구동 원리 — 비용·속도·한계를 결정하는 핵심 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40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48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GPU·하드웨어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9904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9912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Transformer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6368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6376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학습 vs 추론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2832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2840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스케일링 법칙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9296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9304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토큰·컨텍스트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60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5768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메모리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2224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2232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멀티모달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38688" y="4937760"/>
            <a:ext cx="1219200" cy="54864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8696" y="5109210"/>
            <a:ext cx="1097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Apple SD Gothic Neo"/>
              </a:rPr>
              <a:t>2026 최전선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GPU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왜 AI는 GPU가 필요한가?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14500"/>
            <a:ext cx="7071359" cy="32232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714500"/>
            <a:ext cx="36576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0560" y="185166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0A5FA"/>
                </a:solidFill>
                <a:latin typeface="Apple SD Gothic Neo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5166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속도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0560" y="2331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 SD Gothic Neo"/>
              </a:rPr>
              <a:t>GPU가 CPU 대비
100~1,000배 빠름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291840"/>
            <a:ext cx="3657600" cy="1371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342900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4D399"/>
                </a:solidFill>
                <a:latin typeface="Apple SD Gothic Neo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2900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Apple SD Gothic Neo"/>
              </a:rPr>
              <a:t>핵심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39090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ple SD Gothic Neo"/>
              </a:rPr>
              <a:t>행렬 곱셈을 수천 개 코어가
동시에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869180"/>
            <a:ext cx="3657600" cy="11658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5006340"/>
            <a:ext cx="1219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87171"/>
                </a:solidFill>
                <a:latin typeface="Apple SD Gothic Neo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006340"/>
            <a:ext cx="304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Apple SD Gothic Neo"/>
              </a:rPr>
              <a:t>비유로 이해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5417820"/>
            <a:ext cx="32918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ChatGPT 답변 1번
≈ A4 수만 장 행렬 곱셈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AI 하드웨어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GPU 성능: 2012~2025, 5,600배 향상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36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GTX 580 (1.6 TFLOPS) → NVIDIA B200 (9,000 TFLOPS) — 로그 스케일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057400"/>
            <a:ext cx="1121664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7680" y="6103620"/>
            <a:ext cx="1121664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06490"/>
            <a:ext cx="1072896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Apple SD Gothic Neo"/>
              </a:rPr>
              <a:t>NVIDIA 시장 점유율 70~80%  |  H100 개당 $$~100M — CUDA 에코시스템 — 10년 이상 AI 연구자가 쌓아온 코드·라이브러리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Transformer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Transformer: 모든 현대 AI의 기반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7340"/>
            <a:ext cx="107289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680210"/>
            <a:ext cx="102412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📌  2017년 Google 'Attention Is All You Need' 논문. 현재 GPT·Claude·Gemini 모두의 기반.   |   핵심: 단어(토큰) 간 '관계의 중요도'를 계산하는 Self-Attention 메커니즘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2400300"/>
            <a:ext cx="2438400" cy="2606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44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임베딩 (Embedding)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5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'고양이'→[0.23, -0.71, ...] 3,000차원 숫자 배열로 변환. 의미가 비슷한 단어는 가까운 벡터.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5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5680" y="2400300"/>
            <a:ext cx="2438400" cy="260604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568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68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Self-Attention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9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각 토큰이 다른 모든 토큰과의 '관련도 점수' 계산. '그것'이 '고양이'를 가리키는지 파악하는 핵심.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99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00300"/>
            <a:ext cx="2438400" cy="26060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피드포워드 (FFN)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3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Attention 결과를 변환·압축. 모델의 '지식'이 주로 여기 저장됨. 레이어당 두 개의 선형 변환.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38" y="3703314"/>
            <a:ext cx="12" cy="1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00160" y="2400300"/>
            <a:ext cx="2438400" cy="2606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0160" y="2400300"/>
            <a:ext cx="2438400" cy="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0160" y="260604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ple SD Gothic Neo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0168" y="3291840"/>
            <a:ext cx="24383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레이어 스택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0170" y="3840480"/>
            <a:ext cx="24383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ple SD Gothic Neo"/>
              </a:rPr>
              <a:t>Attention+FFN 과정을 32~128번 반복. 깊이가 깊을수록 추상적 개념 이해 → '의도' 파악 가능.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80660"/>
            <a:ext cx="10728960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60" y="5417820"/>
            <a:ext cx="102412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369A1"/>
                </a:solidFill>
                <a:latin typeface="Apple SD Gothic Neo"/>
              </a:rPr>
              <a:t>🔄  출력 = 한 번에 한 토큰. 이전 토큰 전체를 참고해 다음 토큰을 확률적으로 선택 (Autoregressive Decoding)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규모 비교:  GPT-2 1.5B (2019)   |   GPT-3 175B (2020)   |   GPT-4 ~1.76T (MoE) (2023)   |   Claude 3 비공개 (2024)   |   Llama 3 8B/70B/405B (2024)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학습 vs 추론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AI 만들기 vs AI 쓰기 — 비용이 1,000배 다르다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714500"/>
            <a:ext cx="11216640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006340"/>
            <a:ext cx="524256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487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ple SD Gothic Neo"/>
              </a:rPr>
              <a:t>🔍  RAG (검색 증강 생성)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5554980"/>
            <a:ext cx="47548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매번 외부 DB 검색 → 항상 최신 정보  |  적합: 자주 바뀌는 정보, 사내 문서, 제품 카탈로그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840" y="5006340"/>
            <a:ext cx="5242560" cy="12344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143500"/>
            <a:ext cx="487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ple SD Gothic Neo"/>
              </a:rPr>
              <a:t>🧠  파인튜닝 (Fine-tuning)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554980"/>
            <a:ext cx="47548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모델에 지식 내재화 → 빠른 응답  |  적합: 스타일 고정, 응답 형식 통일, 비공개 학습 데이터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스케일링 법칙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크면 좋은가? — 스케일링 법칙의 진실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97536" cy="82296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714500"/>
            <a:ext cx="10241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📏  Chinchilla 법칙 (DeepMind Chinchilla 논문 (2022))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057400"/>
            <a:ext cx="102412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최적 학습을 위해 파라미터 수 × 20배의 토큰이 필요   →   예: 70B 파라미터 모델 → 1.4조 토큰으로 학습해야 최적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670560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02880" y="2606040"/>
            <a:ext cx="390144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효율 혁명 — 같은 성능, 더 작은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GPT-3  175B — 서버 클러스터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Llama 2  13B — GPT-3급 성능, M1 Mac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Phi-3  3.8B — GPT-3.5급 성능, 스마트폰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7536" y="3188970"/>
            <a:ext cx="390144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3154680"/>
            <a:ext cx="390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800" y="3257550"/>
            <a:ext cx="121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C"/>
                </a:solidFill>
                <a:latin typeface="Apple SD Gothic Neo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0" y="346329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Phi-4  14B — GPT-4급 성능, 비용 1/10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49240"/>
            <a:ext cx="10728960" cy="6172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360" y="5486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369A1"/>
                </a:solidFill>
                <a:latin typeface="Apple SD Gothic Neo"/>
              </a:rPr>
              <a:t>📈  같은 성능을 내는 데 필요한 파라미터 수가 매년 절반으로 — 효율 혁명 진행 중   |   특정 규모를 넘으면 갑자기 새 능력 등장 (Emergent Ability) — 예: GPT-3.5에서 갑작스런 코딩 능력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토큰의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ple SD Gothic Neo"/>
              </a:rPr>
              <a:t>토큰(Token)이란 무엇인가?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51660"/>
            <a:ext cx="6827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60960" cy="13716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988819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400300"/>
            <a:ext cx="609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AI가 텍스트를 이해하는 최소 단위 — 단어 혹은 단어 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682752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60960" cy="116586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60" y="35661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단위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" y="3909059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1,000 토큰 ≈ 750 단어 ≈ A4 용지 1.5장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6827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6096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49377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" y="5280660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ple SD Gothic Neo"/>
              </a:rPr>
              <a:t>컨텍스트 윈도우 크기(처리 가능 정보량)와 API 비용을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1450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실제 예시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영어: 'Hello' = 1 토큰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한국어: '안녕하세요' = 3~5 토큰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GPT-4o 기준: 이미지 1장 = 약 170~300 토큰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컨텍스트 윈도우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컨텍스트 윈도우: 2019 → 2025, 2,000배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97536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GPT-2 1,024 토큰(A4 1.5장) → Gemini 2M 토큰(소설 30권)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25980"/>
            <a:ext cx="112166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VRAM &amp; KV 캐시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GPU 메모리 — AI 성능의 병목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14500"/>
            <a:ext cx="4998720" cy="3566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851660"/>
            <a:ext cx="46329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ple SD Gothic Neo"/>
              </a:rPr>
              <a:t>💾  VRAM이란?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" y="2331720"/>
            <a:ext cx="463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GPU의 고속 메모리 — AI 모델 가중치 + 계산 버퍼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88036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비유: 요리사의 작업대 — 넓을수록 더 많은 재료(토큰)를 동시에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342900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ple SD Gothic Neo"/>
              </a:rPr>
              <a:t>모델별 VRAM 필요량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Llama 3 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16GB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RTX 4090 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Llama 3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140GB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H100 2개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GPT-4 (추정)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~800GB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H100 10개+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5360" y="3840480"/>
            <a:ext cx="4632960" cy="37719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9090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</a:rPr>
              <a:t>Claude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9920" y="39090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Apple SD Gothic Neo"/>
              </a:rPr>
              <a:t>비공개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440" y="3909060"/>
            <a:ext cx="158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클라우드 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714500"/>
            <a:ext cx="5364480" cy="3566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0" y="185166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ple SD Gothic Neo"/>
              </a:rPr>
              <a:t>⚡  KV 캐시 (Key-Value Cache)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760" y="2331720"/>
            <a:ext cx="499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</a:rPr>
              <a:t>이미 계산한 Key-Value 어텐션 결과를 메모리에 저장·재사용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760" y="288036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7171"/>
                </a:solidFill>
                <a:latin typeface="Apple SD Gothic Neo"/>
              </a:rPr>
              <a:t>문제: Transformer는 매 토큰 생성 시 전체 이전 컨텍스트 재계산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1760" y="3360420"/>
            <a:ext cx="49987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Apple SD Gothic Neo"/>
              </a:rPr>
              <a:t>해결: 이전 계산 결과를 VRAM에 캐시 → 새 토큰만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760" y="384048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Apple SD Gothic Neo"/>
              </a:rPr>
              <a:t>효과: 반복 요청 속도 5~10x 향상, API 비용 절감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760" y="432054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비유: 책을 처음부터 다시 읽지 않고 북마크에서 이어 읽기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760" y="4800600"/>
            <a:ext cx="499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Apple SD Gothic Neo"/>
              </a:rPr>
              <a:t>주의: 컨텍스트가 길수록 KV 캐시 VRAM 증가 (컨텍스트 × 레이어 수 × 헤드 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10728960" cy="6858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360" y="5623560"/>
            <a:ext cx="102412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Apple SD Gothic Neo"/>
              </a:rPr>
              <a:t>🚀  메모리 대역폭: 3.35 TB/s (H100 SXM5)  |  병목: 추론 시 가장 큰 병목 — 계산 속도보다 메모리 전송이 느림  |  최적화: Flash Attention, Grouped Query Attention, 양자화(Quantization)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AI 메모리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AI는 어떻게 '기억'하는가 — 4가지 메모리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851660"/>
            <a:ext cx="2438400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컨텍스트 메모리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현재 대화창에 올라와 있는 텍스트 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수천~수백만 토큰 (모델마다 다름)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책상 위에 펼쳐진 문서들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200" y="1851660"/>
            <a:ext cx="2438400" cy="42519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52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2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외부 메모리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2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Vector DB에 저장, 필요할 때 검색·주입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이론상 무한 (외부 저장소 크기에 의존)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도서관 — 필요한 책을 꺼내 책상에 올려놓음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8400" y="1851660"/>
            <a:ext cx="2438400" cy="4251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84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파인튜닝 메모리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모델 가중치 자체에 학습된 지식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학습 시점 고정, 업데이트 비용 높음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오랜 경험으로 쌓인 전문 지식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1600" y="1851660"/>
            <a:ext cx="2438400" cy="4251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16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16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16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에이전트 메모리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6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작업 간 저장·전달되는 상태 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6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16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설계에 따라 다름 (파일, DB, 변수)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16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16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To-Do 리스트 + 작업 일지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토큰 비용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AI API 비용: 2년 만에 98%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363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GPT-4 출시 당시 $30/1M토큰 → 2025년 Claude 3.7 $0.6/1M토큰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057400"/>
            <a:ext cx="10241280" cy="36347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829300"/>
            <a:ext cx="10728960" cy="6858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5897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  <a:latin typeface="Apple SD Gothic Neo"/>
              </a:rPr>
              <a:t>💡  비용 장벽 소멸 → 소규모 팀도 GPT-4급 AI를 월 수천원으로 활용 가능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컨텍스트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컨텍스트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734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ple SD Gothic Neo"/>
              </a:rPr>
              <a:t>컨텍스트 윈도우를 전략적으로 채워 AI 성능을 극대화하는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63140"/>
            <a:ext cx="107289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ple SD Gothic Neo"/>
              </a:rPr>
              <a:t>핵심: 모델 크기보다 무엇을 컨텍스트에 넣느냐가 결과 품질을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3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🔍  RAG (검색 증강 생성)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3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외부 DB에서 관련 정보를 검색해 컨텍스트에 주입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641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84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984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85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📦  프롬프트 압축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5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긴 컨텍스트를 LLMLingua 등으로 4x 압축해 비용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3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📝  대화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3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과거 대화를 요약본으로 교체해 윈도우 효율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641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984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984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985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✂️  청킹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85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문서를 의미 단위로 분할해 검색 정확도 향상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새로운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Transformer를 넘어서 — 2024~2026 핵심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51660"/>
            <a:ext cx="5242560" cy="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1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⚡  KV 캐시 (Key-Value Cache)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1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이미 계산한 어텐션 결과를 재사용 → 반복 요청 속도 10x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1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ple SD Gothic Neo"/>
              </a:rPr>
              <a:t>임팩트: API 응답 속도 대폭 향상, 비용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1851660"/>
            <a:ext cx="5242560" cy="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85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🌊  Mamba / SSM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85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Transformer 대신 선형 확장 State Space Model — 긴 시퀀스를 O(n)으로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5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B4F"/>
                </a:solidFill>
                <a:latin typeface="Apple SD Gothic Neo"/>
              </a:rPr>
              <a:t>임팩트: 100만 토큰 이상 초장문 처리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251960"/>
            <a:ext cx="5242560" cy="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1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🔥  Flash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1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GPU 메모리 I/O 최적화 — 어텐션 계산을 타일 단위로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1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Apple SD Gothic Neo"/>
              </a:rPr>
              <a:t>임팩트: 학습 3x 빠름, VRAM 사용량 4x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984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9840" y="4251960"/>
            <a:ext cx="5242560" cy="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5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🎯  Sparse MoE (Mixture of Experts)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5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입력에 따라 필요한 전문가(expert) 모듈만 활성화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85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pple SD Gothic Neo"/>
              </a:rPr>
              <a:t>임팩트: 파라미터 8x 확장해도 계산량은 동일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멀티모달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AI는 이미지·음성·영상을 어떻게 이해하는가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1748790"/>
            <a:ext cx="102412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</a:rPr>
              <a:t>🌐  텍스트·이미지·음성을 같은 벡터 공간에 표현 → 서로 다른 모달이 '이해'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31720"/>
            <a:ext cx="10972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7492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이미지 처리 흐름:  이미지 입력  →  패치 분할 (16×16 픽셀 조각)  →  각 패치를 토큰 임베딩으로 변환  →  텍스트 토큰과 동일한 Transformer에 입력  →  이미지+텍스트 통합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실무 활용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계약서 이미지 → OCR 없이 직접 분석·요약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제품 사진 → 설명문·마케팅 카피 즉시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7794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회의 녹음 → 실시간 요약 + 액션 아이템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6377940"/>
            <a:ext cx="524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✅  광고 영상 → 자동 자막 + 다국어 번역 + 하이라이트 편집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AI 2026 최전선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지금 가장 빠르게 바뀌고 있는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83080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783080"/>
            <a:ext cx="3535679" cy="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14" y="1920240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🧠  추론 모델 (Reasoning)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14" y="2468880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o1·o3·Claude 3.7 Extended Thinking — 답 전에 수십 초 '생각'. 수학·코딩·과학에서 인간 전문가 초월.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14" y="3086100"/>
            <a:ext cx="3535651" cy="342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14" y="3223260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ple SD Gothic Neo"/>
              </a:rPr>
              <a:t>→ 전략 보고서·투자 분석·R&amp;D에 즉시 활용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535679" cy="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34" y="1920240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🤖  멀티에이전트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34" y="2468880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여러 AI가 역할 분담하고 서로 검증. Claude가 코드 작성 → 다른 Claude가 테스트 → 또 다른 Claude가 배포.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34" y="3086100"/>
            <a:ext cx="3535651" cy="342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34" y="3223260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B4F"/>
                </a:solidFill>
                <a:latin typeface="Apple SD Gothic Neo"/>
              </a:rPr>
              <a:t>→ 24시간 자율 운영 가능한 AI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8640" y="1783080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8640" y="1783080"/>
            <a:ext cx="3535679" cy="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8654" y="1920240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🖥️  컴퓨터 사용 (Computer Use)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8654" y="2468880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Claude·GPT-4o가 화면을 보고 마우스·키보드 직접 조작. RPA를 자연어로 대체.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8654" y="3086100"/>
            <a:ext cx="3535651" cy="3429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8654" y="3223260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Apple SD Gothic Neo"/>
              </a:rPr>
              <a:t>→ ERP·CRM 수동 입력 자동화, 레거시 시스템 연동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909059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3909059"/>
            <a:ext cx="3535679" cy="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14" y="4046219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⚡  실시간 멀티모달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14" y="4594859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GPT-4o·Gemini Live — 영상·음성·화면을 동시에 보고 실시간 대화. 화상 회의 AI 코치.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14" y="5212079"/>
            <a:ext cx="3535651" cy="342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14" y="5349239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pple SD Gothic Neo"/>
              </a:rPr>
              <a:t>→ 영업 실시간 코칭, 고객 응대 AI 어시스턴트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909059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909059"/>
            <a:ext cx="3535679" cy="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34" y="4046219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📱  온디바이스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34" y="4594859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Phi-4·Gemma·Llama 3.2 — 서버 없이 스마트폰·노트북에서 실행. 데이터 외부 유출 없음.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34" y="5212079"/>
            <a:ext cx="3535651" cy="3429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34" y="5349239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ple SD Gothic Neo"/>
              </a:rPr>
              <a:t>→ 보안 데이터 로컬 처리, 인터넷 없는 환경 활용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8640" y="3909059"/>
            <a:ext cx="3535679" cy="1920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68640" y="3909059"/>
            <a:ext cx="3535679" cy="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8654" y="4046219"/>
            <a:ext cx="35356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ple SD Gothic Neo"/>
              </a:rPr>
              <a:t>💰  비용 1/100 시대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8654" y="4594859"/>
            <a:ext cx="3535651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2023년 대비 API 비용 98% 감소. 2026년 Haiku급 성능을 하루 수천 번 써도 월 3천원.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68654" y="5212079"/>
            <a:ext cx="3535651" cy="3429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8654" y="5349239"/>
            <a:ext cx="35356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  <a:latin typeface="Apple SD Gothic Neo"/>
              </a:rPr>
              <a:t>→ AI 사용 '예산' 고민 끝 → 전략·프로세스 설계가 핵심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035040"/>
            <a:ext cx="10972800" cy="61722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440" y="6172200"/>
            <a:ext cx="1048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  <a:latin typeface="Apple SD Gothic Neo"/>
              </a:rPr>
              <a:t>💡  기술보다 '어떻게 쓸 것인가'가 경쟁력 — 도구를 아는 사람이 아닌 프로세스를 설계하는 사람이 앞선다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실무자가 알아야 할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09169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226314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314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= AI의 작업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컨텍스트가 클수록 더 많은 문서·대화·코드를 한 번에 처리. Gemini 1.5는 책 30권 분량을 한 번에 읽는다.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60045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360" y="377190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7190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비용은 이미 무시할 수준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5196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2023년 대비 98% 감소. GPT-4급 AI를 하루 1,000번 사용해도 월 3천원 미만. 도구 선택이 아닌 활용 방법이 핵심.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510921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60" y="528066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8066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엔지니어링이 새 핵심 역량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무엇을 어떻게 AI에게 제공하느냐가 결과를 결정. RAG·청킹·요약 전략이 프롬프팅만큼 중요해졌다.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