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1371600"/>
            <a:ext cx="48768" cy="3977639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5360" y="1371600"/>
            <a:ext cx="48768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D4ED8"/>
                </a:solidFill>
                <a:latin typeface="Apple SD Gothic Neo"/>
              </a:rPr>
              <a:t>INSIGHT REPORT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60" y="2057400"/>
            <a:ext cx="95097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Apple SD Gothic Neo"/>
              </a:rPr>
              <a:t>AI가 바꾸는 우리의 일하는 방식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60" y="404622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94A3B8"/>
                </a:solidFill>
                <a:latin typeface="Apple SD Gothic Neo"/>
              </a:rPr>
              <a:t>B2C 실무자를 위한 AI 워크플로우 혁신 가이드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60" y="4937760"/>
            <a:ext cx="7315200" cy="13716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60" y="5143500"/>
            <a:ext cx="609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AI Strategy Team</a:t>
            </a:r>
          </a:p>
        </p:txBody>
      </p:sp>
      <p:sp>
        <p:nvSpPr>
          <p:cNvPr id="9" name="Rectangle 8"/>
          <p:cNvSpPr/>
          <p:nvPr/>
        </p:nvSpPr>
        <p:spPr>
          <a:xfrm>
            <a:off x="9022080" y="3086100"/>
            <a:ext cx="2682240" cy="1234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22080" y="3154680"/>
            <a:ext cx="2682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D4ED8"/>
                </a:solidFill>
                <a:latin typeface="Apple SD Gothic Neo"/>
              </a:rPr>
              <a:t>대상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22080" y="3566160"/>
            <a:ext cx="268224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BD5E1"/>
                </a:solidFill>
                <a:latin typeface="Apple SD Gothic Neo"/>
              </a:rPr>
              <a:t>B2C 영업
마케팅
상품기획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Apple SD Gothic Neo"/>
              </a:rP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F172A"/>
                </a:solidFill>
                <a:latin typeface="Apple SD Gothic Neo"/>
              </a:rPr>
              <a:t>강의 목차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72896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51660"/>
            <a:ext cx="10728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1954530"/>
            <a:ext cx="7315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D4ED8"/>
                </a:solidFill>
                <a:latin typeface="Apple SD Gothic Neo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706880" y="2023110"/>
            <a:ext cx="12192" cy="4800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50720" y="1975103"/>
            <a:ext cx="56083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ple SD Gothic Neo"/>
              </a:rPr>
              <a:t>AI의 진화: 어떻게 여기까지 왔나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50720" y="2297430"/>
            <a:ext cx="560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질문-답변에서 CLI 에이전트까지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674620"/>
            <a:ext cx="10728960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743200"/>
            <a:ext cx="10728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440" y="2846070"/>
            <a:ext cx="7315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6B4F"/>
                </a:solidFill>
                <a:latin typeface="Apple SD Gothic Neo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06880" y="2914650"/>
            <a:ext cx="12192" cy="4800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50720" y="2866643"/>
            <a:ext cx="56083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ple SD Gothic Neo"/>
              </a:rPr>
              <a:t>우리 업무는 어떻게 달라졌나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50720" y="3188970"/>
            <a:ext cx="560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영업·마케팅·상품기획 실무 변화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3566160"/>
            <a:ext cx="10728960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634740"/>
            <a:ext cx="10728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3440" y="3737610"/>
            <a:ext cx="7315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6D28D9"/>
                </a:solidFill>
                <a:latin typeface="Apple SD Gothic Neo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706880" y="3806190"/>
            <a:ext cx="12192" cy="4800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50720" y="3758183"/>
            <a:ext cx="56083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ple SD Gothic Neo"/>
              </a:rPr>
              <a:t>실전 데모: AI로 만드는 콘텐츠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0720" y="4080510"/>
            <a:ext cx="560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직접 보고, 직접 해보는 AI 활용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457700"/>
            <a:ext cx="10728960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4526280"/>
            <a:ext cx="10728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3440" y="4629150"/>
            <a:ext cx="7315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B91C1C"/>
                </a:solidFill>
                <a:latin typeface="Apple SD Gothic Neo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06880" y="4697730"/>
            <a:ext cx="12192" cy="4800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50720" y="4649723"/>
            <a:ext cx="56083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ple SD Gothic Neo"/>
              </a:rPr>
              <a:t>AI 에이전트: 자동화의 미래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50720" y="4972050"/>
            <a:ext cx="560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당신의 AI 팀원을 설계하는 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349240"/>
            <a:ext cx="10728960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31520" y="5417820"/>
            <a:ext cx="1072896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440" y="5520690"/>
            <a:ext cx="7315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7490"/>
                </a:solidFill>
                <a:latin typeface="Apple SD Gothic Neo"/>
              </a:rPr>
              <a:t>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06880" y="5589270"/>
            <a:ext cx="12192" cy="4800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50720" y="5541263"/>
            <a:ext cx="560832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Apple SD Gothic Neo"/>
              </a:rPr>
              <a:t>지금 당장 시작하는 AI 워크플로우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50720" y="5863590"/>
            <a:ext cx="5608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내일부터 써먹는 실전 로드맵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6240780"/>
            <a:ext cx="10728960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90560" y="685800"/>
            <a:ext cx="3657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>
                <a:solidFill>
                  <a:srgbClr val="0F2B4C"/>
                </a:solidFill>
                <a:latin typeface="Apple SD Gothic Neo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1234440"/>
            <a:ext cx="487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Apple SD Gothic Neo"/>
              </a:rPr>
              <a:t>CHAPTER 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2057400"/>
            <a:ext cx="8290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</a:rPr>
              <a:t>AI의 진화: 어떻게 여기까지 왔나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440" y="4251960"/>
            <a:ext cx="4267200" cy="13716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44577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ple SD Gothic Neo"/>
              </a:rPr>
              <a:t>질문-답변에서 CLI 에이전트까지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AI란 무엇인가? — 3가지 비유로 이해하기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72896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85216" y="1268730"/>
            <a:ext cx="3413760" cy="4800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3413760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341376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9328" y="1426464"/>
            <a:ext cx="307238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0F172A"/>
                </a:solidFill>
                <a:latin typeface="Apple SD Gothic Neo"/>
              </a:rPr>
              <a:t>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328" y="2194560"/>
            <a:ext cx="307238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4ED8"/>
                </a:solidFill>
                <a:latin typeface="Apple SD Gothic Neo"/>
              </a:rPr>
              <a:t>검색 → 대화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9328" y="2866644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9328" y="3010662"/>
            <a:ext cx="3072384" cy="2784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Google에게 '제안서 써줘'라고 해도 결과 없음.
AI는 해당 요청을 이해하고 실제로 작성해 줌.
→ 도구가 아닌 협업 파트너로의 전환.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47616" y="1268730"/>
            <a:ext cx="3413760" cy="4800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11040" y="1234440"/>
            <a:ext cx="3413760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11040" y="1234440"/>
            <a:ext cx="3413760" cy="41148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1426464"/>
            <a:ext cx="307238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0F172A"/>
                </a:solidFill>
                <a:latin typeface="Apple SD Gothic Neo"/>
              </a:rPr>
              <a:t>✍️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1728" y="2194560"/>
            <a:ext cx="307238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6B4F"/>
                </a:solidFill>
                <a:latin typeface="Apple SD Gothic Neo"/>
              </a:rPr>
              <a:t>타이핑 → 말하기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81728" y="2866644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3010662"/>
            <a:ext cx="3072384" cy="2784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스마트폰 등장 전 우리는 모두 버튼을 눌렀다.
AI는 자연어로 명령하는 시대를 열었다.
→ 누구나 전문 도구를 쓸 수 있는 시대.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10016" y="1268730"/>
            <a:ext cx="3413760" cy="4800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73440" y="1234440"/>
            <a:ext cx="3413760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73440" y="1234440"/>
            <a:ext cx="3413760" cy="411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44128" y="1426464"/>
            <a:ext cx="307238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>
                <a:solidFill>
                  <a:srgbClr val="0F172A"/>
                </a:solidFill>
                <a:latin typeface="Apple SD Gothic Neo"/>
              </a:rPr>
              <a:t>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4128" y="2194560"/>
            <a:ext cx="307238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D28D9"/>
                </a:solidFill>
                <a:latin typeface="Apple SD Gothic Neo"/>
              </a:rPr>
              <a:t>도구 → 동료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44128" y="2866644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4128" y="3010662"/>
            <a:ext cx="3072384" cy="2784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엑셀은 시킨 것만 한다. 창의성 없음.
AI 에이전트는 목표를 주면 스스로 계획 실행.
→ '경쟁사 분석해줘' → 크롤링·분석·정리 자동.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ChatGPT 사용자 달성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65860"/>
            <a:ext cx="5608320" cy="4800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49439" y="1371600"/>
            <a:ext cx="463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565C0"/>
                </a:solidFill>
                <a:latin typeface="Apple SD Gothic Neo"/>
              </a:rPr>
              <a:t>왜 중요한가?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39" y="1988819"/>
            <a:ext cx="438912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39" y="2194560"/>
            <a:ext cx="60960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93280" y="2263140"/>
            <a:ext cx="438912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ChatGPT 출시 5일 만에 100만 사용자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49439" y="3326130"/>
            <a:ext cx="60960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93280" y="3394710"/>
            <a:ext cx="438912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2개월 만에 1억 명 → 역사상 최단 기록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39" y="4457700"/>
            <a:ext cx="60960" cy="8229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93280" y="4526280"/>
            <a:ext cx="4389120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현재 전 세계 월간 사용자 2억 명 이상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39" y="6035040"/>
            <a:ext cx="463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Apple SD Gothic Neo"/>
              </a:rPr>
              <a:t>출처: UBS 2023 / OpenAI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AI 진화 타임라인 — 2022 →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601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질문-답변 → 이미지 생성 → 에이전트 → CLI 자율 실행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3566160"/>
            <a:ext cx="10972800" cy="2057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00328" y="3371088"/>
            <a:ext cx="390144" cy="39014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2100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5673" y="3456433"/>
            <a:ext cx="219455" cy="219455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4840" y="1097280"/>
            <a:ext cx="13411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D4ED8"/>
                </a:solidFill>
                <a:latin typeface="Apple SD Gothic Neo"/>
              </a:rPr>
              <a:t>2022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4840" y="171450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ChatGPT 3.5 공개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83208" y="30175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71928" y="3371088"/>
            <a:ext cx="390144" cy="39014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816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57273" y="3456433"/>
            <a:ext cx="219455" cy="219455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54808" y="37033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96440" y="425196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GPT-4 + 이미지 입력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96440" y="5760720"/>
            <a:ext cx="134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D4ED8"/>
                </a:solidFill>
                <a:latin typeface="Apple SD Gothic Neo"/>
              </a:rPr>
              <a:t>2023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3528" y="3371088"/>
            <a:ext cx="390144" cy="39014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532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928873" y="3456433"/>
            <a:ext cx="219455" cy="219455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68040" y="1097280"/>
            <a:ext cx="13411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6B4F"/>
                </a:solidFill>
                <a:latin typeface="Apple SD Gothic Neo"/>
              </a:rPr>
              <a:t>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68040" y="171450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Midjourney V5 / DALL-E 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26408" y="30175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215128" y="3371088"/>
            <a:ext cx="390144" cy="39014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3248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00473" y="3456433"/>
            <a:ext cx="219455" cy="219455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398008" y="37033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39640" y="425196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GPT-4 Turbo + Plugins / Assistants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39640" y="5760720"/>
            <a:ext cx="134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D6B4F"/>
                </a:solidFill>
                <a:latin typeface="Apple SD Gothic Neo"/>
              </a:rPr>
              <a:t>2023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6728" y="3371088"/>
            <a:ext cx="390144" cy="39014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964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72073" y="3456433"/>
            <a:ext cx="219455" cy="219455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11240" y="1097280"/>
            <a:ext cx="13411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D28D9"/>
                </a:solidFill>
                <a:latin typeface="Apple SD Gothic Neo"/>
              </a:rPr>
              <a:t>2024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11240" y="171450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Sora (텍스트→영상) 공개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9608" y="30175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958328" y="3371088"/>
            <a:ext cx="390144" cy="39014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680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43673" y="3456433"/>
            <a:ext cx="219455" cy="219455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41208" y="37033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82840" y="425196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Claude 3.5 Sonnet — Computer Use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82840" y="5760720"/>
            <a:ext cx="134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6D28D9"/>
                </a:solidFill>
                <a:latin typeface="Apple SD Gothic Neo"/>
              </a:rPr>
              <a:t>2024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329928" y="3371088"/>
            <a:ext cx="390144" cy="39014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4396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415273" y="3456433"/>
            <a:ext cx="219455" cy="219455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54440" y="1097280"/>
            <a:ext cx="134112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91C1C"/>
                </a:solidFill>
                <a:latin typeface="Apple SD Gothic Neo"/>
              </a:rPr>
              <a:t>2025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54440" y="171450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Claude Code (CLI 에이전트) 공개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512808" y="30175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701528" y="3371088"/>
            <a:ext cx="390144" cy="390144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811256" y="3480816"/>
            <a:ext cx="170688" cy="170688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786873" y="3456433"/>
            <a:ext cx="219455" cy="219455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884408" y="3703320"/>
            <a:ext cx="24384" cy="548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26040" y="4251960"/>
            <a:ext cx="1341120" cy="157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Apple SD Gothic Neo"/>
              </a:rPr>
              <a:t>Multi-Agent 협업 표준화 (MCP)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26040" y="5760720"/>
            <a:ext cx="1341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B91C1C"/>
                </a:solidFill>
                <a:latin typeface="Apple SD Gothic Neo"/>
              </a:rPr>
              <a:t>2025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5360" y="6309360"/>
            <a:ext cx="24384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D4ED8"/>
                </a:solidFill>
                <a:latin typeface="Apple SD Gothic Neo"/>
              </a:rPr>
              <a:t>Phase 1
Q&amp;A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79520" y="6309360"/>
            <a:ext cx="24384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D6B4F"/>
                </a:solidFill>
                <a:latin typeface="Apple SD Gothic Neo"/>
              </a:rPr>
              <a:t>Phase 2
이미지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27520" y="6309360"/>
            <a:ext cx="24384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D28D9"/>
                </a:solidFill>
                <a:latin typeface="Apple SD Gothic Neo"/>
              </a:rPr>
              <a:t>Phase 3
에이전트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119360" y="6309360"/>
            <a:ext cx="243840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B91C1C"/>
                </a:solidFill>
                <a:latin typeface="Apple SD Gothic Neo"/>
              </a:rPr>
              <a:t>Phase 4
CLI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AI 진화 Phase 1~2 — 텍스트·이미지 시대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28700"/>
            <a:ext cx="1072896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0016" y="1261872"/>
            <a:ext cx="10607040" cy="107670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3440" y="1234440"/>
            <a:ext cx="10607040" cy="10767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3440" y="1234440"/>
            <a:ext cx="60960" cy="107670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9781"/>
            <a:ext cx="463296" cy="646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  <a:latin typeface="Apple SD Gothic Ne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395945"/>
            <a:ext cx="9631680" cy="75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💬 Phase 1 (2022~) 텍스트 Q&amp;A: ChatGPT 등장 → '검색'에서 '대화'로 패러다임 전환. 2개월 만에 1억 명 달성.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0016" y="2393442"/>
            <a:ext cx="10607040" cy="107670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3440" y="2366010"/>
            <a:ext cx="10607040" cy="10767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3440" y="2366010"/>
            <a:ext cx="60960" cy="107670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81351"/>
            <a:ext cx="463296" cy="646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  <a:latin typeface="Apple SD Gothic Ne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527515"/>
            <a:ext cx="9631680" cy="75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🖼️ Phase 2 (2023~) 멀티모달: GPT-4 이미지 이해 → 텍스트와 이미지를 동시에 분석·생성 가능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0016" y="3525012"/>
            <a:ext cx="10607040" cy="107670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3440" y="3497580"/>
            <a:ext cx="10607040" cy="10767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3440" y="3497580"/>
            <a:ext cx="60960" cy="107670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12921"/>
            <a:ext cx="463296" cy="646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  <a:latin typeface="Apple SD Gothic Ne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659085"/>
            <a:ext cx="9631680" cy="75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🎨 이미지 생성 (2023~): Midjourney·DALL-E 3 → 프롬프트 하나로 전문 수준 비주얼 즉시 제작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0016" y="4656582"/>
            <a:ext cx="10607040" cy="107670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3440" y="4629150"/>
            <a:ext cx="10607040" cy="10767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3440" y="4629150"/>
            <a:ext cx="60960" cy="107670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44491"/>
            <a:ext cx="463296" cy="646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  <a:latin typeface="Apple SD Gothic Neo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790655"/>
            <a:ext cx="9631680" cy="75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📊 임팩트: 스톡 이미지 시장 40% 감소, 콘텐츠 제작 비용 60~80% 절감 (Shutterstock 2023)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AI 진화 Phase 3~4 — 에이전트·CLI 시대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28700"/>
            <a:ext cx="1072896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0016" y="1261872"/>
            <a:ext cx="10607040" cy="107670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3440" y="1234440"/>
            <a:ext cx="10607040" cy="10767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3440" y="1234440"/>
            <a:ext cx="60960" cy="107670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9781"/>
            <a:ext cx="463296" cy="646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  <a:latin typeface="Apple SD Gothic Ne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395945"/>
            <a:ext cx="9631680" cy="75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🔌 Phase 3 (2023~) 에이전트 v1: GPT Plugins → AI가 외부 도구에 연결해 자율 검색·실행 가능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0016" y="2393442"/>
            <a:ext cx="10607040" cy="107670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3440" y="2366010"/>
            <a:ext cx="10607040" cy="10767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3440" y="2366010"/>
            <a:ext cx="60960" cy="107670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581351"/>
            <a:ext cx="463296" cy="646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  <a:latin typeface="Apple SD Gothic Ne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527515"/>
            <a:ext cx="9631680" cy="75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🎬 영상 생성 (2024~): Sora → 텍스트로 고품질 영상 생성. 광고·데모 영상 90% 비용 절감 가능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0016" y="3525012"/>
            <a:ext cx="10607040" cy="107670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3440" y="3497580"/>
            <a:ext cx="10607040" cy="10767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3440" y="3497580"/>
            <a:ext cx="60960" cy="107670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712921"/>
            <a:ext cx="463296" cy="646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  <a:latin typeface="Apple SD Gothic Ne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659085"/>
            <a:ext cx="9631680" cy="75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🖱️ Phase 3.5 (2024~) Computer Use: Claude가 화면을 보고 PC를 직접 조작. RPA 시장 패러다임 전환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0016" y="4656582"/>
            <a:ext cx="10607040" cy="107670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3440" y="4629150"/>
            <a:ext cx="10607040" cy="107670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3440" y="4629150"/>
            <a:ext cx="60960" cy="107670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844491"/>
            <a:ext cx="463296" cy="646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565C0"/>
                </a:solidFill>
                <a:latin typeface="Apple SD Gothic Neo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790655"/>
            <a:ext cx="9631680" cy="753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⚡ Phase 4 (2025~) CLI 에이전트: Claude Code → 터미널에서 자연어로 전체 파이프라인 자동화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AI가 만들어내는 경제적 가치 — 글로벌 데이터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72896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65860"/>
            <a:ext cx="5364480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5349240"/>
            <a:ext cx="536448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ple SD Gothic Neo"/>
              </a:rPr>
              <a:t>출처: McKinsey Global Institute 2023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760" y="1165860"/>
            <a:ext cx="5364480" cy="39776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61760" y="5349240"/>
            <a:ext cx="536448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Apple SD Gothic Neo"/>
              </a:rPr>
              <a:t>출처: Microsoft Work Trend Index 2024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CH1 — AI 진화 단계별 에이전트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영업 / 마케팅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배치 이메일 분류 에이전트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수백 건의 고객 이메일을 한 번에 입력 → 우선순위·카테고리 자동 분류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Claude API  ·  Python  ·  Gmail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분류된 이메일 리스트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상품기획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웹 검색 뉴스 리포터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키워드 설정 → 매일 오전 관련 뉴스 자동 수집·요약 메일 발송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Claude API  ·  Perplexity  ·  Gmail SMTP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일간 업계 뉴스 요약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분석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데이터 파이프라인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CSV 수신 → 자동 분석 → 차트 생성 → 대시보드 업데이트까지 자율 실행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Claude Code  ·  pandas  ·  matplotlib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자동 분석 리포트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고급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90560" y="685800"/>
            <a:ext cx="3657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>
                <a:solidFill>
                  <a:srgbClr val="0F2B4C"/>
                </a:solidFill>
                <a:latin typeface="Apple SD Gothic Neo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1234440"/>
            <a:ext cx="487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6B4F"/>
                </a:solidFill>
                <a:latin typeface="Apple SD Gothic Neo"/>
              </a:rPr>
              <a:t>CHAPTER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2057400"/>
            <a:ext cx="8290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</a:rPr>
              <a:t>우리 업무는 어떻게 달라졌나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440" y="4251960"/>
            <a:ext cx="4267200" cy="13716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44577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ple SD Gothic Neo"/>
              </a:rPr>
              <a:t>영업·마케팅·상품기획 실무 변화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영업 업무 — AI 도입 전후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097280"/>
            <a:ext cx="5120640" cy="5143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097280"/>
            <a:ext cx="51206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91B1B"/>
                </a:solidFill>
                <a:latin typeface="Apple SD Gothic Neo"/>
              </a:rPr>
              <a:t>BEFORE  — AI 도입 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61760" y="1097280"/>
            <a:ext cx="5120640" cy="51435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1760" y="1097280"/>
            <a:ext cx="51206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5F46"/>
                </a:solidFill>
                <a:latin typeface="Apple SD Gothic Neo"/>
              </a:rPr>
              <a:t>AFTER  — AI 도입 후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714500"/>
            <a:ext cx="5120640" cy="9601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7145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585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고객사 조사: 3~4시간 웹 서핑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1760" y="1714500"/>
            <a:ext cx="5120640" cy="960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61760" y="17145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585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고객사 AI 분석 리포트: 15분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2743200"/>
            <a:ext cx="5120640" cy="960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27432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872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제안서 초안: 2~3일 작업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61760" y="2743200"/>
            <a:ext cx="512064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61760" y="27432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8872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제안서 초안 AI 생성 → 검수: 2~3시간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3771900"/>
            <a:ext cx="5120640" cy="9601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37719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159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반론 예상 답변: 경험과 기억에 의존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61760" y="3771900"/>
            <a:ext cx="5120640" cy="960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61760" y="37719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9159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반론 대응 시나리오 10개 자동 생성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4800600"/>
            <a:ext cx="5120640" cy="960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600" y="48006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9446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콜드메일: 1건 작성 30분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1760" y="4800600"/>
            <a:ext cx="512064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61760" y="48006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9446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콜드메일 맞춤형 10개 버전: 5분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1097280"/>
            <a:ext cx="487680" cy="5212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0" y="3291840"/>
            <a:ext cx="48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Apple SD Gothic Neo"/>
              </a:rPr>
              <a:t>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영업 — AI 도입 효과 수치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65860"/>
            <a:ext cx="4876800" cy="3566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32576" y="120015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0" y="116586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0" y="116586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4249" y="139628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28%↓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4249" y="216438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행정 업무 시간 감소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4249" y="270205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HubSpot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02496" y="120015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65920" y="116586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65920" y="116586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34169" y="139628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51%↑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4169" y="216438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거래 성사율 증가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4169" y="270205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HubSpot 2024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2576" y="346329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0" y="342900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4249" y="365942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3일→2시간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4249" y="442752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제안서 초안 제작 시간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4249" y="496519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Salesforce 2024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02496" y="346329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65920" y="342900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65920" y="342900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34169" y="365942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2배 향상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4169" y="442752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아웃리치 응답률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4169" y="496519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Outreach.io 2024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5006340"/>
            <a:ext cx="1097280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600" y="5006340"/>
            <a:ext cx="60960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440" y="514350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2B4C"/>
                </a:solidFill>
                <a:latin typeface="Apple SD Gothic Neo"/>
              </a:rPr>
              <a:t>에이전트 도입 예시: 영업 준비 자동화 에이전트 — 미팅 일정 등록 시 고객사 분석 리포트 + 반론 시나리오 자동 생성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영업 에이전트 자동화 워크플로우 — 6단계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097280"/>
            <a:ext cx="11216640" cy="3771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2425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8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768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61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트리거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1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841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277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사용 도구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277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257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693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산출물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693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3673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0016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0016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109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절약 시간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09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영업 에이전트 도입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영업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영업 준비 자동화 에이전트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미팅 일정 등록 시 고객사 분석 리포트 + 반론 시나리오 자동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Claude API  ·  Perplexity Search  ·  Salesforce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미팅 브리핑 PDF + 반론 10개 스크립트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영업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콜드 아웃리치 맞춤화 에이전트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고객 리스트 CSV 업로드 → 각 고객별 맞춤 이메일 50개 자동 생성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Claude API  ·  HubSpot API  ·  LinkedIn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개인화 이메일 50개 초안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영업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영업 성과 분석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CRM 데이터 주간 분석 → 성과 패턴 인사이트 + 액션 아이템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Claude API  ·  Salesforce API  ·  pandas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주간 영업 인사이트 리포트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마케팅 업무 — AI 도입 전후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097280"/>
            <a:ext cx="5120640" cy="5143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097280"/>
            <a:ext cx="51206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91B1B"/>
                </a:solidFill>
                <a:latin typeface="Apple SD Gothic Neo"/>
              </a:rPr>
              <a:t>BEFORE  — AI 도입 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61760" y="1097280"/>
            <a:ext cx="5120640" cy="51435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1760" y="1097280"/>
            <a:ext cx="51206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5F46"/>
                </a:solidFill>
                <a:latin typeface="Apple SD Gothic Neo"/>
              </a:rPr>
              <a:t>AFTER  — AI 도입 후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714500"/>
            <a:ext cx="5120640" cy="9601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7145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585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SNS 콘텐츠 1건: 기획~발행 1~2일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1760" y="1714500"/>
            <a:ext cx="5120640" cy="960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61760" y="17145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585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SNS 콘텐츠 7일치 일괄 생성: 30분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2743200"/>
            <a:ext cx="5120640" cy="960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27432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872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이미지 제작: 디자이너 의뢰 2~3일 대기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61760" y="2743200"/>
            <a:ext cx="512064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61760" y="27432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8872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마케팅 이미지 즉시 생성·수정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3771900"/>
            <a:ext cx="5120640" cy="9601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37719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159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카피라이팅 A/B 테스트: 수동 제작 제약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61760" y="3771900"/>
            <a:ext cx="5120640" cy="960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61760" y="37719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9159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A/B 카피 50개 버전 자동 생성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4800600"/>
            <a:ext cx="5120640" cy="960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600" y="48006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9446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트렌드 리포트: 주 1회 수동 정리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1760" y="4800600"/>
            <a:ext cx="512064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61760" y="48006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9446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일간 트렌드 자동 수집·요약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1097280"/>
            <a:ext cx="487680" cy="5212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0" y="3291840"/>
            <a:ext cx="48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Apple SD Gothic Neo"/>
              </a:rPr>
              <a:t>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마케팅 — AI 도입 효과 수치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65860"/>
            <a:ext cx="4876800" cy="3566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32576" y="120015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0" y="116586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0" y="116586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4249" y="139628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10배↑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4249" y="216438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콘텐츠 제작 속도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4249" y="270205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Jasper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02496" y="120015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65920" y="116586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65920" y="116586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34169" y="139628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3일→30분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4169" y="216438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A/B 카피 생성 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4169" y="270205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내부 벤치마크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2576" y="346329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0" y="342900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4249" y="365942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+18%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4249" y="442752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광고 클릭률(CTR) 개선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4249" y="496519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Persado 2024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02496" y="346329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65920" y="342900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65920" y="342900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34169" y="365942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+40%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4169" y="442752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마케터 생산성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4169" y="496519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HubSpot 2024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5006340"/>
            <a:ext cx="1097280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600" y="5006340"/>
            <a:ext cx="60960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440" y="514350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2B4C"/>
                </a:solidFill>
                <a:latin typeface="Apple SD Gothic Neo"/>
              </a:rPr>
              <a:t>에이전트 도입 예시: SNS 콘텐츠 파이프라인 에이전트 — 매주 금요일 7일치 SNS 카피 21개 + 이미지 프롬프트 자동 생성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마케팅 에이전트 자동화 워크플로우 — 6단계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097280"/>
            <a:ext cx="11216640" cy="3771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2425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8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768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61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트리거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1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841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277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사용 도구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277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257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693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산출물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693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3673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0016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0016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109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절약 시간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09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마케팅 에이전트 도입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마케팅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SNS 콘텐츠 파이프라인 에이전트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매주 금요일 7일치 SNS 카피 21개 + 이미지 프롬프트 자동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Claude API  ·  DALL-E 3  ·  Buffer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주간 콘텐츠 캘린더 + 이미지 프롬프트 21개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마케팅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A/B 테스트 자동화 에이전트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제품 USP 입력 → 50개 광고 카피 변형 생성 → Meta API 자동 업로드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Claude API  ·  Meta Ads API  ·  Google Ads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50개 카피 변형 + 자동 게재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마케팅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트렌드 모니터링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매일 오전 SNS·커뮤니티·뉴스 스캔 → 트렌드 키워드 + 콘텐츠 기회 알림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Claude API  ·  Perplexity  ·  Slack 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일간 트렌드 알림 + 콘텐츠 아이디어 3개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상품기획 업무 — AI 도입 전후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097280"/>
            <a:ext cx="5120640" cy="51435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1097280"/>
            <a:ext cx="51206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91B1B"/>
                </a:solidFill>
                <a:latin typeface="Apple SD Gothic Neo"/>
              </a:rPr>
              <a:t>BEFORE  — AI 도입 전</a:t>
            </a:r>
          </a:p>
        </p:txBody>
      </p:sp>
      <p:sp>
        <p:nvSpPr>
          <p:cNvPr id="7" name="Rectangle 6"/>
          <p:cNvSpPr/>
          <p:nvPr/>
        </p:nvSpPr>
        <p:spPr>
          <a:xfrm>
            <a:off x="6461760" y="1097280"/>
            <a:ext cx="5120640" cy="51435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1760" y="1097280"/>
            <a:ext cx="512064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65F46"/>
                </a:solidFill>
                <a:latin typeface="Apple SD Gothic Neo"/>
              </a:rPr>
              <a:t>AFTER  — AI 도입 후</a:t>
            </a:r>
          </a:p>
        </p:txBody>
      </p:sp>
      <p:sp>
        <p:nvSpPr>
          <p:cNvPr id="9" name="Rectangle 8"/>
          <p:cNvSpPr/>
          <p:nvPr/>
        </p:nvSpPr>
        <p:spPr>
          <a:xfrm>
            <a:off x="609600" y="1714500"/>
            <a:ext cx="5120640" cy="9601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17145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8585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경쟁사 분석: 주 8~10시간 리서치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61760" y="1714500"/>
            <a:ext cx="5120640" cy="960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61760" y="17145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585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경쟁사 가격·스펙 자동 크롤링 &amp; 비교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600" y="2743200"/>
            <a:ext cx="5120640" cy="960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600" y="27432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872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기획서 작성: 1~2주 소요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61760" y="2743200"/>
            <a:ext cx="512064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61760" y="27432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28872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기획서 초안 AI 생성 → 3일로 단축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9600" y="3771900"/>
            <a:ext cx="5120640" cy="9601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9600" y="37719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39159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소비자 리뷰 분석: 수백 건 수동 읽기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61760" y="3771900"/>
            <a:ext cx="5120640" cy="9601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61760" y="37719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39159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리뷰 수천 건 AI 감성 분석 &amp; 인사이트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9600" y="4800600"/>
            <a:ext cx="5120640" cy="960120"/>
          </a:xfrm>
          <a:prstGeom prst="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9600" y="4800600"/>
            <a:ext cx="48768" cy="960120"/>
          </a:xfrm>
          <a:prstGeom prst="rect">
            <a:avLst/>
          </a:prstGeom>
          <a:solidFill>
            <a:srgbClr val="FC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9446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트렌드 예측: 리포트 구매 비용 발생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61760" y="4800600"/>
            <a:ext cx="5120640" cy="96012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61760" y="4800600"/>
            <a:ext cx="48768" cy="9601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944618"/>
            <a:ext cx="4876800" cy="672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SNS·커뮤니티 트렌드 자동 모니터링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0" y="1097280"/>
            <a:ext cx="487680" cy="521208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0" y="3291840"/>
            <a:ext cx="48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E7D32"/>
                </a:solidFill>
                <a:latin typeface="Apple SD Gothic Neo"/>
              </a:rPr>
              <a:t>→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상품기획 — AI 도입 효과 수치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165860"/>
            <a:ext cx="4876800" cy="35661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32576" y="120015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0" y="116586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0" y="116586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4249" y="139628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1,000배↑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4249" y="216438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처리 가능 데이터 규모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4249" y="270205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McKinsey 2024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02496" y="120015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65920" y="116586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265920" y="116586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34169" y="139628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3~6개월↑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34169" y="216438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트렌드 조기 감지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34169" y="270205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Gartner 2024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32576" y="346329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6000" y="342900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4249" y="365942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10시간→1시간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4249" y="442752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경쟁사 분석 시간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4249" y="496519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내부 사례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02496" y="3463290"/>
            <a:ext cx="2804160" cy="19202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65920" y="3429000"/>
            <a:ext cx="280416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65920" y="3429000"/>
            <a:ext cx="280416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34169" y="3659428"/>
            <a:ext cx="2467660" cy="7296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7D32"/>
                </a:solidFill>
                <a:latin typeface="Apple SD Gothic Neo"/>
              </a:rPr>
              <a:t>2주→3일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4169" y="4427524"/>
            <a:ext cx="2467660" cy="5376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기획서 작성 기간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4169" y="4965192"/>
            <a:ext cx="2467660" cy="2880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Apple SD Gothic Neo"/>
              </a:rPr>
              <a:t>내부 사례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9600" y="5006340"/>
            <a:ext cx="1097280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09600" y="5006340"/>
            <a:ext cx="60960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3440" y="5143500"/>
            <a:ext cx="1036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2B4C"/>
                </a:solidFill>
                <a:latin typeface="Apple SD Gothic Neo"/>
              </a:rPr>
              <a:t>에이전트 도입 예시: 경쟁사 인텔리전스 에이전트 — 매일 오전 경쟁사 가격·스펙 자동 수집 → 변동 감지 시 즉시 Slack 알림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상품기획 에이전트 자동화 워크플로우 — 6단계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097280"/>
            <a:ext cx="11216640" cy="37719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2425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8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768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61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트리거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61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2841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277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사용 도구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277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3257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9600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600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5693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산출물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693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36736" y="5177790"/>
            <a:ext cx="2682240" cy="1234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00160" y="5143500"/>
            <a:ext cx="2682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00160" y="5143500"/>
            <a:ext cx="2682240" cy="3429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1094" y="5242255"/>
            <a:ext cx="2360371" cy="395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Apple SD Gothic Neo"/>
              </a:rPr>
              <a:t>절약 시간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61094" y="5686653"/>
            <a:ext cx="2360371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—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상품기획 에이전트 도입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상품기획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경쟁사 인텔리전스 에이전트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매일 오전 경쟁사 가격·스펙 자동 수집 → 변동 감지 시 즉시 Slack 알림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Playwright  ·  Claude API  ·  pandas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일간 경쟁사 변동 알림 + 주간 심층 분석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상품기획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리뷰 인사이트 추출 에이전트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Amazon/Coupang 리뷰 1,000건 수집 → 불만 유형 분류 + 개선 제안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Playwright  ·  Claude API  ·  pandas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리뷰 감성 분석 리포트 + TOP10 불만 항목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상품기획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기획서 초안 생성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카테고리 + 타깃 고객 입력 → 시장 분석·포지셔닝·로드맵 초안 자동 작성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Claude API  ·  Perplexity  ·  python-pptx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기획서 초안 PPT (10~15슬라이드)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3개 직무 공통 AI 자동화 패턴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8534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영업·마케팅·상품기획 모두 동일한 3가지 패턴으로 생산성이 향상됩니다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543050"/>
            <a:ext cx="3413760" cy="4663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08760"/>
            <a:ext cx="34137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08760"/>
            <a:ext cx="341376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9328" y="1788566"/>
            <a:ext cx="3072384" cy="839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4ED8"/>
                </a:solidFill>
                <a:latin typeface="Apple SD Gothic Neo"/>
              </a:rPr>
              <a:t>반복 업무 자동화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9328" y="2674620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9328" y="3001060"/>
            <a:ext cx="97536" cy="5596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0016" y="2814523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정기 리포트 자동 생성·발송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9328" y="4027016"/>
            <a:ext cx="97536" cy="5596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0016" y="3840479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데이터 수집 자동 크롤링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9328" y="5052972"/>
            <a:ext cx="97536" cy="55961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0016" y="4866435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문서·제안서 초안 자동 생성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47616" y="1543050"/>
            <a:ext cx="3413760" cy="4663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11040" y="1508760"/>
            <a:ext cx="34137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11040" y="1508760"/>
            <a:ext cx="3413760" cy="41148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1728" y="1788566"/>
            <a:ext cx="3072384" cy="839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6B4F"/>
                </a:solidFill>
                <a:latin typeface="Apple SD Gothic Neo"/>
              </a:rPr>
              <a:t>데이터 분석 가속화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81728" y="2674620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81728" y="3001060"/>
            <a:ext cx="97536" cy="559612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52416" y="2814523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대용량 리뷰·데이터 즉시 분석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81728" y="4027016"/>
            <a:ext cx="97536" cy="559612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52416" y="3840479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트렌드 3~6개월 조기 감지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81728" y="5052972"/>
            <a:ext cx="97536" cy="559612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52416" y="4866435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경쟁사 인텔리전스 자동화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10016" y="1543050"/>
            <a:ext cx="3413760" cy="466344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73440" y="1508760"/>
            <a:ext cx="341376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73440" y="1508760"/>
            <a:ext cx="3413760" cy="411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4128" y="1788566"/>
            <a:ext cx="3072384" cy="8394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D28D9"/>
                </a:solidFill>
                <a:latin typeface="Apple SD Gothic Neo"/>
              </a:rPr>
              <a:t>콘텐츠 대량 생산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44128" y="2674620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44128" y="3001060"/>
            <a:ext cx="97536" cy="55961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14816" y="2814523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기획서/제안서 초안: 수 시간→수 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44128" y="4027016"/>
            <a:ext cx="97536" cy="55961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14816" y="3840479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SNS 7일치 콘텐츠 30분 생성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44128" y="5052972"/>
            <a:ext cx="97536" cy="55961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14816" y="4866435"/>
            <a:ext cx="2935833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4155"/>
                </a:solidFill>
                <a:latin typeface="Apple SD Gothic Neo"/>
              </a:rPr>
              <a:t>A/B 변형 50개 즉시 생성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90560" y="685800"/>
            <a:ext cx="3657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>
                <a:solidFill>
                  <a:srgbClr val="0F2B4C"/>
                </a:solidFill>
                <a:latin typeface="Apple SD Gothic Neo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1234440"/>
            <a:ext cx="487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D28D9"/>
                </a:solidFill>
                <a:latin typeface="Apple SD Gothic Neo"/>
              </a:rPr>
              <a:t>CHAPTER 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2057400"/>
            <a:ext cx="8290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</a:rPr>
              <a:t>실전 데모: AI로 만드는 콘텐츠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440" y="4251960"/>
            <a:ext cx="4267200" cy="1371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44577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ple SD Gothic Neo"/>
              </a:rPr>
              <a:t>직접 보고, 직접 해보는 AI 활용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실전 데모 목록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28700"/>
            <a:ext cx="1072896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0016" y="1261872"/>
            <a:ext cx="10607040" cy="9875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3440" y="1234440"/>
            <a:ext cx="106070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3440" y="1234440"/>
            <a:ext cx="60960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31950"/>
            <a:ext cx="463296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A1B9A"/>
                </a:solidFill>
                <a:latin typeface="Apple SD Gothic Ne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382572"/>
            <a:ext cx="963168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데모 1: 제품 소개 HTML 랜딩 페이지 30초 만들기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0016" y="2304288"/>
            <a:ext cx="10607040" cy="9875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3440" y="2276856"/>
            <a:ext cx="106070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3440" y="2276856"/>
            <a:ext cx="60960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474366"/>
            <a:ext cx="463296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A1B9A"/>
                </a:solidFill>
                <a:latin typeface="Apple SD Gothic Neo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424988"/>
            <a:ext cx="963168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데모 2: 마케팅 이미지 프롬프트 → 생성 결과 비교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0016" y="3346704"/>
            <a:ext cx="10607040" cy="9875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53440" y="3319272"/>
            <a:ext cx="106070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3440" y="3319272"/>
            <a:ext cx="60960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516782"/>
            <a:ext cx="463296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A1B9A"/>
                </a:solidFill>
                <a:latin typeface="Apple SD Gothic Ne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467404"/>
            <a:ext cx="963168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데모 3: 상품 기획서 초안 → AI 리뷰 → 완성본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0016" y="4389120"/>
            <a:ext cx="10607040" cy="9875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53440" y="4361688"/>
            <a:ext cx="106070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53440" y="4361688"/>
            <a:ext cx="60960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559198"/>
            <a:ext cx="463296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A1B9A"/>
                </a:solidFill>
                <a:latin typeface="Apple SD Gothic Neo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4509820"/>
            <a:ext cx="963168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데모 4: 에이전트로 경쟁사 가격 자동 수집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0016" y="5431536"/>
            <a:ext cx="10607040" cy="9875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53440" y="5404104"/>
            <a:ext cx="106070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3440" y="5404104"/>
            <a:ext cx="60960" cy="987552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601614"/>
            <a:ext cx="463296" cy="592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A1B9A"/>
                </a:solidFill>
                <a:latin typeface="Apple SD Gothic Neo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552236"/>
            <a:ext cx="9631680" cy="691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4155"/>
                </a:solidFill>
                <a:latin typeface="Apple SD Gothic Neo"/>
              </a:rPr>
              <a:t>데모 5: 이 강의 자료도 AI가 만들었다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</a:rPr>
              <a:t>데모 1: 제품 소개 랜딩 페이지 30초 만들기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728960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6586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6586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60" y="130302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프롬프트 하나로 완성된 HTML 랜딩 페이지 즉시 생성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5740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360" y="219456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히어로 · 특징 3가지 · Before-After · CTA 자동 포함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4894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94894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5360" y="308610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'색상을 파란색으로 바꿔줘' → 자연어로 즉시 수정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5360" y="397764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결과: 기존 2~3일 → 30초 (360배 빠름, 비용 $0)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937760"/>
            <a:ext cx="10728960" cy="1508760"/>
          </a:xfrm>
          <a:prstGeom prst="rect">
            <a:avLst/>
          </a:prstGeom>
          <a:solidFill>
            <a:srgbClr val="05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4937760"/>
            <a:ext cx="60960" cy="15087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5360" y="5006340"/>
            <a:ext cx="24384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Apple SD Gothic Neo"/>
              </a:rPr>
              <a:t>사용 프롬프트: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360" y="5417820"/>
            <a:ext cx="10241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"[제품명] 소개 랜딩 페이지를 HTML로 만들어줘. 히어로 섹션, 특징 3가지, Before/After 비교, CTA 포함. 다크 배경에 오렌지 포인트 컬러, 모바일 반응형."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pple SD Gothic Neo"/>
              </a:rPr>
              <a:t>데모 2: AI 이미지 생성 — 프롬프트 품질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728960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16586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16586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5360" y="130302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❌ 나쁜 프롬프트: 'SSD 사진' → 평범한 스톡 이미지 수준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5740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05740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5360" y="219456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좋은 프롬프트: 'Modern NVMe SSD floating, electric blue particles, 8K, studio lighting, premium tech aesthetic' → 광고 수준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94894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94894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5360" y="308610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핵심: 스타일·조명·분위기 키워드가 결과를 10배 바꾼다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10728960" cy="75438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60960" cy="75438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5360" y="3977640"/>
            <a:ext cx="1024128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BD5E1"/>
                </a:solidFill>
                <a:latin typeface="Apple SD Gothic Neo"/>
              </a:rPr>
              <a:t>✅ 도구별: DALL-E 3 (한국어 OK), Midjourney (최고품질), Firefly (상업용 안전)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CH3 — 데모 자동화 에이전트 사례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마케팅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랜딩 페이지 배치 생성기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제품 목록 CSV 업로드 → 각 제품별 HTML 랜딩 페이지 일괄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Claude API  ·  Python  ·  Jinja2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제품별 HTML 랜딩 페이지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마케팅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A/B 카피 자동 테스트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광고 소재 업로드 → 50개 변형 생성 → Meta/Google Ads API 자동 제출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Claude API  ·  Meta Ads API  ·  Google Ads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50개 카피 + 자동 게재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마케팅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콘텐츠 품질 검수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AI 생성 콘텐츠 → 브랜드 가이드라인 체크 → 승인/거절/수정 제안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Claude API  ·  Custom Rules Engine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품질 검수 리포트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90560" y="685800"/>
            <a:ext cx="3657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>
                <a:solidFill>
                  <a:srgbClr val="0F2B4C"/>
                </a:solidFill>
                <a:latin typeface="Apple SD Gothic Neo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1234440"/>
            <a:ext cx="487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B91C1C"/>
                </a:solidFill>
                <a:latin typeface="Apple SD Gothic Neo"/>
              </a:rPr>
              <a:t>CHAPTER 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2057400"/>
            <a:ext cx="8290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</a:rPr>
              <a:t>AI 에이전트: 자동화의 미래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440" y="4251960"/>
            <a:ext cx="4267200" cy="13716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44577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ple SD Gothic Neo"/>
              </a:rPr>
              <a:t>당신의 AI 팀원을 설계하는 법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AI 에이전트란 무엇인가?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165860"/>
            <a:ext cx="5120640" cy="150876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1165860"/>
            <a:ext cx="512064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3440" y="1303020"/>
            <a:ext cx="463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91B1B"/>
                </a:solidFill>
                <a:latin typeface="Apple SD Gothic Neo"/>
              </a:rPr>
              <a:t>일반 AI (ChatGPT)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" y="1783080"/>
            <a:ext cx="463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7F1D1D"/>
                </a:solidFill>
                <a:latin typeface="Apple SD Gothic Neo"/>
              </a:rPr>
              <a:t>질문에 답하는 기계
한 번에 하나의 답변만 생성
외부 도구 사용 불가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6461760" y="1165860"/>
            <a:ext cx="5120640" cy="150876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61760" y="1165860"/>
            <a:ext cx="5120640" cy="548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5600" y="1303020"/>
            <a:ext cx="4632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65F46"/>
                </a:solidFill>
                <a:latin typeface="Apple SD Gothic Neo"/>
              </a:rPr>
              <a:t>AI 에이전트 (Claude Code 등)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1783080"/>
            <a:ext cx="463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64E3B"/>
                </a:solidFill>
                <a:latin typeface="Apple SD Gothic Neo"/>
              </a:rPr>
              <a:t>목표를 주면 스스로 계획하고 실행
다단계 작업을 자율 처리
외부 도구·인터넷·코드 사용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0240" y="1508760"/>
            <a:ext cx="7315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BF360C"/>
                </a:solidFill>
                <a:latin typeface="Apple SD Gothic Neo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" y="4423410"/>
            <a:ext cx="3413760" cy="1783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389120"/>
            <a:ext cx="3413760" cy="17830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389120"/>
            <a:ext cx="341376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740" y="4531766"/>
            <a:ext cx="682752" cy="624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ple SD Gothic Neo"/>
              </a:rPr>
              <a:t>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1043" y="4531766"/>
            <a:ext cx="2184806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Apple SD Gothic Neo"/>
              </a:rPr>
              <a:t>Tool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3465" y="5191506"/>
            <a:ext cx="3004108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인터넷 검색, 파일 읽기, 코드 실행, API 호출 등 외부 도구를 직접 사용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47616" y="4423410"/>
            <a:ext cx="3413760" cy="1783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11040" y="4389120"/>
            <a:ext cx="3413760" cy="17830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11040" y="4389120"/>
            <a:ext cx="3413760" cy="41148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84140" y="4531766"/>
            <a:ext cx="682752" cy="624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ple SD Gothic Neo"/>
              </a:rPr>
              <a:t>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3443" y="4531766"/>
            <a:ext cx="2184806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6B4F"/>
                </a:solidFill>
                <a:latin typeface="Apple SD Gothic Neo"/>
              </a:rPr>
              <a:t>Memory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5865" y="5191506"/>
            <a:ext cx="3004108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이전 대화와 작업을 기억. 문맥을 유지하며 일관된 다단계 작업 수행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10016" y="4423410"/>
            <a:ext cx="3413760" cy="17830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73440" y="4389120"/>
            <a:ext cx="3413760" cy="178308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73440" y="4389120"/>
            <a:ext cx="3413760" cy="4114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46540" y="4531766"/>
            <a:ext cx="682752" cy="624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Apple SD Gothic Neo"/>
              </a:rPr>
              <a:t>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65843" y="4531766"/>
            <a:ext cx="2184806" cy="534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D28D9"/>
                </a:solidFill>
                <a:latin typeface="Apple SD Gothic Neo"/>
              </a:rPr>
              <a:t>Orchestration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78265" y="5191506"/>
            <a:ext cx="3004108" cy="89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큰 목표를 작은 단계로 자동 분해하고 순서대로 실행하는 계획 능력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에이전트 실행 메커니즘 — 6단계 루프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165860"/>
            <a:ext cx="11216640" cy="38404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9600" y="5349240"/>
            <a:ext cx="10972800" cy="10972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5349240"/>
            <a:ext cx="60960" cy="109728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5486400"/>
            <a:ext cx="10485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F2B4C"/>
                </a:solidFill>
                <a:latin typeface="Apple SD Gothic Neo"/>
              </a:rPr>
              <a:t>실제 사례: "경쟁사 가격 분석 리포트 만들어줘" →  에이전트가 URL 확인 → 크롤링 → 정리 → 비교 분석 → PDF 생성 → 이메일 발송까지 자동 실행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코딩 없이 에이전트 만들기 — 노코드 3대 플랫폼</a:t>
            </a:r>
          </a:p>
        </p:txBody>
      </p:sp>
      <p:sp>
        <p:nvSpPr>
          <p:cNvPr id="5" name="Rectangle 4"/>
          <p:cNvSpPr/>
          <p:nvPr/>
        </p:nvSpPr>
        <p:spPr>
          <a:xfrm>
            <a:off x="585216" y="1268730"/>
            <a:ext cx="3413760" cy="5074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341376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3413760" cy="41148"/>
          </a:xfrm>
          <a:prstGeom prst="rect">
            <a:avLst/>
          </a:prstGeom>
          <a:solidFill>
            <a:srgbClr val="FF4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9328" y="1437436"/>
            <a:ext cx="3072384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4F00"/>
                </a:solidFill>
                <a:latin typeface="Apple SD Gothic Neo"/>
              </a:rPr>
              <a:t>⚡  Zapier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328" y="2046427"/>
            <a:ext cx="3072384" cy="1116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7,000개 이상 앱 연결
드래그&amp;드롭 자동화
가장 많이 쓰이는 노코드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9328" y="3213658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9328" y="3315157"/>
            <a:ext cx="3072384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4F00"/>
                </a:solidFill>
                <a:latin typeface="Apple SD Gothic Neo"/>
              </a:rPr>
              <a:t>최적 용도: 영업 알림·CRM 자동화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9328" y="3873398"/>
            <a:ext cx="3072384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Gmail 수신 → Claude 요약 → Notion 저장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9328" y="5091379"/>
            <a:ext cx="3072384" cy="60899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328" y="5142128"/>
            <a:ext cx="3072384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ple SD Gothic Neo"/>
              </a:rPr>
              <a:t>비용: 무료 / 월$19.99~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47616" y="1268730"/>
            <a:ext cx="3413760" cy="5074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11040" y="1234440"/>
            <a:ext cx="341376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11040" y="1234440"/>
            <a:ext cx="3413760" cy="41148"/>
          </a:xfrm>
          <a:prstGeom prst="rect">
            <a:avLst/>
          </a:prstGeom>
          <a:solidFill>
            <a:srgbClr val="6D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1437436"/>
            <a:ext cx="3072384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D00CC"/>
                </a:solidFill>
                <a:latin typeface="Apple SD Gothic Neo"/>
              </a:rPr>
              <a:t>🔗  Make (Integromat)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2046427"/>
            <a:ext cx="3072384" cy="1116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복잡한 워크플로우 시각화
Zapier 대비 저렴한 가격
데이터 가공 유연성 높음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1728" y="3213658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3315157"/>
            <a:ext cx="3072384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D00CC"/>
                </a:solidFill>
                <a:latin typeface="Apple SD Gothic Neo"/>
              </a:rPr>
              <a:t>최적 용도: 마케팅 콘텐츠 파이프라인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81728" y="3873398"/>
            <a:ext cx="3072384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신제품 등록 → SNS 카피 생성 → Buffer 예약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81728" y="5091379"/>
            <a:ext cx="3072384" cy="60899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81728" y="5142128"/>
            <a:ext cx="3072384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ple SD Gothic Neo"/>
              </a:rPr>
              <a:t>비용: 무료 / 월$9~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10016" y="1268730"/>
            <a:ext cx="3413760" cy="50749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73440" y="1234440"/>
            <a:ext cx="341376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73440" y="1234440"/>
            <a:ext cx="341376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4128" y="1437436"/>
            <a:ext cx="3072384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D4ED8"/>
                </a:solidFill>
                <a:latin typeface="Apple SD Gothic Neo"/>
              </a:rPr>
              <a:t>🤖  Claude / ChatGPT 직접 활용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4128" y="2046427"/>
            <a:ext cx="3072384" cy="11164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Apple SD Gothic Neo"/>
              </a:rPr>
              <a:t>대화형 프롬프트만으로
별도 설정 없이 즉시 사용
가장 낮은 진입 장벽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44128" y="3213658"/>
            <a:ext cx="3072384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4128" y="3315157"/>
            <a:ext cx="3072384" cy="405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Apple SD Gothic Neo"/>
              </a:rPr>
              <a:t>최적 용도: 상품기획·문서 작성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4128" y="3873398"/>
            <a:ext cx="3072384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경쟁사 URL 붙여넣기 → 분석 + 기획서 초안 즉시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644128" y="5091379"/>
            <a:ext cx="3072384" cy="60899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44128" y="5142128"/>
            <a:ext cx="3072384" cy="5074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F172A"/>
                </a:solidFill>
                <a:latin typeface="Apple SD Gothic Neo"/>
              </a:rPr>
              <a:t>비용: 무료 / 월$20~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CH4 — 직무별 에이전트 예시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영업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영업 준비 자동화 에이전트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미팅 일정 등록 시 고객사 분석 리포트 + 반론 시나리오 자동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Claude API  ·  Perplexity Search  ·  Salesforce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미팅 브리핑 PDF + 반론 10개 스크립트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마케팅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SNS 콘텐츠 파이프라인 에이전트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매주 금요일 7일치 SNS 카피 21개 + 이미지 프롬프트 자동 생성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Claude API  ·  DALL-E 3  ·  Buffer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주간 콘텐츠 캘린더 + 이미지 프롬프트 21개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상품기획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경쟁사 인텔리전스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매일 오전 경쟁사 가격·스펙 자동 수집 → 변동 감지 시 즉시 Slack 알림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Playwright  ·  Claude API  ·  pandas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일간 경쟁사 변동 알림 + 주간 심층 분석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F36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지금 당장 첫 번째 에이전트 만들기 — 5단계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829056" y="1268730"/>
            <a:ext cx="10607040" cy="960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92480" y="1234440"/>
            <a:ext cx="106070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2480" y="1234440"/>
            <a:ext cx="60960" cy="96012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" y="1426464"/>
            <a:ext cx="609600" cy="576072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426464"/>
            <a:ext cx="609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330452"/>
            <a:ext cx="3413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ple SD Gothic Neo"/>
              </a:rPr>
              <a:t>반복 업무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781708"/>
            <a:ext cx="877824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매주 하는 작업 중 '자동화하면 좋겠다' 싶은 것 1개 선택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9056" y="2297430"/>
            <a:ext cx="10607040" cy="960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92480" y="2263140"/>
            <a:ext cx="106070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2480" y="2263140"/>
            <a:ext cx="60960" cy="96012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" y="2455164"/>
            <a:ext cx="609600" cy="576072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455164"/>
            <a:ext cx="609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2359152"/>
            <a:ext cx="3413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ple SD Gothic Neo"/>
              </a:rPr>
              <a:t>입력·출력 정의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2810408"/>
            <a:ext cx="877824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'무엇을 넣으면 → 무엇이 나와야 하는가' 명확히 정의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9056" y="3326130"/>
            <a:ext cx="10607040" cy="960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2480" y="3291840"/>
            <a:ext cx="106070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2480" y="3291840"/>
            <a:ext cx="60960" cy="96012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" y="3483864"/>
            <a:ext cx="609600" cy="576072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3483864"/>
            <a:ext cx="609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3387852"/>
            <a:ext cx="3413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ple SD Gothic Neo"/>
              </a:rPr>
              <a:t>필요 도구 결정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3839108"/>
            <a:ext cx="877824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검색? 이메일? CRM? 파일 읽기? 필요한 도구 목록 메모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9056" y="4354830"/>
            <a:ext cx="10607040" cy="960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92480" y="4320540"/>
            <a:ext cx="106070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2480" y="4320540"/>
            <a:ext cx="60960" cy="960120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97280" y="4512564"/>
            <a:ext cx="609600" cy="576072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97280" y="4512564"/>
            <a:ext cx="609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416552"/>
            <a:ext cx="3413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ple SD Gothic Neo"/>
              </a:rPr>
              <a:t>AI에게 설계 요청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4867808"/>
            <a:ext cx="877824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"내 업무는 ~이야. 이걸 자동화하는 에이전트 만들어줘" 그대로 입력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9056" y="5383530"/>
            <a:ext cx="10607040" cy="960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92480" y="5349240"/>
            <a:ext cx="10607040" cy="960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2480" y="5349240"/>
            <a:ext cx="60960" cy="960120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97280" y="5541264"/>
            <a:ext cx="609600" cy="576072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0" y="5541264"/>
            <a:ext cx="609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ple SD Gothic Neo"/>
              </a:rPr>
              <a:t>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0" y="5445252"/>
            <a:ext cx="3413760" cy="432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Apple SD Gothic Neo"/>
              </a:rPr>
              <a:t>테스트 → 개선 반복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828800" y="5896508"/>
            <a:ext cx="8778240" cy="345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Apple SD Gothic Neo"/>
              </a:rPr>
              <a:t>처음엔 70점이어도 OK — 피드백으로 점진적 개선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90560" y="685800"/>
            <a:ext cx="365760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>
                <a:solidFill>
                  <a:srgbClr val="0F2B4C"/>
                </a:solidFill>
                <a:latin typeface="Apple SD Gothic Neo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40" y="1234440"/>
            <a:ext cx="487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7490"/>
                </a:solidFill>
                <a:latin typeface="Apple SD Gothic Neo"/>
              </a:rPr>
              <a:t>CHAPTER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2057400"/>
            <a:ext cx="829056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ple SD Gothic Neo"/>
              </a:rPr>
              <a:t>지금 당장 시작하는 AI 워크플로우</a:t>
            </a:r>
          </a:p>
        </p:txBody>
      </p:sp>
      <p:sp>
        <p:nvSpPr>
          <p:cNvPr id="7" name="Rectangle 6"/>
          <p:cNvSpPr/>
          <p:nvPr/>
        </p:nvSpPr>
        <p:spPr>
          <a:xfrm>
            <a:off x="853440" y="4251960"/>
            <a:ext cx="4267200" cy="13716"/>
          </a:xfrm>
          <a:prstGeom prst="rect">
            <a:avLst/>
          </a:prstGeom>
          <a:solidFill>
            <a:srgbClr val="0E74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3440" y="44577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64748B"/>
                </a:solidFill>
                <a:latin typeface="Apple SD Gothic Neo"/>
              </a:rPr>
              <a:t>내일부터 써먹는 실전 로드맵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직무별 AI 도구 추천 매트릭스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65860"/>
            <a:ext cx="3413760" cy="4800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65860"/>
            <a:ext cx="34137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</a:rPr>
              <a:t>영업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8021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80210"/>
            <a:ext cx="60960" cy="106299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9328" y="174398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Claude.ai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9328" y="214792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제안서 초안, 이메일 맞춤화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65171" y="246682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65171" y="246682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77490"/>
            <a:ext cx="3413760" cy="106299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777490"/>
            <a:ext cx="60960" cy="106299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9328" y="284126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Perplexity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9328" y="324520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고객사 실시간 리서치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65171" y="356410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65171" y="356410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7477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74770"/>
            <a:ext cx="60960" cy="106299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9328" y="393854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Notion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9328" y="434248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미팅 노트 요약, CRM 메모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65171" y="466138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665171" y="466138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972050"/>
            <a:ext cx="3413760" cy="106299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972050"/>
            <a:ext cx="60960" cy="106299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9328" y="503582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Gong.io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9328" y="543976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영업 콜 AI 분석 + 코칭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65171" y="5758662"/>
            <a:ext cx="1194816" cy="233857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65171" y="575866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보통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11040" y="1165860"/>
            <a:ext cx="3413760" cy="48006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11040" y="1165860"/>
            <a:ext cx="34137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</a:rPr>
              <a:t>마케팅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11040" y="168021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11040" y="1680210"/>
            <a:ext cx="60960" cy="106299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81728" y="174398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Claude.ai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81728" y="214792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카피라이팅, A/B 테스트 문구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27571" y="246682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7571" y="246682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11040" y="2777490"/>
            <a:ext cx="3413760" cy="106299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11040" y="2777490"/>
            <a:ext cx="60960" cy="106299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81728" y="284126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DALL-E 3 / Midjourney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1728" y="324520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마케팅 이미지 생성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27571" y="356410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7571" y="356410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11040" y="387477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511040" y="3874770"/>
            <a:ext cx="60960" cy="106299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81728" y="393854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Canva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81728" y="434248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SNS 비주얼 빠른 제작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27571" y="466138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7571" y="466138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11040" y="4972050"/>
            <a:ext cx="3413760" cy="106299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511040" y="4972050"/>
            <a:ext cx="60960" cy="1062990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681728" y="503582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Jasper AI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81728" y="543976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대량 콘텐츠 자동 생성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27571" y="5758662"/>
            <a:ext cx="1194816" cy="233857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27571" y="575866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보통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473440" y="1165860"/>
            <a:ext cx="3413760" cy="48006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473440" y="1165860"/>
            <a:ext cx="341376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ple SD Gothic Neo"/>
              </a:rPr>
              <a:t>상품기획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473440" y="168021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473440" y="1680210"/>
            <a:ext cx="60960" cy="106299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44128" y="174398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Claude.ai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44128" y="214792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기획서 초안, 리뷰 분석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589971" y="246682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89971" y="246682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473440" y="2777490"/>
            <a:ext cx="3413760" cy="106299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473440" y="2777490"/>
            <a:ext cx="60960" cy="106299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44128" y="284126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Perplexity AI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44128" y="324520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트렌드 리서치, 경쟁사 조사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589971" y="3564102"/>
            <a:ext cx="1194816" cy="233857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589971" y="356410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쉬움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73440" y="3874770"/>
            <a:ext cx="3413760" cy="10629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8473440" y="3874770"/>
            <a:ext cx="60960" cy="106299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644128" y="393854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ChatGPT + Code Interpreter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44128" y="434248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데이터 분석, 차트 생성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589971" y="4661382"/>
            <a:ext cx="1194816" cy="233857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0589971" y="466138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보통</a:t>
            </a:r>
          </a:p>
        </p:txBody>
      </p:sp>
      <p:sp>
        <p:nvSpPr>
          <p:cNvPr id="77" name="Rectangle 76"/>
          <p:cNvSpPr/>
          <p:nvPr/>
        </p:nvSpPr>
        <p:spPr>
          <a:xfrm>
            <a:off x="8473440" y="4972050"/>
            <a:ext cx="3413760" cy="106299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8473440" y="4972050"/>
            <a:ext cx="60960" cy="1062990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644128" y="5035829"/>
            <a:ext cx="3140659" cy="40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F172A"/>
                </a:solidFill>
                <a:latin typeface="Apple SD Gothic Neo"/>
              </a:rPr>
              <a:t>Claude Code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644128" y="5439765"/>
            <a:ext cx="3140659" cy="297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Apple SD Gothic Neo"/>
              </a:rPr>
              <a:t>크롤링 에이전트 구축</a:t>
            </a:r>
          </a:p>
        </p:txBody>
      </p:sp>
      <p:sp>
        <p:nvSpPr>
          <p:cNvPr id="81" name="Rectangle 80"/>
          <p:cNvSpPr/>
          <p:nvPr/>
        </p:nvSpPr>
        <p:spPr>
          <a:xfrm>
            <a:off x="10589971" y="5758662"/>
            <a:ext cx="1194816" cy="233857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589971" y="5758662"/>
            <a:ext cx="1194816" cy="2338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보통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TRIE 프롬프트 공식 — 4요소로 AI 품질 10배 향상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165860"/>
            <a:ext cx="11216640" cy="50063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377940"/>
            <a:ext cx="1072896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ple SD Gothic Neo"/>
              </a:rPr>
              <a:t>이 4가지 공식은 ChatGPT, Claude, Gemini 등 모든 AI 서비스에 동일하게 적용됩니다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나쁜 프롬프트 vs TRIE 공식 적용 — 실전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65860"/>
            <a:ext cx="3169920" cy="260604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65860"/>
            <a:ext cx="3169920" cy="411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7680" y="1322222"/>
            <a:ext cx="2926080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  <a:latin typeface="Apple SD Gothic Neo"/>
              </a:rPr>
              <a:t>❌  [영업] 잘못된 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7680" y="1843430"/>
            <a:ext cx="2926080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91C1C"/>
                </a:solidFill>
                <a:latin typeface="Apple SD Gothic Neo"/>
              </a:rPr>
              <a:t>"제안서 써줘"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35679" y="2156155"/>
            <a:ext cx="731520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4D40"/>
                </a:solidFill>
                <a:latin typeface="Apple SD Gothic Neo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165860"/>
            <a:ext cx="7437120" cy="26060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165860"/>
            <a:ext cx="7437120" cy="411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1040" y="1322222"/>
            <a:ext cx="7193280" cy="36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5F46"/>
                </a:solidFill>
                <a:latin typeface="Apple SD Gothic Neo"/>
              </a:rPr>
              <a:t>✅  TRIE 공식 적용 — 응답 품질 5배 향상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1040" y="1765249"/>
            <a:ext cx="7193280" cy="1824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532D"/>
                </a:solidFill>
                <a:latin typeface="Apple SD Gothic Neo"/>
              </a:rPr>
              <a:t>[역할] 당신은 IT 솔루션 영업 전문가입니다.
[과제] 삼성전자 물류팀을 위한 SaaS 솔루션 제안서 초안을 작성해주세요.
[입력] 예산: 연 2억, 도입 목적: 물류 효율화, 담당자: 구매팀 김과장
[기대] 5페이지 분량, 핵심 가치 3가지, ROI 수치 포함, 한국어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909060"/>
            <a:ext cx="3169920" cy="260604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909060"/>
            <a:ext cx="3169920" cy="411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7680" y="4065422"/>
            <a:ext cx="2926080" cy="4169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991B1B"/>
                </a:solidFill>
                <a:latin typeface="Apple SD Gothic Neo"/>
              </a:rPr>
              <a:t>❌  [마케팅] 잘못된 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7680" y="4586630"/>
            <a:ext cx="2926080" cy="1563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91C1C"/>
                </a:solidFill>
                <a:latin typeface="Apple SD Gothic Neo"/>
              </a:rPr>
              <a:t>"SNS 글 써줘"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5679" y="4899355"/>
            <a:ext cx="731520" cy="625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4D40"/>
                </a:solidFill>
                <a:latin typeface="Apple SD Gothic Neo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3909060"/>
            <a:ext cx="7437120" cy="260604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3909060"/>
            <a:ext cx="7437120" cy="411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11040" y="4065422"/>
            <a:ext cx="7193280" cy="3648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65F46"/>
                </a:solidFill>
                <a:latin typeface="Apple SD Gothic Neo"/>
              </a:rPr>
              <a:t>✅  TRIE 공식 적용 — 전환율 +18% 기대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1040" y="4508449"/>
            <a:ext cx="7193280" cy="1824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4532D"/>
                </a:solidFill>
                <a:latin typeface="Apple SD Gothic Neo"/>
              </a:rPr>
              <a:t>[역할] 당신은 MZ세대 디지털 마케터입니다.
[과제] 무선이어폰 출시 인스타그램 피드 카피 3개 버전을 작성해주세요.
[입력] 제품명: SoundX Pro, 타깃: 20~30대 직장인, 강점: 35시간 배터리
[기대] 각 150자 이내, 해시태그 5개, 구매 유도 CTA 포함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30일 AI 온보딩 로드맵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" y="1165860"/>
            <a:ext cx="11216640" cy="48691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24078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ple SD Gothic Neo"/>
              </a:rPr>
              <a:t>처음부터 완벽하지 않아도 됩니다. 매주 1개씩 실행하면 30일 후 완전히 다른 업무 환경이 만들어집니다.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3632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0F172A"/>
                </a:solidFill>
                <a:latin typeface="Apple SD Gothic Neo"/>
              </a:rPr>
              <a:t>AI 도입 시 반드시 알아야 할 4가지 주의사항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60120"/>
            <a:ext cx="10728960" cy="685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24256" y="1200150"/>
            <a:ext cx="5364480" cy="2468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7680" y="1165860"/>
            <a:ext cx="53644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7680" y="1165860"/>
            <a:ext cx="5364480" cy="3429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2259" y="1363370"/>
            <a:ext cx="804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172A"/>
                </a:solidFill>
                <a:latin typeface="Apple SD Gothic Neo"/>
              </a:rPr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7865" y="1388059"/>
            <a:ext cx="3969715" cy="44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Apple SD Gothic Neo"/>
              </a:rPr>
              <a:t>보안 &amp; 개인정보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2259" y="1906524"/>
            <a:ext cx="4935321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2259" y="1980590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1B1B"/>
                </a:solidFill>
                <a:latin typeface="Apple SD Gothic Neo"/>
              </a:rPr>
              <a:t>위험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259" y="2227478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1D1D"/>
                </a:solidFill>
                <a:latin typeface="Apple SD Gothic Neo"/>
              </a:rPr>
              <a:t>고객 개인정보·내부 기밀을 공개 AI 서비스에 직접 입력 금지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" y="2770632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5F46"/>
                </a:solidFill>
                <a:latin typeface="Apple SD Gothic Neo"/>
              </a:rPr>
              <a:t>대응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" y="3017520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4E3B"/>
                </a:solidFill>
                <a:latin typeface="Apple SD Gothic Neo"/>
              </a:rPr>
              <a:t>데이터 익명화 처리 후 입력 / 사내 전용 AI 환경 구축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8336" y="1200150"/>
            <a:ext cx="5364480" cy="2468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61760" y="1165860"/>
            <a:ext cx="53644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61760" y="1165860"/>
            <a:ext cx="5364480" cy="3429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6339" y="1363370"/>
            <a:ext cx="804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172A"/>
                </a:solidFill>
                <a:latin typeface="Apple SD Gothic Neo"/>
              </a:rPr>
              <a:t>©️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41945" y="1388059"/>
            <a:ext cx="3969715" cy="44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5100"/>
                </a:solidFill>
                <a:latin typeface="Apple SD Gothic Neo"/>
              </a:rPr>
              <a:t>저작권 &amp; 상업 사용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6339" y="1906524"/>
            <a:ext cx="4935321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6339" y="1980590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1B1B"/>
                </a:solidFill>
                <a:latin typeface="Apple SD Gothic Neo"/>
              </a:rPr>
              <a:t>위험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6339" y="2227478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1D1D"/>
                </a:solidFill>
                <a:latin typeface="Apple SD Gothic Neo"/>
              </a:rPr>
              <a:t>AI 생성 이미지·텍스트의 상업적 사용 시 라이선스 확인 필수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6339" y="2770632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5F46"/>
                </a:solidFill>
                <a:latin typeface="Apple SD Gothic Neo"/>
              </a:rPr>
              <a:t>대응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6339" y="3017520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4E3B"/>
                </a:solidFill>
                <a:latin typeface="Apple SD Gothic Neo"/>
              </a:rPr>
              <a:t>Adobe Firefly(상업용 안전 설계) 우선 사용 / 출처 기록 관리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4256" y="4011929"/>
            <a:ext cx="5364480" cy="2468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7680" y="3977639"/>
            <a:ext cx="53644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7680" y="3977639"/>
            <a:ext cx="5364480" cy="3429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2259" y="4175149"/>
            <a:ext cx="804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172A"/>
                </a:solidFill>
                <a:latin typeface="Apple SD Gothic Neo"/>
              </a:rPr>
              <a:t>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7865" y="4199838"/>
            <a:ext cx="3969715" cy="44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565C0"/>
                </a:solidFill>
                <a:latin typeface="Apple SD Gothic Neo"/>
              </a:rPr>
              <a:t>환각(Hallucination)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2259" y="4718303"/>
            <a:ext cx="4935321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2259" y="4792369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1B1B"/>
                </a:solidFill>
                <a:latin typeface="Apple SD Gothic Neo"/>
              </a:rPr>
              <a:t>위험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2259" y="5039257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1D1D"/>
                </a:solidFill>
                <a:latin typeface="Apple SD Gothic Neo"/>
              </a:rPr>
              <a:t>AI가 사실처럼 들리는 잘못된 수치·정보를 만들어낼 수 있음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2259" y="5582411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5F46"/>
                </a:solidFill>
                <a:latin typeface="Apple SD Gothic Neo"/>
              </a:rPr>
              <a:t>대응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" y="5829299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4E3B"/>
                </a:solidFill>
                <a:latin typeface="Apple SD Gothic Neo"/>
              </a:rPr>
              <a:t>수치·출처 포함 내용은 반드시 팩트체크 후 사용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8336" y="4011929"/>
            <a:ext cx="5364480" cy="246888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61760" y="3977639"/>
            <a:ext cx="53644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61760" y="3977639"/>
            <a:ext cx="5364480" cy="3429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6339" y="4175149"/>
            <a:ext cx="804672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F172A"/>
                </a:solidFill>
                <a:latin typeface="Apple SD Gothic Neo"/>
              </a:rPr>
              <a:t>⚖️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41945" y="4199838"/>
            <a:ext cx="3969715" cy="444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A148C"/>
                </a:solidFill>
                <a:latin typeface="Apple SD Gothic Neo"/>
              </a:rPr>
              <a:t>편향성 &amp; 공정성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676339" y="4718303"/>
            <a:ext cx="4935321" cy="685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6339" y="4792369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991B1B"/>
                </a:solidFill>
                <a:latin typeface="Apple SD Gothic Neo"/>
              </a:rPr>
              <a:t>위험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6339" y="5039257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F1D1D"/>
                </a:solidFill>
                <a:latin typeface="Apple SD Gothic Neo"/>
              </a:rPr>
              <a:t>AI 학습 데이터의 편향으로 특정 집단에 불공정 결과 가능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6339" y="5582411"/>
            <a:ext cx="96560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65F46"/>
                </a:solidFill>
                <a:latin typeface="Apple SD Gothic Neo"/>
              </a:rPr>
              <a:t>대응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6339" y="5829299"/>
            <a:ext cx="4935321" cy="54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64E3B"/>
                </a:solidFill>
                <a:latin typeface="Apple SD Gothic Neo"/>
              </a:rPr>
              <a:t>다양한 관점 검토 / 최종 판단은 반드시 사람이 내릴 것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53600" cy="617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ple SD Gothic Neo"/>
              </a:rPr>
              <a:t>CH5 — 로드맵 실행 지원 에이전트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91540"/>
            <a:ext cx="7315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Apple SD Gothic Neo"/>
              </a:rPr>
              <a:t>실무에서 즉시 적용 가능한 자동화 에이전트</a:t>
            </a:r>
          </a:p>
        </p:txBody>
      </p:sp>
      <p:sp>
        <p:nvSpPr>
          <p:cNvPr id="6" name="Rectangle 5"/>
          <p:cNvSpPr/>
          <p:nvPr/>
        </p:nvSpPr>
        <p:spPr>
          <a:xfrm>
            <a:off x="34137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480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4800" y="1440180"/>
            <a:ext cx="3413760" cy="54864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D4ED8"/>
                </a:solidFill>
                <a:latin typeface="Apple SD Gothic Neo"/>
              </a:rPr>
              <a:t>전 직무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학습 진도 트래커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매일 AI 활용 일지 작성 → Notion 자동 기록 → 주간 진도 리포트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D4ED8"/>
                </a:solidFill>
                <a:latin typeface="Apple SD Gothic Neo"/>
              </a:rPr>
              <a:t>도구: Claude API  ·  Notion API  ·  Gmail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주간 AI 활용 리포트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2133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5993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2336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0" y="1440180"/>
            <a:ext cx="3413760" cy="54864"/>
          </a:xfrm>
          <a:prstGeom prst="rect">
            <a:avLst/>
          </a:prstGeom>
          <a:solidFill>
            <a:srgbClr val="0D6B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9404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D6B4F"/>
                </a:solidFill>
                <a:latin typeface="Apple SD Gothic Neo"/>
              </a:rPr>
              <a:t>전 직무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9404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프롬프트 품질 개선 에이전트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9404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9404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작성한 프롬프트 → TRIE 공식 준수 체크 → 자동 개선안 3개 제안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9404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0D6B4F"/>
                </a:solidFill>
                <a:latin typeface="Apple SD Gothic Neo"/>
              </a:rPr>
              <a:t>도구: Claude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9404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개선된 프롬프트 3개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3989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초급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8496" y="1474470"/>
            <a:ext cx="3413760" cy="4663440"/>
          </a:xfrm>
          <a:prstGeom prst="rect">
            <a:avLst/>
          </a:prstGeom>
          <a:solidFill>
            <a:srgbClr val="0F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41920" y="1440180"/>
            <a:ext cx="3413760" cy="4663440"/>
          </a:xfrm>
          <a:prstGeom prst="rect">
            <a:avLst/>
          </a:prstGeom>
          <a:solidFill>
            <a:srgbClr val="0F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41920" y="1440180"/>
            <a:ext cx="3413760" cy="54864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12608" y="1580083"/>
            <a:ext cx="3072384" cy="373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D28D9"/>
                </a:solidFill>
                <a:latin typeface="Apple SD Gothic Neo"/>
              </a:rPr>
              <a:t>전 직무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2608" y="1953158"/>
            <a:ext cx="3072384" cy="746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F5F9"/>
                </a:solidFill>
                <a:latin typeface="Apple SD Gothic Neo"/>
              </a:rPr>
              <a:t>AI 도입 ROI 측정 에이전트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12608" y="2745943"/>
            <a:ext cx="3072384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2608" y="2839212"/>
            <a:ext cx="3072384" cy="1165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Apple SD Gothic Neo"/>
              </a:rPr>
              <a:t>업무 시간 로그 기록 → AI 절감 시간 계산 → 월간 효과 리포트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2608" y="4098340"/>
            <a:ext cx="3072384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D28D9"/>
                </a:solidFill>
                <a:latin typeface="Apple SD Gothic Neo"/>
              </a:rPr>
              <a:t>도구: Claude API  ·  Google Sheets API  ·  Gmail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2608" y="4611319"/>
            <a:ext cx="3072384" cy="559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Apple SD Gothic Neo"/>
              </a:rPr>
              <a:t>산출물: 월간 ROI 리포트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8451" y="5357469"/>
            <a:ext cx="1160678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ple SD Gothic Neo"/>
              </a:rPr>
              <a:t>중급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6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114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1234440"/>
            <a:ext cx="48768" cy="425196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5360" y="1371600"/>
            <a:ext cx="8534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D4ED8"/>
                </a:solidFill>
                <a:latin typeface="Apple SD Gothic Neo"/>
              </a:rPr>
              <a:t>KEY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5360" y="1988819"/>
            <a:ext cx="9753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ple SD Gothic Neo"/>
              </a:rPr>
              <a:t>AI는 대체가 아닌 증폭입니다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5360" y="342900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Apple SD Gothic Neo"/>
              </a:rPr>
              <a:t>반복 업무는 AI에게, 창의적 판단은 당신에게.</a:t>
            </a:r>
          </a:p>
        </p:txBody>
      </p:sp>
      <p:sp>
        <p:nvSpPr>
          <p:cNvPr id="8" name="Rectangle 7"/>
          <p:cNvSpPr/>
          <p:nvPr/>
        </p:nvSpPr>
        <p:spPr>
          <a:xfrm>
            <a:off x="975360" y="4251960"/>
            <a:ext cx="6096000" cy="685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5360" y="44577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ple SD Gothic Neo"/>
              </a:rPr>
              <a:t>01  반복 업무 자동화로 고부가 업무에 집중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60" y="5074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ple SD Gothic Neo"/>
              </a:rPr>
              <a:t>02  작은 자동화부터 시작해 점진적으로 확장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5360" y="56921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BD5E1"/>
                </a:solidFill>
                <a:latin typeface="Apple SD Gothic Neo"/>
              </a:rPr>
              <a:t>03  AI와 협업하는 역량이 2026년의 핵심 경쟁력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309360"/>
            <a:ext cx="1072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D4ED8"/>
                </a:solidFill>
                <a:latin typeface="Apple SD Gothic Neo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