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7259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AI Supply Chain Intelligence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10725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0BCD4"/>
                </a:solidFill>
              </a:rPr>
              <a:t>Token Demand → Hardware Demand | Bottleneck Detection | Investment Signals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FA3C0"/>
                </a:solidFill>
              </a:rPr>
              <a:t>Generated: 2026-03-24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FA3C0"/>
                </a:solidFill>
              </a:rPr>
              <a:t>AI Supply Chain Intelligence System 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AI Supply Chain Value Chain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3749039" cy="566928"/>
          </a:xfrm>
          <a:prstGeom prst="rect">
            <a:avLst/>
          </a:prstGeom>
          <a:solidFill>
            <a:srgbClr val="0F1F3D"/>
          </a:solidFill>
          <a:ln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8412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4336"/>
                </a:solidFill>
              </a:rPr>
              <a:t>End Customer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78992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OpenAI, Anthropic, Meta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81328"/>
            <a:ext cx="3749039" cy="566928"/>
          </a:xfrm>
          <a:prstGeom prst="rect">
            <a:avLst/>
          </a:prstGeom>
          <a:solidFill>
            <a:srgbClr val="0F1F3D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9961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800"/>
                </a:solidFill>
              </a:rPr>
              <a:t>AI 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37360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API platforms, inference services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39696"/>
            <a:ext cx="3749039" cy="566928"/>
          </a:xfrm>
          <a:prstGeom prst="rect">
            <a:avLst/>
          </a:prstGeom>
          <a:solidFill>
            <a:srgbClr val="0F1F3D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15798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800"/>
                </a:solidFill>
              </a:rPr>
              <a:t>Cloud / DC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95728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Azure, AWS, GCP, CoreWeave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822960"/>
            <a:ext cx="3749039" cy="566928"/>
          </a:xfrm>
          <a:prstGeom prst="rect">
            <a:avLst/>
          </a:prstGeom>
          <a:solidFill>
            <a:srgbClr val="0F1F3D"/>
          </a:solidFill>
          <a:ln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79" y="8412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4336"/>
                </a:solidFill>
              </a:rPr>
              <a:t>GPU Server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79" y="1078992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NVIDIA H100/B200, AMD MI300X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1481328"/>
            <a:ext cx="3749039" cy="566928"/>
          </a:xfrm>
          <a:prstGeom prst="rect">
            <a:avLst/>
          </a:prstGeom>
          <a:solidFill>
            <a:srgbClr val="0F1F3D"/>
          </a:solidFill>
          <a:ln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79" y="149961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4336"/>
                </a:solidFill>
              </a:rPr>
              <a:t>HBM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79" y="1737360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SK Hynix (50%), Samsung (40%), Micron (10%)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2139696"/>
            <a:ext cx="3749039" cy="566928"/>
          </a:xfrm>
          <a:prstGeom prst="rect">
            <a:avLst/>
          </a:prstGeom>
          <a:solidFill>
            <a:srgbClr val="0F1F3D"/>
          </a:solidFill>
          <a:ln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79" y="215798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4336"/>
                </a:solidFill>
              </a:rPr>
              <a:t>Packaging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79" y="2395728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TSMC CoWoS - KEY CONSTRAINT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822960"/>
            <a:ext cx="3749039" cy="566928"/>
          </a:xfrm>
          <a:prstGeom prst="rect">
            <a:avLst/>
          </a:prstGeom>
          <a:solidFill>
            <a:srgbClr val="0F1F3D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8412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800"/>
                </a:solidFill>
              </a:rPr>
              <a:t>Power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078992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Vertiv, Schneider, GE Vernova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1481328"/>
            <a:ext cx="3749039" cy="566928"/>
          </a:xfrm>
          <a:prstGeom prst="rect">
            <a:avLst/>
          </a:prstGeom>
          <a:solidFill>
            <a:srgbClr val="0F1F3D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149961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800"/>
                </a:solidFill>
              </a:rPr>
              <a:t>Networking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1737360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Broadcom, Marvell, Arista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60" y="2139696"/>
            <a:ext cx="3749039" cy="566928"/>
          </a:xfrm>
          <a:prstGeom prst="rect">
            <a:avLst/>
          </a:prstGeom>
          <a:solidFill>
            <a:srgbClr val="0F1F3D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215798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800"/>
                </a:solidFill>
              </a:rPr>
              <a:t>Foundry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395728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TSMC (N3/N2), Samsung Foundry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6400800"/>
            <a:ext cx="182880" cy="18288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3825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Critical (&gt;85%)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91839" y="6400800"/>
            <a:ext cx="182880" cy="1828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66160" y="63825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High (&gt;70%)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59" y="6400800"/>
            <a:ext cx="182880" cy="18288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79" y="63825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Medium (&gt;50%)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326880" y="6400800"/>
            <a:ext cx="182880" cy="18288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199" y="63825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Low (&lt;50%)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Token Demand → Hardware Demand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5486400" cy="1097280"/>
          </a:xfrm>
          <a:prstGeom prst="rect">
            <a:avLst/>
          </a:prstGeom>
          <a:solidFill>
            <a:srgbClr val="0F1F3D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FA3C0"/>
                </a:solidFill>
              </a:rPr>
              <a:t>Tokens/Day (2025 Base)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BCD4"/>
                </a:solidFill>
              </a:rPr>
              <a:t>88.5T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822960"/>
            <a:ext cx="5486400" cy="1097280"/>
          </a:xfrm>
          <a:prstGeom prst="rect">
            <a:avLst/>
          </a:prstGeom>
          <a:solidFill>
            <a:srgbClr val="0F1F3D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9144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FA3C0"/>
                </a:solidFill>
              </a:rPr>
              <a:t>GPU Required (H100 eq.)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23444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BCD4"/>
                </a:solidFill>
              </a:rPr>
              <a:t>0.60M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03120"/>
            <a:ext cx="5486400" cy="1097280"/>
          </a:xfrm>
          <a:prstGeom prst="rect">
            <a:avLst/>
          </a:prstGeom>
          <a:solidFill>
            <a:srgbClr val="0F1F3D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945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FA3C0"/>
                </a:solidFill>
              </a:rPr>
              <a:t>HBM Demand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1460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BCD4"/>
                </a:solidFill>
              </a:rPr>
              <a:t>48.2PB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103120"/>
            <a:ext cx="5486400" cy="1097280"/>
          </a:xfrm>
          <a:prstGeom prst="rect">
            <a:avLst/>
          </a:prstGeom>
          <a:solidFill>
            <a:srgbClr val="0F1F3D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1945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FA3C0"/>
                </a:solidFill>
              </a:rPr>
              <a:t>Power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51460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BCD4"/>
                </a:solidFill>
              </a:rPr>
              <a:t>768MW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3566160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CD4"/>
                </a:solidFill>
              </a:rPr>
              <a:t>Core Models: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393192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D0FF"/>
                </a:solidFill>
              </a:rPr>
              <a:t>GPU = Tokens/day / (86400 × tok/sec × utilization)   |   H100: 2,000 tok/s | B200: 4,500 tok/s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43484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D0FF"/>
                </a:solidFill>
              </a:rPr>
              <a:t>HBM (GB) = GPU_count × HBM_per_GPU   |   H100: 80GB | B200: 192GB | Utilization: 85%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493776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D0FF"/>
                </a:solidFill>
              </a:rPr>
              <a:t>Power (MW) = GPU × TDP × 1.3 × PUE / 1e6   |   PUE: 1.4 | Server overhead: 1.3x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349240"/>
            <a:ext cx="8412480" cy="34747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394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Service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5394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Tokens/Day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394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H100 eq.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5394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Power MW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7150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ChatGPT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57150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10.0T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57150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68,083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57150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86.7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97103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Claude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59710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2.0T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59710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13,617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597103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17.3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22706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Gemini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622706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3.0T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622706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20,425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622706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26.0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8309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Llama_OSS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86000" y="648309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5.0T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648309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34,041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648309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43.4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Bottleneck Analysis &amp; Cascade Prediction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31520"/>
            <a:ext cx="3474720" cy="1828800"/>
          </a:xfrm>
          <a:prstGeom prst="rect">
            <a:avLst/>
          </a:prstGeom>
          <a:solidFill>
            <a:srgbClr val="2D0606"/>
          </a:solidFill>
          <a:ln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PRIMARY BOTTLENECK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44336"/>
                </a:solidFill>
              </a:rPr>
              <a:t>HBM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916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44336"/>
                </a:solidFill>
              </a:rPr>
              <a:t>Utilization: 95%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574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FA3C0"/>
                </a:solidFill>
              </a:rPr>
              <a:t>Resolution: ~18 months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731520"/>
            <a:ext cx="3474720" cy="1828800"/>
          </a:xfrm>
          <a:prstGeom prst="rect">
            <a:avLst/>
          </a:prstGeom>
          <a:solidFill>
            <a:srgbClr val="2D1706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23360" y="7772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NEXT BOTTLENECK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10515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9800"/>
                </a:solidFill>
              </a:rPr>
              <a:t>CoWoS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16916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FA3C0"/>
                </a:solidFill>
              </a:rPr>
              <a:t>Emerging as HBM relief builds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13258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BCD4"/>
                </a:solidFill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13258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BCD4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0" y="731520"/>
            <a:ext cx="3474720" cy="1828800"/>
          </a:xfrm>
          <a:prstGeom prst="rect">
            <a:avLst/>
          </a:prstGeom>
          <a:solidFill>
            <a:srgbClr val="1A1A06"/>
          </a:solidFill>
          <a:ln>
            <a:solidFill>
              <a:srgbClr val="FFE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7772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AFTER NEXT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10515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EB3B"/>
                </a:solidFill>
              </a:rPr>
              <a:t>GPU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283464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CD4"/>
                </a:solidFill>
              </a:rPr>
              <a:t>Component Utilization (2025)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32461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HBM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502152"/>
            <a:ext cx="2468880" cy="182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502152"/>
            <a:ext cx="2345436" cy="18288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88920" y="34655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4336"/>
                </a:solidFill>
              </a:rPr>
              <a:t>95%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32461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CoWoS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3502152"/>
            <a:ext cx="2468880" cy="182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502152"/>
            <a:ext cx="2271369" cy="18288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15000" y="34655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4336"/>
                </a:solidFill>
              </a:rPr>
              <a:t>92%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32461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GPU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3502152"/>
            <a:ext cx="2468880" cy="182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6480" y="3502152"/>
            <a:ext cx="2172614" cy="18288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41080" y="34655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4336"/>
                </a:solidFill>
              </a:rPr>
              <a:t>88%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32461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Foundry_Advanced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52560" y="3502152"/>
            <a:ext cx="2468880" cy="182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052560" y="3502152"/>
            <a:ext cx="2024481" cy="1828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567160" y="34655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9800"/>
                </a:solidFill>
              </a:rPr>
              <a:t>82%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402335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Power_DC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279392"/>
            <a:ext cx="2468880" cy="182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4320" y="4279392"/>
            <a:ext cx="1925726" cy="1828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88920" y="424281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9800"/>
                </a:solidFill>
              </a:rPr>
              <a:t>78%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402335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ASIC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0" y="4279392"/>
            <a:ext cx="2468880" cy="182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0" y="4279392"/>
            <a:ext cx="1728216" cy="1828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15000" y="424281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9800"/>
                </a:solidFill>
              </a:rPr>
              <a:t>70%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0" y="402335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Networking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26480" y="4279392"/>
            <a:ext cx="2468880" cy="182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26480" y="4279392"/>
            <a:ext cx="1604772" cy="18288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41080" y="424281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EB3B"/>
                </a:solidFill>
              </a:rPr>
              <a:t>65%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2560" y="402335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DRAM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052560" y="4279392"/>
            <a:ext cx="2468880" cy="182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052560" y="4279392"/>
            <a:ext cx="1357884" cy="18288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567160" y="424281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EB3B"/>
                </a:solidFill>
              </a:rPr>
              <a:t>55%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Hyperscaler CapEx Trends (USD Billion)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79" y="685800"/>
            <a:ext cx="11155680" cy="3657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731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Company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7315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2022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7315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2023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7315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2024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7315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7315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2026E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19" y="731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CAGR 22-25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14300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900"/>
                </a:solidFill>
              </a:rPr>
              <a:t>Amazon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11430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9900"/>
                </a:solidFill>
              </a:rPr>
              <a:t>$38B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11430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9900"/>
                </a:solidFill>
              </a:rPr>
              <a:t>$48B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11430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9900"/>
                </a:solidFill>
              </a:rPr>
              <a:t>$75B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1430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9900"/>
                </a:solidFill>
              </a:rPr>
              <a:t>$105B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1430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9900"/>
                </a:solidFill>
              </a:rPr>
              <a:t>$120B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19" y="114300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676"/>
                </a:solidFill>
              </a:rPr>
              <a:t>+40%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160020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A4EF"/>
                </a:solidFill>
              </a:rPr>
              <a:t>Microsoft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16002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A4EF"/>
                </a:solidFill>
              </a:rPr>
              <a:t>$22B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16002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A4EF"/>
                </a:solidFill>
              </a:rPr>
              <a:t>$28B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16002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A4EF"/>
                </a:solidFill>
              </a:rPr>
              <a:t>$55B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16002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A4EF"/>
                </a:solidFill>
              </a:rPr>
              <a:t>$80B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16002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A4EF"/>
                </a:solidFill>
              </a:rPr>
              <a:t>$90B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19" y="160020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676"/>
                </a:solidFill>
              </a:rPr>
              <a:t>+54%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205740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285F4"/>
                </a:solidFill>
              </a:rPr>
              <a:t>Google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20574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285F4"/>
                </a:solidFill>
              </a:rPr>
              <a:t>$25B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20574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285F4"/>
                </a:solidFill>
              </a:rPr>
              <a:t>$32B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20574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285F4"/>
                </a:solidFill>
              </a:rPr>
              <a:t>$52B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20574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285F4"/>
                </a:solidFill>
              </a:rPr>
              <a:t>$75B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20574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285F4"/>
                </a:solidFill>
              </a:rPr>
              <a:t>$85B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19" y="205740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676"/>
                </a:solidFill>
              </a:rPr>
              <a:t>+44%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251460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668E1"/>
                </a:solidFill>
              </a:rPr>
              <a:t>Meta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20" y="25146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68E1"/>
                </a:solidFill>
              </a:rPr>
              <a:t>$31B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25146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68E1"/>
                </a:solidFill>
              </a:rPr>
              <a:t>$28B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12080" y="25146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68E1"/>
                </a:solidFill>
              </a:rPr>
              <a:t>$37B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25146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68E1"/>
                </a:solidFill>
              </a:rPr>
              <a:t>$65B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25146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68E1"/>
                </a:solidFill>
              </a:rPr>
              <a:t>$72B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75519" y="251460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676"/>
                </a:solidFill>
              </a:rPr>
              <a:t>+28%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" y="297180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xAI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20" y="29718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-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0" y="29718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-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12080" y="29718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$6B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0" y="29718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$15B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29718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$25B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75519" y="297180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</a:rPr>
              <a:t>+0%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2879" y="3383280"/>
            <a:ext cx="11155680" cy="457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3429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</a:rPr>
              <a:t>TOTAL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03120" y="3429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</a:rPr>
              <a:t>$116B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0" y="3429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</a:rPr>
              <a:t>$136B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12080" y="3429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</a:rPr>
              <a:t>$225B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66560" y="3429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</a:rPr>
              <a:t>$340B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21040" y="3429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</a:rPr>
              <a:t>$392B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4320" y="393192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FA3C0"/>
                </a:solidFill>
              </a:rPr>
              <a:t>Big 5 combined CapEx: $154B (2022) → $340B (2025) → $392B (2026E)  |  AI infrastructure is now the largest single CapEx category in tech history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Investment Signals &amp;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CD4"/>
                </a:solidFill>
              </a:rPr>
              <a:t>Current Phase: Phase 2 (HBM &amp; Packaging)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79" y="1097280"/>
            <a:ext cx="11887200" cy="320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1155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Company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1155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1155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Signal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11155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Thesis (Brief)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11155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Timeframe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48132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SK Hynix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148132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HBM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14813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E676"/>
                </a:solidFill>
              </a:rPr>
              <a:t>Strong Buy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148132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HBM3e dominant supplier (50% share), 95% utilization, 2.5x demand growth YoY, GB200 key be...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14813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6-18 months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195681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TSMC CoWoS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1956816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CoWoS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195681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E676"/>
                </a:solidFill>
              </a:rPr>
              <a:t>Strong Buy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1956816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CoWoS at 92% utilization (critical bottleneck)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195681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0-12 months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243230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243230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CoWoS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243230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E676"/>
                </a:solidFill>
              </a:rPr>
              <a:t>Strong Buy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243230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CoWoS at 92% utilization (critical bottleneck)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243230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0-12 months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290779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Amkor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290779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CoWoS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39" y="290779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E676"/>
                </a:solidFill>
              </a:rPr>
              <a:t>Strong Buy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290779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CoWoS at 92% utilization (critical bottleneck)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290779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0-12 months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3383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Micron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20" y="33832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HBM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49039" y="33832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CAF50"/>
                </a:solidFill>
              </a:rPr>
              <a:t>Buy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0" y="3383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HBM3e market share gain 10% -&gt; 20%+; CHIPS Act domestic fab beneficiary; NVIDIA supply div...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7040" y="33832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12-24 months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385876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TSMC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03120" y="385876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Packaging/Foundry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49039" y="385876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CAF50"/>
                </a:solidFill>
              </a:rPr>
              <a:t>Buy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38587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CoWoS monopoly for AI packaging (92% util); N3/N2 pricing power; AI chips 20%+ of revenue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7040" y="385876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12-36 months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433425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Vertiv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03120" y="4334256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Power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49039" y="433425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CAF50"/>
                </a:solidFill>
              </a:rPr>
              <a:t>Buy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20640" y="4334256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DC power infrastructure bottleneck; sold out through 2026; AI-driven thermal mgmt demand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07040" y="433425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6-18 months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4320" y="480974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GE Vernova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03120" y="480974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Power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49039" y="480974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CAF50"/>
                </a:solidFill>
              </a:rPr>
              <a:t>Buy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20640" y="480974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Gas turbine + grid equipment; transformer shortage 30mo lead time; nuclear AI data center ...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07040" y="480974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12-24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Key Risk Factors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31520"/>
            <a:ext cx="5669280" cy="1691640"/>
          </a:xfrm>
          <a:prstGeom prst="rect">
            <a:avLst/>
          </a:prstGeom>
          <a:solidFill>
            <a:srgbClr val="0F1F3D"/>
          </a:solidFill>
          <a:ln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8229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4336"/>
                </a:solidFill>
              </a:rPr>
              <a:t>Geopolitical: Taiwan/TSMC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79" y="118872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TSMC produces 90%+ of AI chips; Taiwan strait tension = systemic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82880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BB6A"/>
                </a:solidFill>
              </a:rPr>
              <a:t>Mitigation: TSMC Arizona/Japan fabs; Intel Foundry; diversification push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731520"/>
            <a:ext cx="5669280" cy="1691640"/>
          </a:xfrm>
          <a:prstGeom prst="rect">
            <a:avLst/>
          </a:prstGeom>
          <a:solidFill>
            <a:srgbClr val="0F1F3D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8229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800"/>
                </a:solidFill>
              </a:rPr>
              <a:t>Export Controls: US-China AI chip restrictions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18872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H800/H20 restrictions limit NVIDIA China revenue; future controls possible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82880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BB6A"/>
                </a:solidFill>
              </a:rPr>
              <a:t>Mitigation: NVIDIA US-legal compliant chips; AMD compliance; domestic Chinese ASICs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651760"/>
            <a:ext cx="5669280" cy="1691640"/>
          </a:xfrm>
          <a:prstGeom prst="rect">
            <a:avLst/>
          </a:prstGeom>
          <a:solidFill>
            <a:srgbClr val="0F1F3D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27432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800"/>
                </a:solidFill>
              </a:rPr>
              <a:t>Demand Disappointment: AI ROI not materializing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310896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If enterprise AI ROI lags, hyperscaler CapEx pullback possible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374904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BB6A"/>
                </a:solidFill>
              </a:rPr>
              <a:t>Mitigation: Diversified AI revenue streams; agent/agentic AI driving new demand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651760"/>
            <a:ext cx="5669280" cy="1691640"/>
          </a:xfrm>
          <a:prstGeom prst="rect">
            <a:avLst/>
          </a:prstGeom>
          <a:solidFill>
            <a:srgbClr val="0F1F3D"/>
          </a:solidFill>
          <a:ln>
            <a:solidFill>
              <a:srgbClr val="FFE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7432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EB3B"/>
                </a:solidFill>
              </a:rPr>
              <a:t>Technology: LLM efficiency gains reduce hardware demand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10896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Techniques like MoE, quantization, speculative decoding reduce GPU requirements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74904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BB6A"/>
                </a:solidFill>
              </a:rPr>
              <a:t>Mitigation: Jevons paradox: efficiency -&gt; more usage -&gt; net demand up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572000"/>
            <a:ext cx="5669280" cy="1691640"/>
          </a:xfrm>
          <a:prstGeom prst="rect">
            <a:avLst/>
          </a:prstGeom>
          <a:solidFill>
            <a:srgbClr val="0F1F3D"/>
          </a:solidFill>
          <a:ln>
            <a:solidFill>
              <a:srgbClr val="FFE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46634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EB3B"/>
                </a:solidFill>
              </a:rPr>
              <a:t>Competition: Samsung HBM3e qualification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79" y="502920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If Samsung qualifies for GB200, SK Hynix market share at 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79" y="566928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BB6A"/>
                </a:solidFill>
              </a:rPr>
              <a:t>Mitigation: SK Hynix technology lead; HBM4 roadmap advantage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4572000"/>
            <a:ext cx="5669280" cy="1691640"/>
          </a:xfrm>
          <a:prstGeom prst="rect">
            <a:avLst/>
          </a:prstGeom>
          <a:solidFill>
            <a:srgbClr val="0F1F3D"/>
          </a:solidFill>
          <a:ln>
            <a:solidFill>
              <a:srgbClr val="FFE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46634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EB3B"/>
                </a:solidFill>
              </a:rPr>
              <a:t>Custom ASIC displacement of commodity GPU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502920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20-30% of hyperscaler AI workloads shifting to custom ASICs by 2027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566928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BB6A"/>
                </a:solidFill>
              </a:rPr>
              <a:t>Mitigation: NVIDIA software moat (CUDA); diversified to ASIC players (Broadcom, Marvell)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2025-2027 AI Demand Forecast Scenarios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658368"/>
            <a:ext cx="11338560" cy="320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6858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6858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6200" y="685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685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80" y="685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20" y="685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1024128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44336"/>
                </a:solidFill>
              </a:rPr>
              <a:t>Bear Case (0.7x)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1024128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Tokens/Day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102412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25.0T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102412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62.0T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80" y="102412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161.1T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46920" y="102412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441.3T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1371600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GPU Required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13716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0.17M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13716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0.42M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80" y="13716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1.10M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46920" y="13716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3.00M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1719072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HBM Demand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171907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13.6PB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06440" y="171907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33.7PB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80" y="171907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87.7PB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20" y="171907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240.4PB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2066544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Power (MW)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86200" y="206654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217MW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6440" y="206654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537MW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80" y="206654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1397MW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6920" y="206654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3828MW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" y="2414016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E88E5"/>
                </a:solidFill>
              </a:rPr>
              <a:t>Base Case (1.0x)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40280" y="2414016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Tokens/Day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86200" y="241401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25.0T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06440" y="241401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88.5T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26680" y="241401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328.8T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46920" y="241401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1286.6T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2761488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GPU Required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86200" y="276148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0.17M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06440" y="276148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0.60M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26680" y="276148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2.24M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276148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8.76M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40280" y="3108960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HBM Demand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86200" y="310896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13.6PB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06440" y="310896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48.2PB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26680" y="310896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179.1PB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46920" y="310896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700.8PB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40280" y="3456432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Power (MW)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86200" y="345643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217MW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06440" y="345643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768MW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26680" y="345643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2851MW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46920" y="345643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11160MW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28600" y="3803904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E676"/>
                </a:solidFill>
              </a:rPr>
              <a:t>Bull Case (1.5x)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240280" y="3803904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Tokens/Day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886200" y="380390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25.0T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06440" y="380390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132.8T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26680" y="380390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739.7T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46920" y="380390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4342.4T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240280" y="4151376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GPU Required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886200" y="415137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0.17M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806440" y="415137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0.90M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726680" y="415137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5.04M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46920" y="415137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29.56M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240280" y="4498848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HBM Demand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886200" y="449884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13.6PB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806440" y="449884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72.3PB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26680" y="449884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402.9PB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646920" y="449884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2365.1PB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240280" y="4846320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Power (MW)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886200" y="484632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217MW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806440" y="484632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1151MW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726680" y="484632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6416MW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646920" y="484632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37665MW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