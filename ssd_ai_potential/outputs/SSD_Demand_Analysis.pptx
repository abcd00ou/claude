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reddit.com/r/StableDiffusion/comments/1ph5t8r/do_not_use_ai_generation_on_ssd_virtual_memory/" TargetMode="External"/><Relationship Id="rId3" Type="http://schemas.openxmlformats.org/officeDocument/2006/relationships/hyperlink" Target="https://www.reddit.com/r/buildapc/comments/1rcrxcc/i_bought_a_slower_nvme_by_mistake_for_my_first/" TargetMode="External"/><Relationship Id="rId4" Type="http://schemas.openxmlformats.org/officeDocument/2006/relationships/hyperlink" Target="https://www.reddit.com/r/buildapc/comments/1qzplt9/please_help_pc_noob_looking_to_upgrade_my_ssd/" TargetMode="External"/><Relationship Id="rId5" Type="http://schemas.openxmlformats.org/officeDocument/2006/relationships/hyperlink" Target="https://www.reddit.com/r/buildapc/comments/1r7h9hc/should_i_get_a_new_nvme_ssd_right_now_or_wait_to/" TargetMode="External"/><Relationship Id="rId6" Type="http://schemas.openxmlformats.org/officeDocument/2006/relationships/hyperlink" Target="https://www.reddit.com/r/LocalLLaMA/comments/1ro1kie/rtx_6000_build_drive_and_fan_questions/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reddit.com/r/homelab/comments/1ritk2p/any_chance_at_getting_this_into_an_m2_slot_lol/" TargetMode="External"/><Relationship Id="rId3" Type="http://schemas.openxmlformats.org/officeDocument/2006/relationships/hyperlink" Target="https://www.reddit.com/r/StableDiffusion/comments/1qydube/since_ssd_prices_are_going_through_the_roof_i/" TargetMode="External"/><Relationship Id="rId4" Type="http://schemas.openxmlformats.org/officeDocument/2006/relationships/hyperlink" Target="https://www.reddit.com/r/LocalLLaMA/comments/1r6trbg/vaultai_42_preloaded_ai_models_on_a_portable_nvme/" TargetMode="External"/><Relationship Id="rId5" Type="http://schemas.openxmlformats.org/officeDocument/2006/relationships/hyperlink" Target="https://www.reddit.com/r/selfhosted/comments/1r6tj87/vaultai_portable_ai_workstation_on_an_nvme_ssd/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reddit.com/r/homelab/comments/1riw2u6/my_current_setup_mostly_used_for_plex/" TargetMode="External"/><Relationship Id="rId3" Type="http://schemas.openxmlformats.org/officeDocument/2006/relationships/hyperlink" Target="https://www.reddit.com/r/homelab/comments/1rdcc79/my_2026_homelab_in_new_apartment/" TargetMode="External"/><Relationship Id="rId4" Type="http://schemas.openxmlformats.org/officeDocument/2006/relationships/hyperlink" Target="https://www.reddit.com/r/nvidia/comments/1oey4qp/my_5090_fe_build/" TargetMode="External"/><Relationship Id="rId5" Type="http://schemas.openxmlformats.org/officeDocument/2006/relationships/hyperlink" Target="https://www.reddit.com/r/LocalLLaMA/comments/1qfscp5/128gb_vram_quad_r9700_server/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reddit.com/r/LocalLLaMA/comments/1rgfm00/i_built_a_hybrid_moe_runtime_that_does_3324_toks/" TargetMode="External"/><Relationship Id="rId3" Type="http://schemas.openxmlformats.org/officeDocument/2006/relationships/hyperlink" Target="https://www.reddit.com/r/LocalLLaMA/comments/1rg87bj/qwen3535ba3b_running_on_a_raspberry_pi_5_16gb_and/" TargetMode="External"/><Relationship Id="rId4" Type="http://schemas.openxmlformats.org/officeDocument/2006/relationships/hyperlink" Target="https://www.reddit.com/r/LocalLLaMA/comments/1r1lkfw/my_nas_runs_an_80b_llm_at_18_toks_on_its_igpu_no/" TargetMode="External"/><Relationship Id="rId5" Type="http://schemas.openxmlformats.org/officeDocument/2006/relationships/hyperlink" Target="https://www.reddit.com/r/LocalLLaMA/comments/1pj61cr/benchmarked_a100_vs_h100_local_storage_for/" TargetMode="External"/><Relationship Id="rId6" Type="http://schemas.openxmlformats.org/officeDocument/2006/relationships/hyperlink" Target="https://www.reddit.com/r/LocalLLaMA/comments/1r3qwyi/omlx_opensource_mlx_inference_server_with_paged/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0000" y="1980000"/>
            <a:ext cx="100332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Reddit SSD 수요 분석 리포트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0000" y="3420000"/>
            <a:ext cx="10033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38BDF8"/>
                </a:solidFill>
              </a:rPr>
              <a:t>Local AI / Homelab 커뮤니티 4,060개 포스트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0000" y="4140000"/>
            <a:ext cx="100332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CCCCC"/>
                </a:solidFill>
              </a:rPr>
              <a:t>2026-03-17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6480000"/>
            <a:ext cx="114732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CCCCC"/>
                </a:solidFill>
              </a:rPr>
              <a:t>Source: Reddit Community Analysis | 4,060 posts | 2026-03-17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180000"/>
            <a:ext cx="111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핵심 수치 요약</a:t>
            </a:r>
          </a:p>
        </p:txBody>
      </p:sp>
      <p:sp>
        <p:nvSpPr>
          <p:cNvPr id="3" name="Rectangle 2"/>
          <p:cNvSpPr/>
          <p:nvPr/>
        </p:nvSpPr>
        <p:spPr>
          <a:xfrm>
            <a:off x="540000" y="792000"/>
            <a:ext cx="2592000" cy="1620000"/>
          </a:xfrm>
          <a:prstGeom prst="rect">
            <a:avLst/>
          </a:prstGeom>
          <a:solidFill>
            <a:srgbClr val="1E294E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8000" y="1008000"/>
            <a:ext cx="2376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4,060개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1728000"/>
            <a:ext cx="237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CCCCC"/>
                </a:solidFill>
              </a:rPr>
              <a:t>전체 분석 포스트</a:t>
            </a:r>
          </a:p>
        </p:txBody>
      </p:sp>
      <p:sp>
        <p:nvSpPr>
          <p:cNvPr id="6" name="Rectangle 5"/>
          <p:cNvSpPr/>
          <p:nvPr/>
        </p:nvSpPr>
        <p:spPr>
          <a:xfrm>
            <a:off x="3420000" y="792000"/>
            <a:ext cx="2592000" cy="1620000"/>
          </a:xfrm>
          <a:prstGeom prst="rect">
            <a:avLst/>
          </a:prstGeom>
          <a:solidFill>
            <a:srgbClr val="1E294E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28000" y="1008000"/>
            <a:ext cx="2376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8BDF8"/>
                </a:solidFill>
              </a:rPr>
              <a:t>186건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8000" y="1728000"/>
            <a:ext cx="237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CCCCC"/>
                </a:solidFill>
              </a:rPr>
              <a:t>구매 의향 (buy_intent)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0000" y="792000"/>
            <a:ext cx="2592000" cy="1620000"/>
          </a:xfrm>
          <a:prstGeom prst="rect">
            <a:avLst/>
          </a:prstGeom>
          <a:solidFill>
            <a:srgbClr val="1E294E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8000" y="1008000"/>
            <a:ext cx="2376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8BDF8"/>
                </a:solidFill>
              </a:rPr>
              <a:t>98건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8000" y="1728000"/>
            <a:ext cx="237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CCCCC"/>
                </a:solidFill>
              </a:rPr>
              <a:t>교체/확장 (upgrade_intent)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80000" y="792000"/>
            <a:ext cx="2592000" cy="1620000"/>
          </a:xfrm>
          <a:prstGeom prst="rect">
            <a:avLst/>
          </a:prstGeom>
          <a:solidFill>
            <a:srgbClr val="1E294E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88000" y="1008000"/>
            <a:ext cx="2376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8BDF8"/>
                </a:solidFill>
              </a:rPr>
              <a:t>320건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88000" y="1728000"/>
            <a:ext cx="237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CCCCC"/>
                </a:solidFill>
              </a:rPr>
              <a:t>SSD 동시 언급 (co_mention)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000" y="2700000"/>
            <a:ext cx="111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8BDF8"/>
                </a:solidFill>
              </a:rPr>
              <a:t>서브레딧별 수요 분포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0000" y="3024000"/>
            <a:ext cx="111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r/homelab  102건   |   r/buildapc  95건   |   r/SelfHosted  66건   |   r/LocalLLaMA  4건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0000" y="3528000"/>
            <a:ext cx="11160000" cy="1800000"/>
          </a:xfrm>
          <a:prstGeom prst="rect">
            <a:avLst/>
          </a:prstGeom>
          <a:solidFill>
            <a:srgbClr val="1E294E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0000" y="3636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homelab / buildapc 커뮤니티에서 구매 의향 신호가 가장 강하게 포착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0000" y="4032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buy_intent 186건 중 다수가 '지금 살까, 기다릴까' 가격 민감형 질문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0000" y="4428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upgrade_intent 98건의 주요 패턴: 500GB → 2TB 업그레이드 고민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0000" y="4824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co_mention 320건: AI 모델 운용, 로컬 LLM 추론, Plex/미디어 서버 등 실제 사용 맥락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0000" y="6480000"/>
            <a:ext cx="114732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CCCCC"/>
                </a:solidFill>
              </a:rPr>
              <a:t>Source: Reddit Community Analysis | 4,060 posts | 2026-03-17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0000" y="108000"/>
            <a:ext cx="115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내장 SSD 구매·교체 수요 — 직접 증거 포스트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0000" y="540000"/>
          <a:ext cx="11448000" cy="568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/>
                <a:gridCol w="1260000"/>
                <a:gridCol w="3060000"/>
                <a:gridCol w="3780000"/>
                <a:gridCol w="2700000"/>
              </a:tblGrid>
              <a:tr h="812571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Score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커뮤니티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제목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핵심 발언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URL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812571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8BDF8"/>
                          </a:solidFill>
                        </a:rPr>
                        <a:t>⬆206</a:t>
                      </a:r>
                    </a:p>
                  </a:txBody>
                  <a:tcPr>
                    <a:solidFill>
                      <a:srgbClr val="1E29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</a:rPr>
                        <a:t>r/StableDiffusion</a:t>
                      </a:r>
                    </a:p>
                  </a:txBody>
                  <a:tcPr>
                    <a:solidFill>
                      <a:srgbClr val="1E29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</a:rPr>
                        <a:t>Do not use AI generation on SSD virtual memory!</a:t>
                      </a:r>
                    </a:p>
                  </a:txBody>
                  <a:tcPr>
                    <a:solidFill>
                      <a:srgbClr val="1E29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</a:rPr>
                        <a:t>"AI gen on SSD virtual memory drastically shortens SSD lifespan"</a:t>
                      </a:r>
                    </a:p>
                  </a:txBody>
                  <a:tcPr>
                    <a:solidFill>
                      <a:srgbClr val="1E29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60A5FA"/>
                          </a:solidFill>
                          <a:hlinkClick r:id="rId2"/>
                        </a:rPr>
                        <a:t>링크</a:t>
                      </a:r>
                    </a:p>
                  </a:txBody>
                  <a:tcPr>
                    <a:solidFill>
                      <a:srgbClr val="1E294E"/>
                    </a:solidFill>
                  </a:tcPr>
                </a:tc>
              </a:tr>
              <a:tr h="812571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8BDF8"/>
                          </a:solidFill>
                        </a:rPr>
                        <a:t>⬆178</a:t>
                      </a:r>
                    </a:p>
                  </a:txBody>
                  <a:tcPr>
                    <a:solidFill>
                      <a:srgbClr val="1720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</a:rPr>
                        <a:t>r/buildapc</a:t>
                      </a:r>
                    </a:p>
                  </a:txBody>
                  <a:tcPr>
                    <a:solidFill>
                      <a:srgbClr val="1720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</a:rPr>
                        <a:t>I bought a slower nvme by mistake</a:t>
                      </a:r>
                    </a:p>
                  </a:txBody>
                  <a:tcPr>
                    <a:solidFill>
                      <a:srgbClr val="1720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</a:rPr>
                        <a:t>"bought Gen3 instead of Gen4, need to exchange"</a:t>
                      </a:r>
                    </a:p>
                  </a:txBody>
                  <a:tcPr>
                    <a:solidFill>
                      <a:srgbClr val="1720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60A5FA"/>
                          </a:solidFill>
                          <a:hlinkClick r:id="rId3"/>
                        </a:rPr>
                        <a:t>링크</a:t>
                      </a:r>
                    </a:p>
                  </a:txBody>
                  <a:tcPr>
                    <a:solidFill>
                      <a:srgbClr val="17203A"/>
                    </a:solidFill>
                  </a:tcPr>
                </a:tc>
              </a:tr>
              <a:tr h="812571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8BDF8"/>
                          </a:solidFill>
                        </a:rPr>
                        <a:t>⬆17</a:t>
                      </a:r>
                    </a:p>
                  </a:txBody>
                  <a:tcPr>
                    <a:solidFill>
                      <a:srgbClr val="1E29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</a:rPr>
                        <a:t>r/buildapc</a:t>
                      </a:r>
                    </a:p>
                  </a:txBody>
                  <a:tcPr>
                    <a:solidFill>
                      <a:srgbClr val="1E29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</a:rPr>
                        <a:t>WD Black SN7100X 2TB NVMe — 지금 사야 할까?</a:t>
                      </a:r>
                    </a:p>
                  </a:txBody>
                  <a:tcPr>
                    <a:solidFill>
                      <a:srgbClr val="1E29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</a:rPr>
                        <a:t>"Should I buy 2TB NVMe now before prices rise further?"</a:t>
                      </a:r>
                    </a:p>
                  </a:txBody>
                  <a:tcPr>
                    <a:solidFill>
                      <a:srgbClr val="1E29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CCCCCC"/>
                          </a:solidFill>
                        </a:rPr>
                        <a:t>URL 없음</a:t>
                      </a:r>
                    </a:p>
                  </a:txBody>
                  <a:tcPr>
                    <a:solidFill>
                      <a:srgbClr val="1E294E"/>
                    </a:solidFill>
                  </a:tcPr>
                </a:tc>
              </a:tr>
              <a:tr h="812571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8BDF8"/>
                          </a:solidFill>
                        </a:rPr>
                        <a:t>⬆8</a:t>
                      </a:r>
                    </a:p>
                  </a:txBody>
                  <a:tcPr>
                    <a:solidFill>
                      <a:srgbClr val="1720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</a:rPr>
                        <a:t>r/buildapc</a:t>
                      </a:r>
                    </a:p>
                  </a:txBody>
                  <a:tcPr>
                    <a:solidFill>
                      <a:srgbClr val="1720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</a:rPr>
                        <a:t>SSD prices are scaring me, need to upgrade</a:t>
                      </a:r>
                    </a:p>
                  </a:txBody>
                  <a:tcPr>
                    <a:solidFill>
                      <a:srgbClr val="1720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</a:rPr>
                        <a:t>"Currently on 500GB, looking at 2TB options"</a:t>
                      </a:r>
                    </a:p>
                  </a:txBody>
                  <a:tcPr>
                    <a:solidFill>
                      <a:srgbClr val="1720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60A5FA"/>
                          </a:solidFill>
                          <a:hlinkClick r:id="rId4"/>
                        </a:rPr>
                        <a:t>링크</a:t>
                      </a:r>
                    </a:p>
                  </a:txBody>
                  <a:tcPr>
                    <a:solidFill>
                      <a:srgbClr val="17203A"/>
                    </a:solidFill>
                  </a:tcPr>
                </a:tc>
              </a:tr>
              <a:tr h="812571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8BDF8"/>
                          </a:solidFill>
                        </a:rPr>
                        <a:t>⬆8</a:t>
                      </a:r>
                    </a:p>
                  </a:txBody>
                  <a:tcPr>
                    <a:solidFill>
                      <a:srgbClr val="1E29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</a:rPr>
                        <a:t>r/buildapc</a:t>
                      </a:r>
                    </a:p>
                  </a:txBody>
                  <a:tcPr>
                    <a:solidFill>
                      <a:srgbClr val="1E29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</a:rPr>
                        <a:t>Should I get new NVMe now or wait for prices to drop?</a:t>
                      </a:r>
                    </a:p>
                  </a:txBody>
                  <a:tcPr>
                    <a:solidFill>
                      <a:srgbClr val="1E29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</a:rPr>
                        <a:t>"I have a 500Gb SSD, which I totally thought would be more than enough"</a:t>
                      </a:r>
                    </a:p>
                  </a:txBody>
                  <a:tcPr>
                    <a:solidFill>
                      <a:srgbClr val="1E29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60A5FA"/>
                          </a:solidFill>
                          <a:hlinkClick r:id="rId5"/>
                        </a:rPr>
                        <a:t>링크</a:t>
                      </a:r>
                    </a:p>
                  </a:txBody>
                  <a:tcPr>
                    <a:solidFill>
                      <a:srgbClr val="1E294E"/>
                    </a:solidFill>
                  </a:tcPr>
                </a:tc>
              </a:tr>
              <a:tr h="812574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8BDF8"/>
                          </a:solidFill>
                        </a:rPr>
                        <a:t>⬆65</a:t>
                      </a:r>
                    </a:p>
                  </a:txBody>
                  <a:tcPr>
                    <a:solidFill>
                      <a:srgbClr val="1720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</a:rPr>
                        <a:t>r/LocalLLaMA</a:t>
                      </a:r>
                    </a:p>
                  </a:txBody>
                  <a:tcPr>
                    <a:solidFill>
                      <a:srgbClr val="1720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</a:rPr>
                        <a:t>RTX 6000 build / drive questions</a:t>
                      </a:r>
                    </a:p>
                  </a:txBody>
                  <a:tcPr>
                    <a:solidFill>
                      <a:srgbClr val="1720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</a:rPr>
                        <a:t>"What NVMe should I pair with RTX 6000 for AI workloads?"</a:t>
                      </a:r>
                    </a:p>
                  </a:txBody>
                  <a:tcPr>
                    <a:solidFill>
                      <a:srgbClr val="1720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60A5FA"/>
                          </a:solidFill>
                          <a:hlinkClick r:id="rId6"/>
                        </a:rPr>
                        <a:t>링크</a:t>
                      </a:r>
                    </a:p>
                  </a:txBody>
                  <a:tcPr>
                    <a:solidFill>
                      <a:srgbClr val="17203A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60000" y="6480000"/>
            <a:ext cx="114732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CCCCC"/>
                </a:solidFill>
              </a:rPr>
              <a:t>Source: Reddit Community Analysis | 4,060 posts | 2026-03-17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0000" y="108000"/>
            <a:ext cx="115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Portable SSD 수요 — 신규 AI 사용 패턴 포착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0000" y="540000"/>
          <a:ext cx="11448000" cy="37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/>
                <a:gridCol w="1260000"/>
                <a:gridCol w="3240000"/>
                <a:gridCol w="3600000"/>
                <a:gridCol w="2700000"/>
              </a:tblGrid>
              <a:tr h="7560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Score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커뮤니티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제목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핵심 내용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URL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75600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8BDF8"/>
                          </a:solidFill>
                        </a:rPr>
                        <a:t>⬆298</a:t>
                      </a:r>
                    </a:p>
                  </a:txBody>
                  <a:tcPr>
                    <a:solidFill>
                      <a:srgbClr val="1E29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</a:rPr>
                        <a:t>r/homelab</a:t>
                      </a:r>
                    </a:p>
                  </a:txBody>
                  <a:tcPr>
                    <a:solidFill>
                      <a:srgbClr val="1E29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</a:rPr>
                        <a:t>Any chance at getting this into an m.2 slot?</a:t>
                      </a:r>
                    </a:p>
                  </a:txBody>
                  <a:tcPr>
                    <a:solidFill>
                      <a:srgbClr val="1E29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</a:rPr>
                        <a:t>8TB portable SSD 분해해 내장으로 전환 시도 — 용량 절박함</a:t>
                      </a:r>
                    </a:p>
                  </a:txBody>
                  <a:tcPr>
                    <a:solidFill>
                      <a:srgbClr val="1E29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60A5FA"/>
                          </a:solidFill>
                          <a:hlinkClick r:id="rId2"/>
                        </a:rPr>
                        <a:t>링크</a:t>
                      </a:r>
                    </a:p>
                  </a:txBody>
                  <a:tcPr>
                    <a:solidFill>
                      <a:srgbClr val="1E294E"/>
                    </a:solidFill>
                  </a:tcPr>
                </a:tc>
              </a:tr>
              <a:tr h="75600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8BDF8"/>
                          </a:solidFill>
                        </a:rPr>
                        <a:t>⬆26</a:t>
                      </a:r>
                    </a:p>
                  </a:txBody>
                  <a:tcPr>
                    <a:solidFill>
                      <a:srgbClr val="1720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</a:rPr>
                        <a:t>r/StableDiffusion</a:t>
                      </a:r>
                    </a:p>
                  </a:txBody>
                  <a:tcPr>
                    <a:solidFill>
                      <a:srgbClr val="1720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</a:rPr>
                        <a:t>SSD prices are going through the roof</a:t>
                      </a:r>
                    </a:p>
                  </a:txBody>
                  <a:tcPr>
                    <a:solidFill>
                      <a:srgbClr val="1720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</a:rPr>
                        <a:t>가격 급등 속 외장 SSD 경험 공유</a:t>
                      </a:r>
                    </a:p>
                  </a:txBody>
                  <a:tcPr>
                    <a:solidFill>
                      <a:srgbClr val="1720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60A5FA"/>
                          </a:solidFill>
                          <a:hlinkClick r:id="rId3"/>
                        </a:rPr>
                        <a:t>링크</a:t>
                      </a:r>
                    </a:p>
                  </a:txBody>
                  <a:tcPr>
                    <a:solidFill>
                      <a:srgbClr val="17203A"/>
                    </a:solidFill>
                  </a:tcPr>
                </a:tc>
              </a:tr>
              <a:tr h="75600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8BDF8"/>
                          </a:solidFill>
                        </a:rPr>
                        <a:t>⬆1</a:t>
                      </a:r>
                    </a:p>
                  </a:txBody>
                  <a:tcPr>
                    <a:solidFill>
                      <a:srgbClr val="1E29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</a:rPr>
                        <a:t>r/LocalLLaMA</a:t>
                      </a:r>
                    </a:p>
                  </a:txBody>
                  <a:tcPr>
                    <a:solidFill>
                      <a:srgbClr val="1E29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</a:rPr>
                        <a:t>VaultAI: 42 AI models on portable NVMe SSD</a:t>
                      </a:r>
                    </a:p>
                  </a:txBody>
                  <a:tcPr>
                    <a:solidFill>
                      <a:srgbClr val="1E29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</a:rPr>
                        <a:t>plug-and-play local AI on portable SSD — 새로운 카테고리</a:t>
                      </a:r>
                    </a:p>
                  </a:txBody>
                  <a:tcPr>
                    <a:solidFill>
                      <a:srgbClr val="1E29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60A5FA"/>
                          </a:solidFill>
                          <a:hlinkClick r:id="rId4"/>
                        </a:rPr>
                        <a:t>링크</a:t>
                      </a:r>
                    </a:p>
                  </a:txBody>
                  <a:tcPr>
                    <a:solidFill>
                      <a:srgbClr val="1E294E"/>
                    </a:solidFill>
                  </a:tcPr>
                </a:tc>
              </a:tr>
              <a:tr h="75600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8BDF8"/>
                          </a:solidFill>
                        </a:rPr>
                        <a:t>⬆1</a:t>
                      </a:r>
                    </a:p>
                  </a:txBody>
                  <a:tcPr>
                    <a:solidFill>
                      <a:srgbClr val="1720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</a:rPr>
                        <a:t>r/SelfHosted</a:t>
                      </a:r>
                    </a:p>
                  </a:txBody>
                  <a:tcPr>
                    <a:solidFill>
                      <a:srgbClr val="1720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</a:rPr>
                        <a:t>VaultAI: Portable AI workstation on NVMe</a:t>
                      </a:r>
                    </a:p>
                  </a:txBody>
                  <a:tcPr>
                    <a:solidFill>
                      <a:srgbClr val="1720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</a:rPr>
                        <a:t>Portable SSD = AI workstation 개념 등장</a:t>
                      </a:r>
                    </a:p>
                  </a:txBody>
                  <a:tcPr>
                    <a:solidFill>
                      <a:srgbClr val="1720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60A5FA"/>
                          </a:solidFill>
                          <a:hlinkClick r:id="rId5"/>
                        </a:rPr>
                        <a:t>링크</a:t>
                      </a:r>
                    </a:p>
                  </a:txBody>
                  <a:tcPr>
                    <a:solidFill>
                      <a:srgbClr val="17203A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180000" y="4500000"/>
            <a:ext cx="11448000" cy="648000"/>
          </a:xfrm>
          <a:prstGeom prst="rect">
            <a:avLst/>
          </a:prstGeom>
          <a:solidFill>
            <a:srgbClr val="0F3D5C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0000" y="4572000"/>
            <a:ext cx="11088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38BDF8"/>
                </a:solidFill>
              </a:rPr>
              <a:t>⚡ 신규 패턴: 포터블 SSD → AI 모델 휴대 실행 플랫폼으로 진화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6480000"/>
            <a:ext cx="114732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CCCCC"/>
                </a:solidFill>
              </a:rPr>
              <a:t>Source: Reddit Community Analysis | 4,060 posts | 2026-03-17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0000" y="108000"/>
            <a:ext cx="115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커뮤니티 실제 운용 스펙 — 2TB/4TB 증거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540000"/>
            <a:ext cx="54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8BDF8"/>
                </a:solidFill>
              </a:rPr>
              <a:t>용량별 언급 횟수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000" y="1007999"/>
            <a:ext cx="5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1TB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28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████████████████████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71999" y="1007999"/>
            <a:ext cx="1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578건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0000" y="1511998"/>
            <a:ext cx="5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8BDF8"/>
                </a:solidFill>
              </a:rPr>
              <a:t>2TB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" y="1511998"/>
            <a:ext cx="28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8BDF8"/>
                </a:solidFill>
              </a:rPr>
              <a:t>████████████████   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71999" y="1511998"/>
            <a:ext cx="1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8BDF8"/>
                </a:solidFill>
              </a:rPr>
              <a:t>435건  ← 주력 스펙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0000" y="2015997"/>
            <a:ext cx="5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2231A"/>
                </a:solidFill>
              </a:rPr>
              <a:t>4TB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000" y="2015997"/>
            <a:ext cx="28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2231A"/>
                </a:solidFill>
              </a:rPr>
              <a:t>██████             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71999" y="2015997"/>
            <a:ext cx="1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2231A"/>
                </a:solidFill>
              </a:rPr>
              <a:t>200건  ← AI 전용 구성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0000" y="2519996"/>
            <a:ext cx="5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500G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0000" y="2519996"/>
            <a:ext cx="28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</a:rPr>
              <a:t>████               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1999" y="2519996"/>
            <a:ext cx="1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</a:rPr>
              <a:t>149건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000" y="540000"/>
            <a:ext cx="59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8BDF8"/>
                </a:solidFill>
              </a:rPr>
              <a:t>실제 사용 맥락 포스트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60000" y="1007999"/>
            <a:ext cx="5940000" cy="1044000"/>
          </a:xfrm>
          <a:prstGeom prst="rect">
            <a:avLst/>
          </a:prstGeom>
          <a:solidFill>
            <a:srgbClr val="1E294E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32000" y="1043999"/>
            <a:ext cx="57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8BDF8"/>
                </a:solidFill>
              </a:rPr>
              <a:t>⬆2309  r/homelab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32000" y="1259998"/>
            <a:ext cx="57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WD Green 2TB x2 → Plex 서버 기본 구성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32000" y="1547999"/>
            <a:ext cx="57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</a:rPr>
              <a:t>Samsung 990 Pro 2TB x2 RAID0 트랜스코딩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32000" y="1763999"/>
            <a:ext cx="576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0A5FA"/>
                </a:solidFill>
                <a:hlinkClick r:id="rId2"/>
              </a:rPr>
              <a:t>링크 바로가기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60000" y="2159999"/>
            <a:ext cx="5940000" cy="1044000"/>
          </a:xfrm>
          <a:prstGeom prst="rect">
            <a:avLst/>
          </a:prstGeom>
          <a:solidFill>
            <a:srgbClr val="1E294E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32000" y="2195999"/>
            <a:ext cx="57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8BDF8"/>
                </a:solidFill>
              </a:rPr>
              <a:t>⬆509  r/homelab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32000" y="2411998"/>
            <a:ext cx="57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My 2026 homelab — 2TB NVMe 업그레이드 목표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32000" y="2699999"/>
            <a:ext cx="57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</a:rPr>
              <a:t>want to upgrade to 2TB NVMe storage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32000" y="2915999"/>
            <a:ext cx="576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0A5FA"/>
                </a:solidFill>
                <a:hlinkClick r:id="rId3"/>
              </a:rPr>
              <a:t>링크 바로가기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760000" y="3311999"/>
            <a:ext cx="5940000" cy="1044000"/>
          </a:xfrm>
          <a:prstGeom prst="rect">
            <a:avLst/>
          </a:prstGeom>
          <a:solidFill>
            <a:srgbClr val="1E294E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32000" y="3347999"/>
            <a:ext cx="57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8BDF8"/>
                </a:solidFill>
              </a:rPr>
              <a:t>⬆491  r/nvidia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32000" y="3563998"/>
            <a:ext cx="57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2TB WD_BLACK SN8100 NVMe PCIe 5.0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32000" y="3851999"/>
            <a:ext cx="57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</a:rPr>
              <a:t>하이엔드 5090 FE 빌드 스토리지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32000" y="4067999"/>
            <a:ext cx="576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0A5FA"/>
                </a:solidFill>
                <a:hlinkClick r:id="rId4"/>
              </a:rPr>
              <a:t>링크 바로가기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760000" y="4463999"/>
            <a:ext cx="5940000" cy="1044000"/>
          </a:xfrm>
          <a:prstGeom prst="rect">
            <a:avLst/>
          </a:prstGeom>
          <a:solidFill>
            <a:srgbClr val="1E294E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32000" y="4499999"/>
            <a:ext cx="57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8BDF8"/>
                </a:solidFill>
              </a:rPr>
              <a:t>⬆547  r/LocalLLaMA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32000" y="4715998"/>
            <a:ext cx="57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128GB VRAM quad R9700 — AI 전용 서버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32000" y="5003999"/>
            <a:ext cx="57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</a:rPr>
              <a:t>4x R9700 로컬 AI 추론 전용 빌드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32000" y="5219999"/>
            <a:ext cx="576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0A5FA"/>
                </a:solidFill>
                <a:hlinkClick r:id="rId5"/>
              </a:rPr>
              <a:t>링크 바로가기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0000" y="6480000"/>
            <a:ext cx="114732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CCCCC"/>
                </a:solidFill>
              </a:rPr>
              <a:t>Source: Reddit Community Analysis | 4,060 posts | 2026-03-17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0000" y="108000"/>
            <a:ext cx="115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Local AI ↔ SSD 직접 연관 — 기술 근거 포스트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0000" y="540000"/>
          <a:ext cx="11448000" cy="52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/>
                <a:gridCol w="1260000"/>
                <a:gridCol w="3780000"/>
                <a:gridCol w="3420000"/>
                <a:gridCol w="2340000"/>
              </a:tblGrid>
              <a:tr h="8700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Score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커뮤니티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제목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기술 요인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URL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87000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8BDF8"/>
                          </a:solidFill>
                        </a:rPr>
                        <a:t>⬆185</a:t>
                      </a:r>
                    </a:p>
                  </a:txBody>
                  <a:tcPr>
                    <a:solidFill>
                      <a:srgbClr val="1E29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</a:rPr>
                        <a:t>r/LocalLLaMA</a:t>
                      </a:r>
                    </a:p>
                  </a:txBody>
                  <a:tcPr>
                    <a:solidFill>
                      <a:srgbClr val="1E29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</a:rPr>
                        <a:t>I built a hybrid MoE runtime — 3,324 tok/s</a:t>
                      </a:r>
                    </a:p>
                  </a:txBody>
                  <a:tcPr>
                    <a:solidFill>
                      <a:srgbClr val="1E29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</a:rPr>
                        <a:t>model_weight_size, NVMe 직접 로딩으로 VRAM 오프로드</a:t>
                      </a:r>
                    </a:p>
                  </a:txBody>
                  <a:tcPr>
                    <a:solidFill>
                      <a:srgbClr val="1E29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60A5FA"/>
                          </a:solidFill>
                          <a:hlinkClick r:id="rId2"/>
                        </a:rPr>
                        <a:t>링크</a:t>
                      </a:r>
                    </a:p>
                  </a:txBody>
                  <a:tcPr>
                    <a:solidFill>
                      <a:srgbClr val="1E294E"/>
                    </a:solidFill>
                  </a:tcPr>
                </a:tc>
              </a:tr>
              <a:tr h="87000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8BDF8"/>
                          </a:solidFill>
                        </a:rPr>
                        <a:t>⬆150</a:t>
                      </a:r>
                    </a:p>
                  </a:txBody>
                  <a:tcPr>
                    <a:solidFill>
                      <a:srgbClr val="1720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</a:rPr>
                        <a:t>r/LocalLLaMA</a:t>
                      </a:r>
                    </a:p>
                  </a:txBody>
                  <a:tcPr>
                    <a:solidFill>
                      <a:srgbClr val="1720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</a:rPr>
                        <a:t>Qwen3.5-35B benchmarks on Raspberry Pi 5</a:t>
                      </a:r>
                    </a:p>
                  </a:txBody>
                  <a:tcPr>
                    <a:solidFill>
                      <a:srgbClr val="1720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</a:rPr>
                        <a:t>model_weight_size, vram_offload 최적화</a:t>
                      </a:r>
                    </a:p>
                  </a:txBody>
                  <a:tcPr>
                    <a:solidFill>
                      <a:srgbClr val="1720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60A5FA"/>
                          </a:solidFill>
                          <a:hlinkClick r:id="rId3"/>
                        </a:rPr>
                        <a:t>링크</a:t>
                      </a:r>
                    </a:p>
                  </a:txBody>
                  <a:tcPr>
                    <a:solidFill>
                      <a:srgbClr val="17203A"/>
                    </a:solidFill>
                  </a:tcPr>
                </a:tc>
              </a:tr>
              <a:tr h="87000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8BDF8"/>
                          </a:solidFill>
                        </a:rPr>
                        <a:t>⬆133</a:t>
                      </a:r>
                    </a:p>
                  </a:txBody>
                  <a:tcPr>
                    <a:solidFill>
                      <a:srgbClr val="1E29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</a:rPr>
                        <a:t>r/LocalLLaMA</a:t>
                      </a:r>
                    </a:p>
                  </a:txBody>
                  <a:tcPr>
                    <a:solidFill>
                      <a:srgbClr val="1E29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</a:rPr>
                        <a:t>My NAS runs 80B LLM at 18 tok/s on iGPU</a:t>
                      </a:r>
                    </a:p>
                  </a:txBody>
                  <a:tcPr>
                    <a:solidFill>
                      <a:srgbClr val="1E29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</a:rPr>
                        <a:t>NVMe에서 직접 모델 스트리밍, GPU 없이 추론</a:t>
                      </a:r>
                    </a:p>
                  </a:txBody>
                  <a:tcPr>
                    <a:solidFill>
                      <a:srgbClr val="1E29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60A5FA"/>
                          </a:solidFill>
                          <a:hlinkClick r:id="rId4"/>
                        </a:rPr>
                        <a:t>링크</a:t>
                      </a:r>
                    </a:p>
                  </a:txBody>
                  <a:tcPr>
                    <a:solidFill>
                      <a:srgbClr val="1E294E"/>
                    </a:solidFill>
                  </a:tcPr>
                </a:tc>
              </a:tr>
              <a:tr h="87000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8BDF8"/>
                          </a:solidFill>
                        </a:rPr>
                        <a:t>⬆11</a:t>
                      </a:r>
                    </a:p>
                  </a:txBody>
                  <a:tcPr>
                    <a:solidFill>
                      <a:srgbClr val="1720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</a:rPr>
                        <a:t>r/LocalLLaMA</a:t>
                      </a:r>
                    </a:p>
                  </a:txBody>
                  <a:tcPr>
                    <a:solidFill>
                      <a:srgbClr val="1720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</a:rPr>
                        <a:t>A100 vs H100 local storage benchmark</a:t>
                      </a:r>
                    </a:p>
                  </a:txBody>
                  <a:tcPr>
                    <a:solidFill>
                      <a:srgbClr val="1720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</a:rPr>
                        <a:t>Gen4 NVMe 병목이 cold start 추론 속도 결정</a:t>
                      </a:r>
                    </a:p>
                  </a:txBody>
                  <a:tcPr>
                    <a:solidFill>
                      <a:srgbClr val="1720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60A5FA"/>
                          </a:solidFill>
                          <a:hlinkClick r:id="rId5"/>
                        </a:rPr>
                        <a:t>링크</a:t>
                      </a:r>
                    </a:p>
                  </a:txBody>
                  <a:tcPr>
                    <a:solidFill>
                      <a:srgbClr val="17203A"/>
                    </a:solidFill>
                  </a:tcPr>
                </a:tc>
              </a:tr>
              <a:tr h="87000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8BDF8"/>
                          </a:solidFill>
                        </a:rPr>
                        <a:t>⬆78</a:t>
                      </a:r>
                    </a:p>
                  </a:txBody>
                  <a:tcPr>
                    <a:solidFill>
                      <a:srgbClr val="1E29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</a:rPr>
                        <a:t>r/LocalLLaMA</a:t>
                      </a:r>
                    </a:p>
                  </a:txBody>
                  <a:tcPr>
                    <a:solidFill>
                      <a:srgbClr val="1E29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</a:rPr>
                        <a:t>oMLX — SSD caching for Apple Silicon</a:t>
                      </a:r>
                    </a:p>
                  </a:txBody>
                  <a:tcPr>
                    <a:solidFill>
                      <a:srgbClr val="1E29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</a:rPr>
                        <a:t>NVMe SSD 페이지 캐시로 모델 오프로드, Apple Silicon</a:t>
                      </a:r>
                    </a:p>
                  </a:txBody>
                  <a:tcPr>
                    <a:solidFill>
                      <a:srgbClr val="1E29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60A5FA"/>
                          </a:solidFill>
                          <a:hlinkClick r:id="rId6"/>
                        </a:rPr>
                        <a:t>링크</a:t>
                      </a:r>
                    </a:p>
                  </a:txBody>
                  <a:tcPr>
                    <a:solidFill>
                      <a:srgbClr val="1E294E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60000" y="6480000"/>
            <a:ext cx="114732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CCCCC"/>
                </a:solidFill>
              </a:rPr>
              <a:t>Source: Reddit Community Analysis | 4,060 posts | 2026-03-17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0000" y="108000"/>
            <a:ext cx="115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핵심 인사이트 및 시장 시사점</a:t>
            </a:r>
          </a:p>
        </p:txBody>
      </p:sp>
      <p:sp>
        <p:nvSpPr>
          <p:cNvPr id="3" name="Rectangle 2"/>
          <p:cNvSpPr/>
          <p:nvPr/>
        </p:nvSpPr>
        <p:spPr>
          <a:xfrm>
            <a:off x="180000" y="648000"/>
            <a:ext cx="5328000" cy="2340000"/>
          </a:xfrm>
          <a:prstGeom prst="rect">
            <a:avLst/>
          </a:prstGeom>
          <a:solidFill>
            <a:srgbClr val="1E294E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792000"/>
            <a:ext cx="511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8BDF8"/>
                </a:solidFill>
              </a:rPr>
              <a:t>🎯  2TB = 커뮤니티 표준 스펙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8000" y="1296000"/>
            <a:ext cx="5112000" cy="15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1TB는 출발점, 2TB가 목표 스펙. "현재 500GB → 2TB 업그레이드 고민" 패턴 반복.</a:t>
            </a:r>
          </a:p>
        </p:txBody>
      </p:sp>
      <p:sp>
        <p:nvSpPr>
          <p:cNvPr id="6" name="Rectangle 5"/>
          <p:cNvSpPr/>
          <p:nvPr/>
        </p:nvSpPr>
        <p:spPr>
          <a:xfrm>
            <a:off x="5868000" y="648000"/>
            <a:ext cx="5328000" cy="2340000"/>
          </a:xfrm>
          <a:prstGeom prst="rect">
            <a:avLst/>
          </a:prstGeom>
          <a:solidFill>
            <a:srgbClr val="1E294E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76000" y="792000"/>
            <a:ext cx="511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8BDF8"/>
                </a:solidFill>
              </a:rPr>
              <a:t>💰  가격 상승이 구매 트리거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76000" y="1296000"/>
            <a:ext cx="5112000" cy="15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"prices are scaring me", "buy now or wait?" — NAND 가격 상승기에 전환율 높아지는 구조.</a:t>
            </a:r>
          </a:p>
        </p:txBody>
      </p:sp>
      <p:sp>
        <p:nvSpPr>
          <p:cNvPr id="9" name="Rectangle 8"/>
          <p:cNvSpPr/>
          <p:nvPr/>
        </p:nvSpPr>
        <p:spPr>
          <a:xfrm>
            <a:off x="180000" y="3276000"/>
            <a:ext cx="5328000" cy="2340000"/>
          </a:xfrm>
          <a:prstGeom prst="rect">
            <a:avLst/>
          </a:prstGeom>
          <a:solidFill>
            <a:srgbClr val="1E294E"/>
          </a:solidFill>
          <a:ln w="25400">
            <a:solidFill>
              <a:srgbClr val="E223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00" y="3420000"/>
            <a:ext cx="511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2231A"/>
                </a:solidFill>
              </a:rPr>
              <a:t>🤖  AI 모델 운용이 4TB 수요 창출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00" y="3924000"/>
            <a:ext cx="5112000" cy="15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LocalLLaMA에서 "128GB RAM + 4TB SSD" 조합. 다중 모델 보유 환경이 고용량 드라이브를 필수화.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68000" y="3276000"/>
            <a:ext cx="5328000" cy="2340000"/>
          </a:xfrm>
          <a:prstGeom prst="rect">
            <a:avLst/>
          </a:prstGeom>
          <a:solidFill>
            <a:srgbClr val="1E294E"/>
          </a:solidFill>
          <a:ln w="25400">
            <a:solidFill>
              <a:srgbClr val="E223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76000" y="3420000"/>
            <a:ext cx="511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2231A"/>
                </a:solidFill>
              </a:rPr>
              <a:t>📦  Portable SSD 신규 AI 사용 패턴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76000" y="3924000"/>
            <a:ext cx="5112000" cy="15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백업용 → AI 모델 휴대 실행 플랫폼으로 진화 중. VaultAI가 새로운 카테고리 개척.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000" y="6480000"/>
            <a:ext cx="114732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CCCCC"/>
                </a:solidFill>
              </a:rPr>
              <a:t>Source: Reddit Community Analysis | 4,060 posts | 2026-03-17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